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inzel Decorative" panose="020B0604020202020204" charset="0"/>
      <p:regular r:id="rId12"/>
      <p:bold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jIR1HdRPD32yQtjki5Nw7d1Uil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1E5996-A6A6-40EC-ACF6-EEF7AF9ABF5F}">
  <a:tblStyle styleId="{511E5996-A6A6-40EC-ACF6-EEF7AF9ABF5F}"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CFD7E7"/>
          </a:solidFill>
        </a:fill>
      </a:tcStyle>
    </a:wholeTbl>
    <a:band1H>
      <a:tcTxStyle/>
      <a:tcStyle>
        <a:tcBdr/>
      </a:tcStyle>
    </a:band1H>
    <a:band2H>
      <a:tcTxStyle b="off" i="off"/>
      <a:tcStyle>
        <a:tcBdr/>
        <a:fill>
          <a:solidFill>
            <a:srgbClr val="E8ECF4"/>
          </a:solidFill>
        </a:fill>
      </a:tcStyle>
    </a:band2H>
    <a:band1V>
      <a:tcTxStyle/>
      <a:tcStyle>
        <a:tcBdr/>
      </a:tcStyle>
    </a:band1V>
    <a:band2V>
      <a:tcTxStyle/>
      <a:tcStyle>
        <a:tcBdr/>
      </a:tcStyle>
    </a:band2V>
    <a:lastCol>
      <a:tcTxStyle/>
      <a:tcStyle>
        <a:tcBdr/>
      </a:tcStyle>
    </a:lastCol>
    <a:firstCol>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Col>
    <a:la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1" autoAdjust="0"/>
    <p:restoredTop sz="94660"/>
  </p:normalViewPr>
  <p:slideViewPr>
    <p:cSldViewPr snapToGrid="0">
      <p:cViewPr varScale="1">
        <p:scale>
          <a:sx n="52" d="100"/>
          <a:sy n="52"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Hi, we're team ___. Our project is Poltergeist, a crowd-crush early-warning system for the Voodoo Vision track.</a:t>
            </a:r>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Fill in your team name and each member's name, SRN, email and phone in the table.</a:t>
            </a:r>
          </a:p>
        </p:txBody>
      </p:sp>
      <p:sp>
        <p:nvSpPr>
          <p:cNvPr id="66" name="Google Shape;6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Open with Chinnaswamy: 11 people died outside the stadium on 4 June 2025, and the crowd was many times the venue's capacity. It isn't a one-off: Hathras (121, Jul 2024), Tirupati (6, Jan 2025), Maha Kumbh (30, Jan 2025), New Delhi station (18, Feb 2025) and Bengaluru (11, Jun 2025) add up to 186 deaths in 12 months. Sources: PTI, AP and Reuters reports. The gap: cameras are already there, but nobody turns the video into a density number in real time. Photos (Wikimedia Commons): Chinnaswamy Stadium by Raghavan2010 (CC0); Kumbh Mela crowd by Michael T. Balonek (CC BY-SA 4.0).</a:t>
            </a: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Three things set us apart. One: we don't just measure density, we predict it. From the rate people enter through each gate we say 'critical in 6 minutes', which is real early warning. Two: normal person detectors like YOLO undercount packed crowds, exactly when it matters, so we switch to a density-map model (CSRNet). Three: most systems stop at a dashboard. We dispatch the nearest medical or police post with a photo, escalate if nobody accepts within 60 seconds, and tell the crowd where to go through PA announcements.</a:t>
            </a:r>
          </a:p>
        </p:txBody>
      </p:sp>
      <p:sp>
        <p:nvSpPr>
          <p:cNvPr id="105" name="Google Shape;10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Our story in four words: predict, detect, dispatch, redirect. Poltergeist predicts when a zone will turn critical, detects incidents like a person going down, sends the nearest help post (our Banshee alerts, named after the spirit whose wail warns of death), and tells the crowd where to go. Faces are blurred and only counts are stored, so it's private by design.</a:t>
            </a:r>
          </a:p>
        </p:txBody>
      </p:sp>
      <p:sp>
        <p:nvSpPr>
          <p:cNvPr id="124" name="Google Shape;12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Walk the pipeline left to right. Step 2: YOLO for sparse areas, a density-map model for packed ones. Step 3: zones are drawn once with their real area, so counts become people per square metre, and a line counter at each gate gives the inflow rate, which we project forward to 'minutes until critical'. Step 4: optical flow catches surges and people scattering; YOLOv8-pose catches someone lying still for 5 seconds. Step 5: the nearest help post of the right type gets a Telegram alert with a photo and an Accept button; if nobody accepts in 60 seconds it escalates to the next post. The dashboard suggests which gate to open and plays a PA announcement in Kannada, Hindi and English. Risk levels follow Prof. G. Keith Still's crowd-safety guidance. Everything uses pretrained models, so the 10 hours go into building, not training.</a:t>
            </a:r>
          </a:p>
        </p:txBody>
      </p:sp>
      <p:sp>
        <p:nvSpPr>
          <p:cNvPr id="143" name="Google Shape;14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Everything is open source and pretrained. YOLOv8 counts people and YOLOv8-pose spots falls; CSRNet handles dense crowds. OpenCV gives us zones, face blurring and optical flow. A simple inflow trend predicts time to critical. Streamlit runs the dashboard with a map of help posts, a Telegram bot handles dispatch with an Accept button, and gTTS generates the PA announcements. We check counts on ShanghaiTech and test surges on the UMN dataset and our own campus footage.</a:t>
            </a:r>
          </a:p>
        </p:txBody>
      </p:sp>
      <p:sp>
        <p:nvSpPr>
          <p:cNvPr id="162" name="Google Shape;16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This is the control-room screen on a real station photo. Left: the camera view with faces blurred, the density heatmap, each zone outlined in its risk colour, blue optical-flow arrows showing Platform 1 pushing toward the stairs, and a real incident: someone walking across the tracks. Right: each zone's live density, a prediction that Platform 2 will be critical in 6 minutes, and the Banshee alert: RPF Post 2, 60 metres away, has accepted on Telegram, and the PA is routing people to the footbridge. The base photo is real ('Mumbai morning rush' by Rakesh Krishna Kumar, CC BY-SA 2.0); the overlays are our mock-up, not model output.</a:t>
            </a:r>
          </a:p>
        </p:txBody>
      </p:sp>
      <p:sp>
        <p:nvSpPr>
          <p:cNvPr id="181" name="Google Shape;18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Thank the judges and invite questions. Have the demo video ready.</a:t>
            </a: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tx">
  <p:cSld name="TITLE_AND_BODY">
    <p:spTree>
      <p:nvGrpSpPr>
        <p:cNvPr id="1" name="Shape 9"/>
        <p:cNvGrpSpPr/>
        <p:nvPr/>
      </p:nvGrpSpPr>
      <p:grpSpPr>
        <a:xfrm>
          <a:off x="0" y="0"/>
          <a:ext cx="0" cy="0"/>
          <a:chOff x="0" y="0"/>
          <a:chExt cx="0" cy="0"/>
        </a:xfrm>
      </p:grpSpPr>
      <p:sp>
        <p:nvSpPr>
          <p:cNvPr id="10" name="Google Shape;10;p11"/>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2"/>
          <p:cNvSpPr txBox="1">
            <a:spLocks noGrp="1"/>
          </p:cNvSpPr>
          <p:nvPr>
            <p:ph type="title"/>
          </p:nvPr>
        </p:nvSpPr>
        <p:spPr>
          <a:xfrm>
            <a:off x="685800" y="2130425"/>
            <a:ext cx="7772400" cy="1470025"/>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3" name="Google Shape;13;p12"/>
          <p:cNvSpPr txBox="1">
            <a:spLocks noGrp="1"/>
          </p:cNvSpPr>
          <p:nvPr>
            <p:ph type="body" idx="1"/>
          </p:nvPr>
        </p:nvSpPr>
        <p:spPr>
          <a:xfrm>
            <a:off x="1371600" y="3886200"/>
            <a:ext cx="6400800" cy="175260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700"/>
              </a:spcBef>
              <a:spcAft>
                <a:spcPts val="0"/>
              </a:spcAft>
              <a:buClr>
                <a:srgbClr val="888888"/>
              </a:buClr>
              <a:buSzPts val="3200"/>
              <a:buFont typeface="Calibri"/>
              <a:buNone/>
              <a:defRPr>
                <a:solidFill>
                  <a:srgbClr val="888888"/>
                </a:solidFill>
              </a:defRPr>
            </a:lvl1pPr>
            <a:lvl2pPr marL="914400" lvl="1" indent="-228600" algn="ctr">
              <a:lnSpc>
                <a:spcPct val="100000"/>
              </a:lnSpc>
              <a:spcBef>
                <a:spcPts val="700"/>
              </a:spcBef>
              <a:spcAft>
                <a:spcPts val="0"/>
              </a:spcAft>
              <a:buClr>
                <a:srgbClr val="888888"/>
              </a:buClr>
              <a:buSzPts val="3200"/>
              <a:buFont typeface="Calibri"/>
              <a:buNone/>
              <a:defRPr>
                <a:solidFill>
                  <a:srgbClr val="888888"/>
                </a:solidFill>
              </a:defRPr>
            </a:lvl2pPr>
            <a:lvl3pPr marL="1371600" lvl="2" indent="-228600" algn="ctr">
              <a:lnSpc>
                <a:spcPct val="100000"/>
              </a:lnSpc>
              <a:spcBef>
                <a:spcPts val="700"/>
              </a:spcBef>
              <a:spcAft>
                <a:spcPts val="0"/>
              </a:spcAft>
              <a:buClr>
                <a:srgbClr val="888888"/>
              </a:buClr>
              <a:buSzPts val="3200"/>
              <a:buFont typeface="Calibri"/>
              <a:buNone/>
              <a:defRPr>
                <a:solidFill>
                  <a:srgbClr val="888888"/>
                </a:solidFill>
              </a:defRPr>
            </a:lvl3pPr>
            <a:lvl4pPr marL="1828800" lvl="3" indent="-228600" algn="ctr">
              <a:lnSpc>
                <a:spcPct val="100000"/>
              </a:lnSpc>
              <a:spcBef>
                <a:spcPts val="700"/>
              </a:spcBef>
              <a:spcAft>
                <a:spcPts val="0"/>
              </a:spcAft>
              <a:buClr>
                <a:srgbClr val="888888"/>
              </a:buClr>
              <a:buSzPts val="3200"/>
              <a:buFont typeface="Calibri"/>
              <a:buNone/>
              <a:defRPr>
                <a:solidFill>
                  <a:srgbClr val="888888"/>
                </a:solidFill>
              </a:defRPr>
            </a:lvl4pPr>
            <a:lvl5pPr marL="2286000" lvl="4" indent="-228600" algn="ctr">
              <a:lnSpc>
                <a:spcPct val="100000"/>
              </a:lnSpc>
              <a:spcBef>
                <a:spcPts val="700"/>
              </a:spcBef>
              <a:spcAft>
                <a:spcPts val="0"/>
              </a:spcAft>
              <a:buClr>
                <a:srgbClr val="888888"/>
              </a:buClr>
              <a:buSzPts val="3200"/>
              <a:buFont typeface="Calibri"/>
              <a:buNone/>
              <a:defRPr>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4" name="Google Shape;14;p12"/>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3"/>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7" name="Google Shape;17;p13"/>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8" name="Google Shape;18;p13"/>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9"/>
        <p:cNvGrpSpPr/>
        <p:nvPr/>
      </p:nvGrpSpPr>
      <p:grpSpPr>
        <a:xfrm>
          <a:off x="0" y="0"/>
          <a:ext cx="0" cy="0"/>
          <a:chOff x="0" y="0"/>
          <a:chExt cx="0" cy="0"/>
        </a:xfrm>
      </p:grpSpPr>
      <p:sp>
        <p:nvSpPr>
          <p:cNvPr id="20" name="Google Shape;20;p14"/>
          <p:cNvSpPr txBox="1">
            <a:spLocks noGrp="1"/>
          </p:cNvSpPr>
          <p:nvPr>
            <p:ph type="title"/>
          </p:nvPr>
        </p:nvSpPr>
        <p:spPr>
          <a:xfrm>
            <a:off x="722312" y="4406900"/>
            <a:ext cx="7772401" cy="1362075"/>
          </a:xfrm>
          <a:prstGeom prst="rect">
            <a:avLst/>
          </a:prstGeom>
          <a:noFill/>
          <a:ln>
            <a:noFill/>
          </a:ln>
        </p:spPr>
        <p:txBody>
          <a:bodyPr spcFirstLastPara="1" wrap="square" lIns="45700" tIns="45700" rIns="45700" bIns="45700" anchor="t" anchorCtr="0">
            <a:normAutofit/>
          </a:bodyPr>
          <a:lstStyle>
            <a:lvl1pPr lvl="0" algn="l">
              <a:lnSpc>
                <a:spcPct val="100000"/>
              </a:lnSpc>
              <a:spcBef>
                <a:spcPts val="0"/>
              </a:spcBef>
              <a:spcAft>
                <a:spcPts val="0"/>
              </a:spcAft>
              <a:buClr>
                <a:srgbClr val="000000"/>
              </a:buClr>
              <a:buSzPts val="4000"/>
              <a:buFont typeface="Calibri"/>
              <a:buNone/>
              <a:defRPr sz="4000" b="1" cap="none"/>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1" name="Google Shape;21;p14"/>
          <p:cNvSpPr txBox="1">
            <a:spLocks noGrp="1"/>
          </p:cNvSpPr>
          <p:nvPr>
            <p:ph type="body" idx="1"/>
          </p:nvPr>
        </p:nvSpPr>
        <p:spPr>
          <a:xfrm>
            <a:off x="722312" y="2906713"/>
            <a:ext cx="7772401" cy="1500188"/>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400"/>
              </a:spcBef>
              <a:spcAft>
                <a:spcPts val="0"/>
              </a:spcAft>
              <a:buClr>
                <a:srgbClr val="888888"/>
              </a:buClr>
              <a:buSzPts val="2000"/>
              <a:buFont typeface="Calibri"/>
              <a:buNone/>
              <a:defRPr sz="2000">
                <a:solidFill>
                  <a:srgbClr val="888888"/>
                </a:solidFill>
              </a:defRPr>
            </a:lvl1pPr>
            <a:lvl2pPr marL="914400" lvl="1" indent="-228600" algn="l">
              <a:lnSpc>
                <a:spcPct val="100000"/>
              </a:lnSpc>
              <a:spcBef>
                <a:spcPts val="400"/>
              </a:spcBef>
              <a:spcAft>
                <a:spcPts val="0"/>
              </a:spcAft>
              <a:buClr>
                <a:srgbClr val="888888"/>
              </a:buClr>
              <a:buSzPts val="2000"/>
              <a:buFont typeface="Calibri"/>
              <a:buNone/>
              <a:defRPr sz="2000">
                <a:solidFill>
                  <a:srgbClr val="888888"/>
                </a:solidFill>
              </a:defRPr>
            </a:lvl2pPr>
            <a:lvl3pPr marL="1371600" lvl="2" indent="-228600" algn="l">
              <a:lnSpc>
                <a:spcPct val="100000"/>
              </a:lnSpc>
              <a:spcBef>
                <a:spcPts val="400"/>
              </a:spcBef>
              <a:spcAft>
                <a:spcPts val="0"/>
              </a:spcAft>
              <a:buClr>
                <a:srgbClr val="888888"/>
              </a:buClr>
              <a:buSzPts val="2000"/>
              <a:buFont typeface="Calibri"/>
              <a:buNone/>
              <a:defRPr sz="2000">
                <a:solidFill>
                  <a:srgbClr val="888888"/>
                </a:solidFill>
              </a:defRPr>
            </a:lvl3pPr>
            <a:lvl4pPr marL="1828800" lvl="3" indent="-228600" algn="l">
              <a:lnSpc>
                <a:spcPct val="100000"/>
              </a:lnSpc>
              <a:spcBef>
                <a:spcPts val="400"/>
              </a:spcBef>
              <a:spcAft>
                <a:spcPts val="0"/>
              </a:spcAft>
              <a:buClr>
                <a:srgbClr val="888888"/>
              </a:buClr>
              <a:buSzPts val="2000"/>
              <a:buFont typeface="Calibri"/>
              <a:buNone/>
              <a:defRPr sz="2000">
                <a:solidFill>
                  <a:srgbClr val="888888"/>
                </a:solidFill>
              </a:defRPr>
            </a:lvl4pPr>
            <a:lvl5pPr marL="2286000" lvl="4" indent="-228600" algn="l">
              <a:lnSpc>
                <a:spcPct val="100000"/>
              </a:lnSpc>
              <a:spcBef>
                <a:spcPts val="400"/>
              </a:spcBef>
              <a:spcAft>
                <a:spcPts val="0"/>
              </a:spcAft>
              <a:buClr>
                <a:srgbClr val="888888"/>
              </a:buClr>
              <a:buSzPts val="2000"/>
              <a:buFont typeface="Calibri"/>
              <a:buNone/>
              <a:defRPr sz="2000">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2" name="Google Shape;22;p14"/>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3"/>
        <p:cNvGrpSpPr/>
        <p:nvPr/>
      </p:nvGrpSpPr>
      <p:grpSpPr>
        <a:xfrm>
          <a:off x="0" y="0"/>
          <a:ext cx="0" cy="0"/>
          <a:chOff x="0" y="0"/>
          <a:chExt cx="0" cy="0"/>
        </a:xfrm>
      </p:grpSpPr>
      <p:sp>
        <p:nvSpPr>
          <p:cNvPr id="24" name="Google Shape;24;p15"/>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5" name="Google Shape;25;p15"/>
          <p:cNvSpPr txBox="1">
            <a:spLocks noGrp="1"/>
          </p:cNvSpPr>
          <p:nvPr>
            <p:ph type="body" idx="1"/>
          </p:nvPr>
        </p:nvSpPr>
        <p:spPr>
          <a:xfrm>
            <a:off x="457200" y="1600200"/>
            <a:ext cx="4038600" cy="4525963"/>
          </a:xfrm>
          <a:prstGeom prst="rect">
            <a:avLst/>
          </a:prstGeom>
          <a:noFill/>
          <a:ln>
            <a:noFill/>
          </a:ln>
        </p:spPr>
        <p:txBody>
          <a:bodyPr spcFirstLastPara="1" wrap="square" lIns="45700" tIns="45700" rIns="45700" bIns="45700" anchor="t" anchorCtr="0">
            <a:normAutofit/>
          </a:bodyPr>
          <a:lstStyle>
            <a:lvl1pPr marL="457200" lvl="0" indent="-406400" algn="l">
              <a:lnSpc>
                <a:spcPct val="100000"/>
              </a:lnSpc>
              <a:spcBef>
                <a:spcPts val="600"/>
              </a:spcBef>
              <a:spcAft>
                <a:spcPts val="0"/>
              </a:spcAft>
              <a:buClr>
                <a:srgbClr val="000000"/>
              </a:buClr>
              <a:buSzPts val="2800"/>
              <a:buChar char="•"/>
              <a:defRPr sz="2800"/>
            </a:lvl1pPr>
            <a:lvl2pPr marL="914400" lvl="1" indent="-406400" algn="l">
              <a:lnSpc>
                <a:spcPct val="100000"/>
              </a:lnSpc>
              <a:spcBef>
                <a:spcPts val="600"/>
              </a:spcBef>
              <a:spcAft>
                <a:spcPts val="0"/>
              </a:spcAft>
              <a:buClr>
                <a:srgbClr val="000000"/>
              </a:buClr>
              <a:buSzPts val="2800"/>
              <a:buChar char="–"/>
              <a:defRPr sz="2800"/>
            </a:lvl2pPr>
            <a:lvl3pPr marL="1371600" lvl="2" indent="-406400" algn="l">
              <a:lnSpc>
                <a:spcPct val="100000"/>
              </a:lnSpc>
              <a:spcBef>
                <a:spcPts val="600"/>
              </a:spcBef>
              <a:spcAft>
                <a:spcPts val="0"/>
              </a:spcAft>
              <a:buClr>
                <a:srgbClr val="000000"/>
              </a:buClr>
              <a:buSzPts val="2800"/>
              <a:buChar char="•"/>
              <a:defRPr sz="2800"/>
            </a:lvl3pPr>
            <a:lvl4pPr marL="1828800" lvl="3" indent="-406400" algn="l">
              <a:lnSpc>
                <a:spcPct val="100000"/>
              </a:lnSpc>
              <a:spcBef>
                <a:spcPts val="600"/>
              </a:spcBef>
              <a:spcAft>
                <a:spcPts val="0"/>
              </a:spcAft>
              <a:buClr>
                <a:srgbClr val="000000"/>
              </a:buClr>
              <a:buSzPts val="2800"/>
              <a:buChar char="–"/>
              <a:defRPr sz="2800"/>
            </a:lvl4pPr>
            <a:lvl5pPr marL="2286000" lvl="4" indent="-406400" algn="l">
              <a:lnSpc>
                <a:spcPct val="100000"/>
              </a:lnSpc>
              <a:spcBef>
                <a:spcPts val="600"/>
              </a:spcBef>
              <a:spcAft>
                <a:spcPts val="0"/>
              </a:spcAft>
              <a:buClr>
                <a:srgbClr val="000000"/>
              </a:buClr>
              <a:buSzPts val="2800"/>
              <a:buChar char="»"/>
              <a:defRPr sz="28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6" name="Google Shape;26;p15"/>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9" name="Google Shape;29;p16"/>
          <p:cNvSpPr txBox="1">
            <a:spLocks noGrp="1"/>
          </p:cNvSpPr>
          <p:nvPr>
            <p:ph type="body" idx="1"/>
          </p:nvPr>
        </p:nvSpPr>
        <p:spPr>
          <a:xfrm>
            <a:off x="457200" y="1535112"/>
            <a:ext cx="4040188" cy="639763"/>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500"/>
              </a:spcBef>
              <a:spcAft>
                <a:spcPts val="0"/>
              </a:spcAft>
              <a:buClr>
                <a:srgbClr val="000000"/>
              </a:buClr>
              <a:buSzPts val="2400"/>
              <a:buFont typeface="Calibri"/>
              <a:buNone/>
              <a:defRPr sz="2400" b="1"/>
            </a:lvl1pPr>
            <a:lvl2pPr marL="914400" lvl="1" indent="-228600" algn="l">
              <a:lnSpc>
                <a:spcPct val="100000"/>
              </a:lnSpc>
              <a:spcBef>
                <a:spcPts val="500"/>
              </a:spcBef>
              <a:spcAft>
                <a:spcPts val="0"/>
              </a:spcAft>
              <a:buClr>
                <a:srgbClr val="000000"/>
              </a:buClr>
              <a:buSzPts val="2400"/>
              <a:buFont typeface="Calibri"/>
              <a:buNone/>
              <a:defRPr sz="2400" b="1"/>
            </a:lvl2pPr>
            <a:lvl3pPr marL="1371600" lvl="2" indent="-228600" algn="l">
              <a:lnSpc>
                <a:spcPct val="100000"/>
              </a:lnSpc>
              <a:spcBef>
                <a:spcPts val="500"/>
              </a:spcBef>
              <a:spcAft>
                <a:spcPts val="0"/>
              </a:spcAft>
              <a:buClr>
                <a:srgbClr val="000000"/>
              </a:buClr>
              <a:buSzPts val="2400"/>
              <a:buFont typeface="Calibri"/>
              <a:buNone/>
              <a:defRPr sz="2400" b="1"/>
            </a:lvl3pPr>
            <a:lvl4pPr marL="1828800" lvl="3" indent="-228600" algn="l">
              <a:lnSpc>
                <a:spcPct val="100000"/>
              </a:lnSpc>
              <a:spcBef>
                <a:spcPts val="500"/>
              </a:spcBef>
              <a:spcAft>
                <a:spcPts val="0"/>
              </a:spcAft>
              <a:buClr>
                <a:srgbClr val="000000"/>
              </a:buClr>
              <a:buSzPts val="2400"/>
              <a:buFont typeface="Calibri"/>
              <a:buNone/>
              <a:defRPr sz="2400" b="1"/>
            </a:lvl4pPr>
            <a:lvl5pPr marL="2286000" lvl="4" indent="-228600" algn="l">
              <a:lnSpc>
                <a:spcPct val="100000"/>
              </a:lnSpc>
              <a:spcBef>
                <a:spcPts val="500"/>
              </a:spcBef>
              <a:spcAft>
                <a:spcPts val="0"/>
              </a:spcAft>
              <a:buClr>
                <a:srgbClr val="000000"/>
              </a:buClr>
              <a:buSzPts val="2400"/>
              <a:buFont typeface="Calibri"/>
              <a:buNone/>
              <a:defRPr sz="24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0" name="Google Shape;30;p16"/>
          <p:cNvSpPr txBox="1">
            <a:spLocks noGrp="1"/>
          </p:cNvSpPr>
          <p:nvPr>
            <p:ph type="body" idx="2"/>
          </p:nvPr>
        </p:nvSpPr>
        <p:spPr>
          <a:xfrm>
            <a:off x="4645025" y="1535112"/>
            <a:ext cx="4041775" cy="639763"/>
          </a:xfrm>
          <a:prstGeom prst="rect">
            <a:avLst/>
          </a:prstGeom>
          <a:noFill/>
          <a:ln>
            <a:noFill/>
          </a:ln>
        </p:spPr>
        <p:txBody>
          <a:bodyPr spcFirstLastPara="1" wrap="square" lIns="45700" tIns="45700" rIns="45700" bIns="45700" anchor="b"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1" name="Google Shape;31;p16"/>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2"/>
        <p:cNvGrpSpPr/>
        <p:nvPr/>
      </p:nvGrpSpPr>
      <p:grpSpPr>
        <a:xfrm>
          <a:off x="0" y="0"/>
          <a:ext cx="0" cy="0"/>
          <a:chOff x="0" y="0"/>
          <a:chExt cx="0" cy="0"/>
        </a:xfrm>
      </p:grpSpPr>
      <p:sp>
        <p:nvSpPr>
          <p:cNvPr id="33" name="Google Shape;33;p17"/>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4" name="Google Shape;34;p17"/>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5"/>
        <p:cNvGrpSpPr/>
        <p:nvPr/>
      </p:nvGrpSpPr>
      <p:grpSpPr>
        <a:xfrm>
          <a:off x="0" y="0"/>
          <a:ext cx="0" cy="0"/>
          <a:chOff x="0" y="0"/>
          <a:chExt cx="0" cy="0"/>
        </a:xfrm>
      </p:grpSpPr>
      <p:sp>
        <p:nvSpPr>
          <p:cNvPr id="36" name="Google Shape;36;p18"/>
          <p:cNvSpPr txBox="1">
            <a:spLocks noGrp="1"/>
          </p:cNvSpPr>
          <p:nvPr>
            <p:ph type="title"/>
          </p:nvPr>
        </p:nvSpPr>
        <p:spPr>
          <a:xfrm>
            <a:off x="457200" y="273050"/>
            <a:ext cx="3008314" cy="1162050"/>
          </a:xfrm>
          <a:prstGeom prst="rect">
            <a:avLst/>
          </a:prstGeom>
          <a:noFill/>
          <a:ln>
            <a:noFill/>
          </a:ln>
        </p:spPr>
        <p:txBody>
          <a:bodyPr spcFirstLastPara="1" wrap="square" lIns="45700" tIns="45700" rIns="45700" bIns="45700" anchor="b" anchorCtr="0">
            <a:normAutofit/>
          </a:bodyPr>
          <a:lstStyle>
            <a:lvl1pPr lvl="0" algn="l">
              <a:lnSpc>
                <a:spcPct val="100000"/>
              </a:lnSpc>
              <a:spcBef>
                <a:spcPts val="0"/>
              </a:spcBef>
              <a:spcAft>
                <a:spcPts val="0"/>
              </a:spcAft>
              <a:buClr>
                <a:srgbClr val="000000"/>
              </a:buClr>
              <a:buSzPts val="2000"/>
              <a:buFont typeface="Calibri"/>
              <a:buNone/>
              <a:defRPr sz="2000" b="1"/>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7" name="Google Shape;37;p18"/>
          <p:cNvSpPr txBox="1">
            <a:spLocks noGrp="1"/>
          </p:cNvSpPr>
          <p:nvPr>
            <p:ph type="body" idx="1"/>
          </p:nvPr>
        </p:nvSpPr>
        <p:spPr>
          <a:xfrm>
            <a:off x="3575050" y="273050"/>
            <a:ext cx="5111750" cy="585311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8" name="Google Shape;38;p18"/>
          <p:cNvSpPr txBox="1">
            <a:spLocks noGrp="1"/>
          </p:cNvSpPr>
          <p:nvPr>
            <p:ph type="body" idx="2"/>
          </p:nvPr>
        </p:nvSpPr>
        <p:spPr>
          <a:xfrm>
            <a:off x="457199" y="1435100"/>
            <a:ext cx="3008315" cy="46910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9" name="Google Shape;39;p18"/>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1792288" y="4800600"/>
            <a:ext cx="5486401" cy="566738"/>
          </a:xfrm>
          <a:prstGeom prst="rect">
            <a:avLst/>
          </a:prstGeom>
          <a:noFill/>
          <a:ln>
            <a:noFill/>
          </a:ln>
        </p:spPr>
        <p:txBody>
          <a:bodyPr spcFirstLastPara="1" wrap="square" lIns="45700" tIns="45700" rIns="45700" bIns="45700" anchor="b" anchorCtr="0">
            <a:normAutofit/>
          </a:bodyPr>
          <a:lstStyle>
            <a:lvl1pPr lvl="0" algn="l">
              <a:lnSpc>
                <a:spcPct val="100000"/>
              </a:lnSpc>
              <a:spcBef>
                <a:spcPts val="0"/>
              </a:spcBef>
              <a:spcAft>
                <a:spcPts val="0"/>
              </a:spcAft>
              <a:buClr>
                <a:srgbClr val="000000"/>
              </a:buClr>
              <a:buSzPts val="2000"/>
              <a:buFont typeface="Calibri"/>
              <a:buNone/>
              <a:defRPr sz="2000" b="1"/>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42" name="Google Shape;42;p19"/>
          <p:cNvSpPr>
            <a:spLocks noGrp="1"/>
          </p:cNvSpPr>
          <p:nvPr>
            <p:ph type="pic" idx="2"/>
          </p:nvPr>
        </p:nvSpPr>
        <p:spPr>
          <a:xfrm>
            <a:off x="1792288" y="612775"/>
            <a:ext cx="5486401" cy="4114800"/>
          </a:xfrm>
          <a:prstGeom prst="rect">
            <a:avLst/>
          </a:prstGeom>
          <a:noFill/>
          <a:ln>
            <a:noFill/>
          </a:ln>
        </p:spPr>
      </p:sp>
      <p:sp>
        <p:nvSpPr>
          <p:cNvPr id="43" name="Google Shape;43;p19"/>
          <p:cNvSpPr txBox="1">
            <a:spLocks noGrp="1"/>
          </p:cNvSpPr>
          <p:nvPr>
            <p:ph type="body" idx="1"/>
          </p:nvPr>
        </p:nvSpPr>
        <p:spPr>
          <a:xfrm>
            <a:off x="1792288" y="5367337"/>
            <a:ext cx="5486401" cy="804863"/>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300"/>
              </a:spcBef>
              <a:spcAft>
                <a:spcPts val="0"/>
              </a:spcAft>
              <a:buClr>
                <a:srgbClr val="000000"/>
              </a:buClr>
              <a:buSzPts val="1400"/>
              <a:buFont typeface="Calibri"/>
              <a:buNone/>
              <a:defRPr sz="1400"/>
            </a:lvl1pPr>
            <a:lvl2pPr marL="914400" lvl="1" indent="-228600" algn="l">
              <a:lnSpc>
                <a:spcPct val="100000"/>
              </a:lnSpc>
              <a:spcBef>
                <a:spcPts val="300"/>
              </a:spcBef>
              <a:spcAft>
                <a:spcPts val="0"/>
              </a:spcAft>
              <a:buClr>
                <a:srgbClr val="000000"/>
              </a:buClr>
              <a:buSzPts val="1400"/>
              <a:buFont typeface="Calibri"/>
              <a:buNone/>
              <a:defRPr sz="1400"/>
            </a:lvl2pPr>
            <a:lvl3pPr marL="1371600" lvl="2" indent="-228600" algn="l">
              <a:lnSpc>
                <a:spcPct val="100000"/>
              </a:lnSpc>
              <a:spcBef>
                <a:spcPts val="300"/>
              </a:spcBef>
              <a:spcAft>
                <a:spcPts val="0"/>
              </a:spcAft>
              <a:buClr>
                <a:srgbClr val="000000"/>
              </a:buClr>
              <a:buSzPts val="1400"/>
              <a:buFont typeface="Calibri"/>
              <a:buNone/>
              <a:defRPr sz="1400"/>
            </a:lvl3pPr>
            <a:lvl4pPr marL="1828800" lvl="3" indent="-228600" algn="l">
              <a:lnSpc>
                <a:spcPct val="100000"/>
              </a:lnSpc>
              <a:spcBef>
                <a:spcPts val="300"/>
              </a:spcBef>
              <a:spcAft>
                <a:spcPts val="0"/>
              </a:spcAft>
              <a:buClr>
                <a:srgbClr val="000000"/>
              </a:buClr>
              <a:buSzPts val="1400"/>
              <a:buFont typeface="Calibri"/>
              <a:buNone/>
              <a:defRPr sz="1400"/>
            </a:lvl4pPr>
            <a:lvl5pPr marL="2286000" lvl="4" indent="-228600" algn="l">
              <a:lnSpc>
                <a:spcPct val="100000"/>
              </a:lnSpc>
              <a:spcBef>
                <a:spcPts val="300"/>
              </a:spcBef>
              <a:spcAft>
                <a:spcPts val="0"/>
              </a:spcAft>
              <a:buClr>
                <a:srgbClr val="000000"/>
              </a:buClr>
              <a:buSzPts val="1400"/>
              <a:buFont typeface="Calibri"/>
              <a:buNone/>
              <a:defRPr sz="14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44" name="Google Shape;44;p19"/>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914400" y="138112"/>
            <a:ext cx="16459200" cy="2262188"/>
          </a:xfrm>
          <a:prstGeom prst="rect">
            <a:avLst/>
          </a:prstGeom>
          <a:noFill/>
          <a:ln>
            <a:noFill/>
          </a:ln>
        </p:spPr>
        <p:txBody>
          <a:bodyPr spcFirstLastPara="1" wrap="square" lIns="45700" tIns="45700" rIns="45700" bIns="45700" anchor="ctr" anchorCtr="0">
            <a:normAutofit/>
          </a:bodyPr>
          <a:lstStyle>
            <a:lvl1pPr marR="0" lvl="0"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9pPr>
          </a:lstStyle>
          <a:p>
            <a:endParaRPr/>
          </a:p>
        </p:txBody>
      </p:sp>
      <p:sp>
        <p:nvSpPr>
          <p:cNvPr id="7" name="Google Shape;7;p10"/>
          <p:cNvSpPr txBox="1">
            <a:spLocks noGrp="1"/>
          </p:cNvSpPr>
          <p:nvPr>
            <p:ph type="body" idx="1"/>
          </p:nvPr>
        </p:nvSpPr>
        <p:spPr>
          <a:xfrm>
            <a:off x="914400" y="2400300"/>
            <a:ext cx="16459200" cy="7886700"/>
          </a:xfrm>
          <a:prstGeom prst="rect">
            <a:avLst/>
          </a:prstGeom>
          <a:noFill/>
          <a:ln>
            <a:noFill/>
          </a:ln>
        </p:spPr>
        <p:txBody>
          <a:bodyPr spcFirstLastPara="1" wrap="square" lIns="45700" tIns="45700" rIns="45700" bIns="45700" anchor="t" anchorCtr="0">
            <a:normAutofit/>
          </a:bodyPr>
          <a:lstStyle>
            <a:lvl1pPr marL="457200" marR="0" lvl="0"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1pPr>
            <a:lvl2pPr marL="914400" marR="0" lvl="1"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2pPr>
            <a:lvl3pPr marL="1371600" marR="0" lvl="2"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3pPr>
            <a:lvl4pPr marL="1828800" marR="0" lvl="3"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4pPr>
            <a:lvl5pPr marL="2286000" marR="0" lvl="4"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5pPr>
            <a:lvl6pPr marL="2743200" marR="0" lvl="5"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6pPr>
            <a:lvl7pPr marL="3200400" marR="0" lvl="6"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7pPr>
            <a:lvl8pPr marL="3657600" marR="0" lvl="7"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8pPr>
            <a:lvl9pPr marL="4114800" marR="0" lvl="8"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9pPr>
          </a:lstStyle>
          <a:p>
            <a:endParaRPr/>
          </a:p>
        </p:txBody>
      </p:sp>
      <p:sp>
        <p:nvSpPr>
          <p:cNvPr id="8" name="Google Shape;8;p10"/>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4.png"/><Relationship Id="rId12"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3.jpg"/><Relationship Id="rId5" Type="http://schemas.openxmlformats.org/officeDocument/2006/relationships/image" Target="../media/image10.png"/><Relationship Id="rId10" Type="http://schemas.openxmlformats.org/officeDocument/2006/relationships/image" Target="../media/image12.jpg"/><Relationship Id="rId4" Type="http://schemas.openxmlformats.org/officeDocument/2006/relationships/image" Target="../media/image9.png"/><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4.png"/><Relationship Id="rId12"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6.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4.png"/><Relationship Id="rId12" Type="http://schemas.openxmlformats.org/officeDocument/2006/relationships/image" Target="../media/image22.png"/><Relationship Id="rId2" Type="http://schemas.openxmlformats.org/officeDocument/2006/relationships/notesSlide" Target="../notesSlides/notesSlide5.xml"/><Relationship Id="rId16"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21.png"/><Relationship Id="rId5" Type="http://schemas.openxmlformats.org/officeDocument/2006/relationships/image" Target="../media/image10.png"/><Relationship Id="rId15" Type="http://schemas.openxmlformats.org/officeDocument/2006/relationships/image" Target="../media/image23.png"/><Relationship Id="rId10" Type="http://schemas.openxmlformats.org/officeDocument/2006/relationships/image" Target="../media/image20.png"/><Relationship Id="rId4" Type="http://schemas.openxmlformats.org/officeDocument/2006/relationships/image" Target="../media/image9.png"/><Relationship Id="rId9" Type="http://schemas.openxmlformats.org/officeDocument/2006/relationships/image" Target="../media/image6.png"/><Relationship Id="rId1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7.png"/><Relationship Id="rId3" Type="http://schemas.openxmlformats.org/officeDocument/2006/relationships/image" Target="../media/image8.png"/><Relationship Id="rId7" Type="http://schemas.openxmlformats.org/officeDocument/2006/relationships/image" Target="../media/image4.png"/><Relationship Id="rId12"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26.png"/><Relationship Id="rId5" Type="http://schemas.openxmlformats.org/officeDocument/2006/relationships/image" Target="../media/image10.png"/><Relationship Id="rId10" Type="http://schemas.openxmlformats.org/officeDocument/2006/relationships/image" Target="../media/image25.png"/><Relationship Id="rId4" Type="http://schemas.openxmlformats.org/officeDocument/2006/relationships/image" Target="../media/image9.png"/><Relationship Id="rId9" Type="http://schemas.openxmlformats.org/officeDocument/2006/relationships/image" Target="../media/image6.pn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9.png"/><Relationship Id="rId3" Type="http://schemas.openxmlformats.org/officeDocument/2006/relationships/image" Target="../media/image8.png"/><Relationship Id="rId7" Type="http://schemas.openxmlformats.org/officeDocument/2006/relationships/image" Target="../media/image4.png"/><Relationship Id="rId12"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25.png"/><Relationship Id="rId5" Type="http://schemas.openxmlformats.org/officeDocument/2006/relationships/image" Target="../media/image10.png"/><Relationship Id="rId15" Type="http://schemas.openxmlformats.org/officeDocument/2006/relationships/image" Target="../media/image31.png"/><Relationship Id="rId10" Type="http://schemas.openxmlformats.org/officeDocument/2006/relationships/image" Target="../media/image28.png"/><Relationship Id="rId4" Type="http://schemas.openxmlformats.org/officeDocument/2006/relationships/image" Target="../media/image9.png"/><Relationship Id="rId9" Type="http://schemas.openxmlformats.org/officeDocument/2006/relationships/image" Target="../media/image6.png"/><Relationship Id="rId14"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4.png"/><Relationship Id="rId12"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32.png"/><Relationship Id="rId5" Type="http://schemas.openxmlformats.org/officeDocument/2006/relationships/image" Target="../media/image10.png"/><Relationship Id="rId10" Type="http://schemas.openxmlformats.org/officeDocument/2006/relationships/image" Target="../media/image20.png"/><Relationship Id="rId4" Type="http://schemas.openxmlformats.org/officeDocument/2006/relationships/image" Target="../media/image9.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48"/>
        <p:cNvGrpSpPr/>
        <p:nvPr/>
      </p:nvGrpSpPr>
      <p:grpSpPr>
        <a:xfrm>
          <a:off x="0" y="0"/>
          <a:ext cx="0" cy="0"/>
          <a:chOff x="0" y="0"/>
          <a:chExt cx="0" cy="0"/>
        </a:xfrm>
      </p:grpSpPr>
      <p:sp>
        <p:nvSpPr>
          <p:cNvPr id="49" name="Google Shape;49;p1"/>
          <p:cNvSpPr/>
          <p:nvPr/>
        </p:nvSpPr>
        <p:spPr>
          <a:xfrm>
            <a:off x="-274131" y="-311289"/>
            <a:ext cx="2731199" cy="2731200"/>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 name="Google Shape;50;p1"/>
          <p:cNvSpPr/>
          <p:nvPr/>
        </p:nvSpPr>
        <p:spPr>
          <a:xfrm>
            <a:off x="5455878" y="7182583"/>
            <a:ext cx="971090" cy="1339433"/>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1" name="Google Shape;51;p1"/>
          <p:cNvSpPr/>
          <p:nvPr/>
        </p:nvSpPr>
        <p:spPr>
          <a:xfrm>
            <a:off x="-1599929" y="4779066"/>
            <a:ext cx="6342222" cy="56445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1"/>
          <p:cNvSpPr/>
          <p:nvPr/>
        </p:nvSpPr>
        <p:spPr>
          <a:xfrm flipH="1">
            <a:off x="13544441" y="4779066"/>
            <a:ext cx="6342222" cy="56445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3" name="Google Shape;53;p1"/>
          <p:cNvSpPr/>
          <p:nvPr/>
        </p:nvSpPr>
        <p:spPr>
          <a:xfrm flipH="1">
            <a:off x="16200370" y="-311289"/>
            <a:ext cx="2731200" cy="2731200"/>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4" name="Google Shape;54;p1"/>
          <p:cNvSpPr/>
          <p:nvPr/>
        </p:nvSpPr>
        <p:spPr>
          <a:xfrm flipH="1">
            <a:off x="12025121" y="7182583"/>
            <a:ext cx="971089" cy="1339433"/>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55" name="Google Shape;55;p1"/>
          <p:cNvGrpSpPr/>
          <p:nvPr/>
        </p:nvGrpSpPr>
        <p:grpSpPr>
          <a:xfrm>
            <a:off x="3206536" y="-571969"/>
            <a:ext cx="12244263" cy="2143200"/>
            <a:chOff x="-1" y="-324180"/>
            <a:chExt cx="12244263" cy="2143200"/>
          </a:xfrm>
        </p:grpSpPr>
        <p:sp>
          <p:nvSpPr>
            <p:cNvPr id="56" name="Google Shape;56;p1"/>
            <p:cNvSpPr/>
            <p:nvPr/>
          </p:nvSpPr>
          <p:spPr>
            <a:xfrm>
              <a:off x="9620462" y="77665"/>
              <a:ext cx="2623800" cy="1339500"/>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7" name="Google Shape;57;p1"/>
            <p:cNvSpPr/>
            <p:nvPr/>
          </p:nvSpPr>
          <p:spPr>
            <a:xfrm>
              <a:off x="4815760" y="-324181"/>
              <a:ext cx="2243400" cy="2143200"/>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8" name="Google Shape;58;p1"/>
            <p:cNvSpPr/>
            <p:nvPr/>
          </p:nvSpPr>
          <p:spPr>
            <a:xfrm>
              <a:off x="-1" y="280132"/>
              <a:ext cx="1939145" cy="823772"/>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59" name="Google Shape;59;p1"/>
          <p:cNvSpPr txBox="1"/>
          <p:nvPr/>
        </p:nvSpPr>
        <p:spPr>
          <a:xfrm>
            <a:off x="7106847" y="1180569"/>
            <a:ext cx="4074300" cy="708000"/>
          </a:xfrm>
          <a:prstGeom prst="rect">
            <a:avLst/>
          </a:prstGeom>
          <a:noFill/>
          <a:ln>
            <a:noFill/>
          </a:ln>
        </p:spPr>
        <p:txBody>
          <a:bodyPr spcFirstLastPara="1" wrap="square" lIns="91425" tIns="91425" rIns="91425" bIns="91425" anchor="t" anchorCtr="0">
            <a:spAutoFit/>
          </a:bodyPr>
          <a:lstStyle/>
          <a:p>
            <a:pPr marL="0" lvl="0" indent="0" algn="ctr" rtl="0">
              <a:lnSpc>
                <a:spcPct val="140000"/>
              </a:lnSpc>
              <a:spcBef>
                <a:spcPts val="4200"/>
              </a:spcBef>
              <a:spcAft>
                <a:spcPts val="4200"/>
              </a:spcAft>
              <a:buNone/>
            </a:pPr>
            <a:r>
              <a:rPr lang="en-US" sz="3400" dirty="0">
                <a:solidFill>
                  <a:srgbClr val="FFFFFF"/>
                </a:solidFill>
                <a:latin typeface="Cinzel Decorative"/>
                <a:ea typeface="Cinzel Decorative"/>
                <a:cs typeface="Cinzel Decorative"/>
                <a:sym typeface="Cinzel Decorative"/>
              </a:rPr>
              <a:t>arch presents</a:t>
            </a:r>
            <a:endParaRPr sz="3400" dirty="0">
              <a:solidFill>
                <a:srgbClr val="FFFFFF"/>
              </a:solidFill>
              <a:latin typeface="Cinzel Decorative"/>
              <a:ea typeface="Cinzel Decorative"/>
              <a:cs typeface="Cinzel Decorative"/>
              <a:sym typeface="Cinzel Decorative"/>
            </a:endParaRPr>
          </a:p>
        </p:txBody>
      </p:sp>
      <p:grpSp>
        <p:nvGrpSpPr>
          <p:cNvPr id="60" name="Google Shape;60;p1"/>
          <p:cNvGrpSpPr/>
          <p:nvPr/>
        </p:nvGrpSpPr>
        <p:grpSpPr>
          <a:xfrm>
            <a:off x="4176108" y="1753666"/>
            <a:ext cx="10215389" cy="4555839"/>
            <a:chOff x="5488500" y="2497972"/>
            <a:chExt cx="7897479" cy="3522102"/>
          </a:xfrm>
        </p:grpSpPr>
        <p:sp>
          <p:nvSpPr>
            <p:cNvPr id="61" name="Google Shape;61;p1"/>
            <p:cNvSpPr txBox="1"/>
            <p:nvPr/>
          </p:nvSpPr>
          <p:spPr>
            <a:xfrm>
              <a:off x="5884069" y="2497972"/>
              <a:ext cx="6718200" cy="800400"/>
            </a:xfrm>
            <a:prstGeom prst="rect">
              <a:avLst/>
            </a:prstGeom>
            <a:noFill/>
            <a:ln>
              <a:noFill/>
            </a:ln>
          </p:spPr>
          <p:txBody>
            <a:bodyPr spcFirstLastPara="1" wrap="square" lIns="118250" tIns="118250" rIns="118250" bIns="118250" anchor="t" anchorCtr="0">
              <a:spAutoFit/>
            </a:bodyPr>
            <a:lstStyle/>
            <a:p>
              <a:pPr marL="0" lvl="0" indent="0" algn="ctr" rtl="0">
                <a:lnSpc>
                  <a:spcPct val="140000"/>
                </a:lnSpc>
                <a:spcBef>
                  <a:spcPts val="5433"/>
                </a:spcBef>
                <a:spcAft>
                  <a:spcPts val="5433"/>
                </a:spcAft>
                <a:buNone/>
              </a:pPr>
              <a:r>
                <a:rPr lang="en-US" sz="5174" b="1" dirty="0">
                  <a:solidFill>
                    <a:srgbClr val="FFFFFF"/>
                  </a:solidFill>
                  <a:latin typeface="Cinzel Decorative"/>
                  <a:ea typeface="Cinzel Decorative"/>
                  <a:cs typeface="Cinzel Decorative"/>
                  <a:sym typeface="Cinzel Decorative"/>
                </a:rPr>
                <a:t>2</a:t>
              </a:r>
              <a:r>
                <a:rPr lang="en-US" sz="5174" b="1" baseline="30000" dirty="0">
                  <a:solidFill>
                    <a:srgbClr val="FFFFFF"/>
                  </a:solidFill>
                  <a:latin typeface="Cinzel Decorative"/>
                  <a:ea typeface="Cinzel Decorative"/>
                  <a:cs typeface="Cinzel Decorative"/>
                  <a:sym typeface="Cinzel Decorative"/>
                </a:rPr>
                <a:t>nd</a:t>
              </a:r>
              <a:r>
                <a:rPr lang="en-US" sz="5174" b="1" dirty="0">
                  <a:solidFill>
                    <a:srgbClr val="FFFFFF"/>
                  </a:solidFill>
                  <a:latin typeface="Cinzel Decorative"/>
                  <a:ea typeface="Cinzel Decorative"/>
                  <a:cs typeface="Cinzel Decorative"/>
                  <a:sym typeface="Cinzel Decorative"/>
                </a:rPr>
                <a:t> edition of</a:t>
              </a:r>
              <a:endParaRPr sz="5174" b="1" dirty="0">
                <a:solidFill>
                  <a:srgbClr val="FFFFFF"/>
                </a:solidFill>
                <a:latin typeface="Cinzel Decorative"/>
                <a:ea typeface="Cinzel Decorative"/>
                <a:cs typeface="Cinzel Decorative"/>
                <a:sym typeface="Cinzel Decorative"/>
              </a:endParaRPr>
            </a:p>
          </p:txBody>
        </p:sp>
        <p:pic>
          <p:nvPicPr>
            <p:cNvPr id="62" name="Google Shape;62;p1"/>
            <p:cNvPicPr preferRelativeResize="0"/>
            <p:nvPr/>
          </p:nvPicPr>
          <p:blipFill>
            <a:blip r:embed="rId9">
              <a:alphaModFix/>
            </a:blip>
            <a:stretch>
              <a:fillRect/>
            </a:stretch>
          </p:blipFill>
          <p:spPr>
            <a:xfrm>
              <a:off x="5488500" y="3380942"/>
              <a:ext cx="7897479" cy="2639132"/>
            </a:xfrm>
            <a:prstGeom prst="rect">
              <a:avLst/>
            </a:prstGeom>
            <a:noFill/>
            <a:ln>
              <a:noFill/>
            </a:ln>
          </p:spPr>
        </p:pic>
        <p:sp>
          <p:nvSpPr>
            <p:cNvPr id="63" name="Google Shape;63;p1"/>
            <p:cNvSpPr txBox="1"/>
            <p:nvPr/>
          </p:nvSpPr>
          <p:spPr>
            <a:xfrm>
              <a:off x="5801006" y="4870637"/>
              <a:ext cx="6718200" cy="800400"/>
            </a:xfrm>
            <a:prstGeom prst="rect">
              <a:avLst/>
            </a:prstGeom>
            <a:noFill/>
            <a:ln>
              <a:noFill/>
            </a:ln>
          </p:spPr>
          <p:txBody>
            <a:bodyPr spcFirstLastPara="1" wrap="square" lIns="118250" tIns="118250" rIns="118250" bIns="118250" anchor="t" anchorCtr="0">
              <a:spAutoFit/>
            </a:bodyPr>
            <a:lstStyle/>
            <a:p>
              <a:pPr marL="0" lvl="0" indent="0" algn="ctr" rtl="0">
                <a:lnSpc>
                  <a:spcPct val="140000"/>
                </a:lnSpc>
                <a:spcBef>
                  <a:spcPts val="5433"/>
                </a:spcBef>
                <a:spcAft>
                  <a:spcPts val="5433"/>
                </a:spcAft>
                <a:buNone/>
              </a:pPr>
              <a:r>
                <a:rPr lang="en-US" sz="5174" b="1" dirty="0">
                  <a:solidFill>
                    <a:srgbClr val="FFFFFF"/>
                  </a:solidFill>
                  <a:latin typeface="Cinzel Decorative"/>
                  <a:ea typeface="Cinzel Decorative"/>
                  <a:cs typeface="Cinzel Decorative"/>
                  <a:sym typeface="Cinzel Decorative"/>
                </a:rPr>
                <a:t>10hr hackathon</a:t>
              </a:r>
              <a:endParaRPr sz="5174" b="1" dirty="0">
                <a:solidFill>
                  <a:srgbClr val="FFFFFF"/>
                </a:solidFill>
                <a:latin typeface="Cinzel Decorative"/>
                <a:ea typeface="Cinzel Decorative"/>
                <a:cs typeface="Cinzel Decorative"/>
                <a:sym typeface="Cinzel Decorative"/>
              </a:endParaRPr>
            </a:p>
          </p:txBody>
        </p:sp>
      </p:grpSp>
      <p:sp>
        <p:nvSpPr>
          <p:cNvPr id="64" name="Project name"/>
          <p:cNvSpPr txBox="1"/>
          <p:nvPr/>
        </p:nvSpPr>
        <p:spPr>
          <a:xfrm>
            <a:off x="6078583" y="6967375"/>
            <a:ext cx="6488730" cy="850745"/>
          </a:xfrm>
          <a:prstGeom prst="rect">
            <a:avLst/>
          </a:prstGeom>
          <a:noFill/>
        </p:spPr>
        <p:txBody>
          <a:bodyPr wrap="square" lIns="0" tIns="0" rIns="0" bIns="0" anchor="ctr">
            <a:noAutofit/>
          </a:bodyPr>
          <a:lstStyle/>
          <a:p>
            <a:pPr algn="ctr"/>
            <a:r>
              <a:rPr lang="en-IN" sz="4800" b="1" dirty="0">
                <a:solidFill>
                  <a:schemeClr val="accent6"/>
                </a:solidFill>
              </a:rPr>
              <a:t>Crowd Whisperers</a:t>
            </a:r>
            <a:endParaRPr sz="4800" b="1" i="0" dirty="0">
              <a:solidFill>
                <a:schemeClr val="accent6"/>
              </a:solidFill>
              <a:latin typeface="Arial"/>
            </a:endParaRPr>
          </a:p>
        </p:txBody>
      </p:sp>
      <p:sp>
        <p:nvSpPr>
          <p:cNvPr id="65" name="Project tagline"/>
          <p:cNvSpPr txBox="1"/>
          <p:nvPr/>
        </p:nvSpPr>
        <p:spPr>
          <a:xfrm>
            <a:off x="6537960" y="7818120"/>
            <a:ext cx="5212080" cy="457200"/>
          </a:xfrm>
          <a:prstGeom prst="rect">
            <a:avLst/>
          </a:prstGeom>
          <a:noFill/>
        </p:spPr>
        <p:txBody>
          <a:bodyPr wrap="square" lIns="0" tIns="0" rIns="0" bIns="0" anchor="ctr">
            <a:noAutofit/>
          </a:bodyPr>
          <a:lstStyle/>
          <a:p>
            <a:pPr algn="ctr">
              <a:lnSpc>
                <a:spcPct val="108000"/>
              </a:lnSpc>
              <a:spcBef>
                <a:spcPts val="0"/>
              </a:spcBef>
              <a:spcAft>
                <a:spcPts val="0"/>
              </a:spcAft>
            </a:pPr>
            <a:r>
              <a:rPr sz="2600" b="0" i="0">
                <a:solidFill>
                  <a:srgbClr val="FDF9E0"/>
                </a:solidFill>
                <a:latin typeface="Arial"/>
              </a:rPr>
              <a:t>Crowd-crush early warning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67"/>
        <p:cNvGrpSpPr/>
        <p:nvPr/>
      </p:nvGrpSpPr>
      <p:grpSpPr>
        <a:xfrm>
          <a:off x="0" y="0"/>
          <a:ext cx="0" cy="0"/>
          <a:chOff x="0" y="0"/>
          <a:chExt cx="0" cy="0"/>
        </a:xfrm>
      </p:grpSpPr>
      <p:sp>
        <p:nvSpPr>
          <p:cNvPr id="68" name="Google Shape;68;p2"/>
          <p:cNvSpPr/>
          <p:nvPr/>
        </p:nvSpPr>
        <p:spPr>
          <a:xfrm>
            <a:off x="-768748" y="-853415"/>
            <a:ext cx="3962348" cy="3764230"/>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9" name="Google Shape;69;p2"/>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70" name="Google Shape;70;p2"/>
          <p:cNvGrpSpPr/>
          <p:nvPr/>
        </p:nvGrpSpPr>
        <p:grpSpPr>
          <a:xfrm>
            <a:off x="2368788" y="8390623"/>
            <a:ext cx="13550424" cy="2179108"/>
            <a:chOff x="0" y="-1"/>
            <a:chExt cx="13550423" cy="2179107"/>
          </a:xfrm>
        </p:grpSpPr>
        <p:sp>
          <p:nvSpPr>
            <p:cNvPr id="71" name="Google Shape;71;p2"/>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2" name="Google Shape;72;p2"/>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3" name="Google Shape;73;p2"/>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4" name="Google Shape;74;p2"/>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5" name="Google Shape;75;p2"/>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76" name="Google Shape;76;p2"/>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7" name="Google Shape;77;p2"/>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aphicFrame>
        <p:nvGraphicFramePr>
          <p:cNvPr id="78" name="Google Shape;78;p2"/>
          <p:cNvGraphicFramePr/>
          <p:nvPr>
            <p:extLst>
              <p:ext uri="{D42A27DB-BD31-4B8C-83A1-F6EECF244321}">
                <p14:modId xmlns:p14="http://schemas.microsoft.com/office/powerpoint/2010/main" val="159329897"/>
              </p:ext>
            </p:extLst>
          </p:nvPr>
        </p:nvGraphicFramePr>
        <p:xfrm>
          <a:off x="1712067" y="3320286"/>
          <a:ext cx="14456700" cy="5095500"/>
        </p:xfrm>
        <a:graphic>
          <a:graphicData uri="http://schemas.openxmlformats.org/drawingml/2006/table">
            <a:tbl>
              <a:tblPr>
                <a:noFill/>
                <a:tableStyleId>{511E5996-A6A6-40EC-ACF6-EEF7AF9ABF5F}</a:tableStyleId>
              </a:tblPr>
              <a:tblGrid>
                <a:gridCol w="3614175">
                  <a:extLst>
                    <a:ext uri="{9D8B030D-6E8A-4147-A177-3AD203B41FA5}">
                      <a16:colId xmlns:a16="http://schemas.microsoft.com/office/drawing/2014/main" val="20000"/>
                    </a:ext>
                  </a:extLst>
                </a:gridCol>
                <a:gridCol w="3614175">
                  <a:extLst>
                    <a:ext uri="{9D8B030D-6E8A-4147-A177-3AD203B41FA5}">
                      <a16:colId xmlns:a16="http://schemas.microsoft.com/office/drawing/2014/main" val="20001"/>
                    </a:ext>
                  </a:extLst>
                </a:gridCol>
                <a:gridCol w="3614175">
                  <a:extLst>
                    <a:ext uri="{9D8B030D-6E8A-4147-A177-3AD203B41FA5}">
                      <a16:colId xmlns:a16="http://schemas.microsoft.com/office/drawing/2014/main" val="20002"/>
                    </a:ext>
                  </a:extLst>
                </a:gridCol>
                <a:gridCol w="3614175">
                  <a:extLst>
                    <a:ext uri="{9D8B030D-6E8A-4147-A177-3AD203B41FA5}">
                      <a16:colId xmlns:a16="http://schemas.microsoft.com/office/drawing/2014/main" val="20003"/>
                    </a:ext>
                  </a:extLst>
                </a:gridCol>
              </a:tblGrid>
              <a:tr h="1033300">
                <a:tc>
                  <a:txBody>
                    <a:bodyPr/>
                    <a:lstStyle/>
                    <a:p>
                      <a:pPr marL="0" marR="0" lvl="0" indent="0" algn="ctr" rtl="0">
                        <a:lnSpc>
                          <a:spcPct val="100000"/>
                        </a:lnSpc>
                        <a:spcBef>
                          <a:spcPts val="0"/>
                        </a:spcBef>
                        <a:spcAft>
                          <a:spcPts val="0"/>
                        </a:spcAft>
                        <a:buClr>
                          <a:srgbClr val="FCF9E2"/>
                        </a:buClr>
                        <a:buSzPts val="3900"/>
                        <a:buFont typeface="Calibri"/>
                        <a:buNone/>
                      </a:pPr>
                      <a:r>
                        <a:rPr lang="en-US" sz="3900" u="none" strike="noStrike" cap="none">
                          <a:solidFill>
                            <a:srgbClr val="FCF9E2"/>
                          </a:solidFill>
                        </a:rPr>
                        <a:t>Name</a:t>
                      </a:r>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ctr" rtl="0">
                        <a:lnSpc>
                          <a:spcPct val="100000"/>
                        </a:lnSpc>
                        <a:spcBef>
                          <a:spcPts val="0"/>
                        </a:spcBef>
                        <a:spcAft>
                          <a:spcPts val="0"/>
                        </a:spcAft>
                        <a:buClr>
                          <a:srgbClr val="FCF9E2"/>
                        </a:buClr>
                        <a:buSzPts val="3900"/>
                        <a:buFont typeface="Calibri"/>
                        <a:buNone/>
                      </a:pPr>
                      <a:r>
                        <a:rPr lang="en-US" sz="3900" u="none" strike="noStrike" cap="none">
                          <a:solidFill>
                            <a:srgbClr val="FCF9E2"/>
                          </a:solidFill>
                        </a:rPr>
                        <a:t>SRN/PRN</a:t>
                      </a:r>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ctr" rtl="0">
                        <a:lnSpc>
                          <a:spcPct val="100000"/>
                        </a:lnSpc>
                        <a:spcBef>
                          <a:spcPts val="0"/>
                        </a:spcBef>
                        <a:spcAft>
                          <a:spcPts val="0"/>
                        </a:spcAft>
                        <a:buClr>
                          <a:srgbClr val="FCF9E2"/>
                        </a:buClr>
                        <a:buSzPts val="3900"/>
                        <a:buFont typeface="Calibri"/>
                        <a:buNone/>
                      </a:pPr>
                      <a:r>
                        <a:rPr lang="en-US" sz="3900" u="none" strike="noStrike" cap="none">
                          <a:solidFill>
                            <a:srgbClr val="FCF9E2"/>
                          </a:solidFill>
                        </a:rPr>
                        <a:t>Email ID</a:t>
                      </a:r>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ctr" rtl="0">
                        <a:lnSpc>
                          <a:spcPct val="100000"/>
                        </a:lnSpc>
                        <a:spcBef>
                          <a:spcPts val="0"/>
                        </a:spcBef>
                        <a:spcAft>
                          <a:spcPts val="0"/>
                        </a:spcAft>
                        <a:buClr>
                          <a:srgbClr val="FCF9E2"/>
                        </a:buClr>
                        <a:buSzPts val="3900"/>
                        <a:buFont typeface="Calibri"/>
                        <a:buNone/>
                      </a:pPr>
                      <a:r>
                        <a:rPr lang="en-US" sz="3900" u="none" strike="noStrike" cap="none">
                          <a:solidFill>
                            <a:srgbClr val="FCF9E2"/>
                          </a:solidFill>
                        </a:rPr>
                        <a:t>Phone Number</a:t>
                      </a:r>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extLst>
                  <a:ext uri="{0D108BD9-81ED-4DB2-BD59-A6C34878D82A}">
                    <a16:rowId xmlns:a16="http://schemas.microsoft.com/office/drawing/2014/main" val="10000"/>
                  </a:ext>
                </a:extLst>
              </a:tr>
              <a:tr h="1015550">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 MANAS SIDDHARDHA</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PES1UG24AM186</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pmsiddhardha1@gmail.com</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9392892760</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extLst>
                  <a:ext uri="{0D108BD9-81ED-4DB2-BD59-A6C34878D82A}">
                    <a16:rowId xmlns:a16="http://schemas.microsoft.com/office/drawing/2014/main" val="10001"/>
                  </a:ext>
                </a:extLst>
              </a:tr>
              <a:tr h="1015550">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err="1">
                          <a:solidFill>
                            <a:schemeClr val="bg1"/>
                          </a:solidFill>
                        </a:rPr>
                        <a:t>Nishkal</a:t>
                      </a:r>
                      <a:r>
                        <a:rPr lang="en-IN" sz="2200" u="none" strike="noStrike" cap="none" dirty="0">
                          <a:solidFill>
                            <a:schemeClr val="bg1"/>
                          </a:solidFill>
                        </a:rPr>
                        <a:t> M R</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PES1UG24AM181</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nishkalmr321@gmail.com</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8123332849</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extLst>
                  <a:ext uri="{0D108BD9-81ED-4DB2-BD59-A6C34878D82A}">
                    <a16:rowId xmlns:a16="http://schemas.microsoft.com/office/drawing/2014/main" val="10002"/>
                  </a:ext>
                </a:extLst>
              </a:tr>
              <a:tr h="1015550">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S </a:t>
                      </a:r>
                      <a:r>
                        <a:rPr lang="en-IN" sz="2200" u="none" strike="noStrike" cap="none" dirty="0" err="1">
                          <a:solidFill>
                            <a:schemeClr val="bg1"/>
                          </a:solidFill>
                        </a:rPr>
                        <a:t>Bhuvanashree</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PES1UG24AM235</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bhuvzzs24@gmail.com</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9591940629</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extLst>
                  <a:ext uri="{0D108BD9-81ED-4DB2-BD59-A6C34878D82A}">
                    <a16:rowId xmlns:a16="http://schemas.microsoft.com/office/drawing/2014/main" val="10003"/>
                  </a:ext>
                </a:extLst>
              </a:tr>
              <a:tr h="1015550">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S Chakshu</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PES1UG24CS390</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chakshusuresh@gmail.com</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7022680465</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extLst>
                  <a:ext uri="{0D108BD9-81ED-4DB2-BD59-A6C34878D82A}">
                    <a16:rowId xmlns:a16="http://schemas.microsoft.com/office/drawing/2014/main" val="10004"/>
                  </a:ext>
                </a:extLst>
              </a:tr>
            </a:tbl>
          </a:graphicData>
        </a:graphic>
      </p:graphicFrame>
      <p:sp>
        <p:nvSpPr>
          <p:cNvPr id="79" name="Google Shape;79;p2"/>
          <p:cNvSpPr txBox="1"/>
          <p:nvPr/>
        </p:nvSpPr>
        <p:spPr>
          <a:xfrm>
            <a:off x="1627632" y="1325880"/>
            <a:ext cx="14630400" cy="1737360"/>
          </a:xfrm>
          <a:prstGeom prst="rect">
            <a:avLst/>
          </a:prstGeom>
          <a:noFill/>
          <a:ln>
            <a:noFill/>
          </a:ln>
        </p:spPr>
        <p:txBody>
          <a:bodyPr spcFirstLastPara="1" wrap="square" lIns="0" tIns="0" rIns="0" bIns="0" anchor="t" anchorCtr="0">
            <a:noAutofit/>
          </a:bodyPr>
          <a:lstStyle/>
          <a:p>
            <a:pPr lvl="0">
              <a:buClr>
                <a:srgbClr val="FDF9E0"/>
              </a:buClr>
              <a:buSzPts val="6200"/>
            </a:pPr>
            <a:r>
              <a:rPr lang="en-US" sz="5200" b="0" i="0" u="none" strike="noStrike" cap="none" dirty="0">
                <a:solidFill>
                  <a:srgbClr val="FDF9E0"/>
                </a:solidFill>
                <a:latin typeface="Arial"/>
                <a:ea typeface="Arial"/>
                <a:cs typeface="Arial"/>
                <a:sym typeface="Arial"/>
              </a:rPr>
              <a:t>Team Name: </a:t>
            </a:r>
            <a:r>
              <a:rPr lang="en-IN" sz="5200" b="1" dirty="0">
                <a:solidFill>
                  <a:schemeClr val="accent6"/>
                </a:solidFill>
              </a:rPr>
              <a:t>Crowd Whisperers</a:t>
            </a:r>
            <a:br>
              <a:rPr lang="en-US" sz="5200" b="0" i="0" u="none" strike="noStrike" cap="none" dirty="0">
                <a:solidFill>
                  <a:srgbClr val="FDF9E0"/>
                </a:solidFill>
                <a:latin typeface="Arial"/>
                <a:ea typeface="Arial"/>
                <a:cs typeface="Arial"/>
                <a:sym typeface="Arial"/>
              </a:rPr>
            </a:br>
            <a:r>
              <a:rPr lang="en-US" sz="5200" b="0" i="0" u="none" strike="noStrike" cap="none" dirty="0">
                <a:solidFill>
                  <a:srgbClr val="FDF9E0"/>
                </a:solidFill>
                <a:latin typeface="Arial"/>
                <a:ea typeface="Arial"/>
                <a:cs typeface="Arial"/>
                <a:sym typeface="Arial"/>
              </a:rPr>
              <a:t>T</a:t>
            </a:r>
            <a:r>
              <a:rPr lang="en-US" sz="5200" dirty="0">
                <a:solidFill>
                  <a:srgbClr val="FDF9E0"/>
                </a:solidFill>
              </a:rPr>
              <a:t>rack Selected: </a:t>
            </a:r>
            <a:r>
              <a:rPr lang="en-US" sz="5200" b="1" dirty="0">
                <a:solidFill>
                  <a:srgbClr val="FF9A1F"/>
                </a:solidFill>
              </a:rPr>
              <a:t>Voodoo Vision</a:t>
            </a:r>
            <a:r>
              <a:rPr lang="en-US" sz="2800" dirty="0">
                <a:solidFill>
                  <a:srgbClr val="C9C4AC"/>
                </a:solidFill>
              </a:rPr>
              <a:t>  (Computer Vision)</a:t>
            </a:r>
            <a:endParaRPr sz="400" dirty="0"/>
          </a:p>
        </p:txBody>
      </p:sp>
      <p:grpSp>
        <p:nvGrpSpPr>
          <p:cNvPr id="80" name="Google Shape;80;p2"/>
          <p:cNvGrpSpPr/>
          <p:nvPr/>
        </p:nvGrpSpPr>
        <p:grpSpPr>
          <a:xfrm>
            <a:off x="3206536" y="-571969"/>
            <a:ext cx="12244263" cy="2143200"/>
            <a:chOff x="-1" y="-324180"/>
            <a:chExt cx="12244263" cy="2143200"/>
          </a:xfrm>
        </p:grpSpPr>
        <p:sp>
          <p:nvSpPr>
            <p:cNvPr id="81" name="Google Shape;81;p2"/>
            <p:cNvSpPr/>
            <p:nvPr/>
          </p:nvSpPr>
          <p:spPr>
            <a:xfrm>
              <a:off x="9620462" y="77665"/>
              <a:ext cx="2623800" cy="1339500"/>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2" name="Google Shape;82;p2"/>
            <p:cNvSpPr/>
            <p:nvPr/>
          </p:nvSpPr>
          <p:spPr>
            <a:xfrm>
              <a:off x="4815760" y="-324181"/>
              <a:ext cx="2243400" cy="2143200"/>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3" name="Google Shape;83;p2"/>
            <p:cNvSpPr/>
            <p:nvPr/>
          </p:nvSpPr>
          <p:spPr>
            <a:xfrm>
              <a:off x="-1" y="280132"/>
              <a:ext cx="1939200" cy="823800"/>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87"/>
        <p:cNvGrpSpPr/>
        <p:nvPr/>
      </p:nvGrpSpPr>
      <p:grpSpPr>
        <a:xfrm>
          <a:off x="0" y="0"/>
          <a:ext cx="0" cy="0"/>
          <a:chOff x="0" y="0"/>
          <a:chExt cx="0" cy="0"/>
        </a:xfrm>
      </p:grpSpPr>
      <p:sp>
        <p:nvSpPr>
          <p:cNvPr id="88" name="Google Shape;88;p3"/>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9" name="Google Shape;89;p3"/>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90" name="Google Shape;90;p3"/>
          <p:cNvGrpSpPr/>
          <p:nvPr/>
        </p:nvGrpSpPr>
        <p:grpSpPr>
          <a:xfrm>
            <a:off x="2368788" y="8390623"/>
            <a:ext cx="13550424" cy="2179108"/>
            <a:chOff x="0" y="-1"/>
            <a:chExt cx="13550423" cy="2179107"/>
          </a:xfrm>
        </p:grpSpPr>
        <p:sp>
          <p:nvSpPr>
            <p:cNvPr id="91" name="Google Shape;91;p3"/>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2" name="Google Shape;92;p3"/>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3" name="Google Shape;93;p3"/>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4" name="Google Shape;94;p3"/>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5" name="Google Shape;95;p3"/>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96" name="Google Shape;96;p3"/>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7" name="Google Shape;97;p3"/>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98" name="Google Shape;98;p3"/>
          <p:cNvGrpSpPr/>
          <p:nvPr/>
        </p:nvGrpSpPr>
        <p:grpSpPr>
          <a:xfrm>
            <a:off x="3021811" y="-636848"/>
            <a:ext cx="12244379" cy="2035156"/>
            <a:chOff x="-1" y="-325559"/>
            <a:chExt cx="12244377" cy="2035154"/>
          </a:xfrm>
        </p:grpSpPr>
        <p:sp>
          <p:nvSpPr>
            <p:cNvPr id="99" name="Google Shape;99;p3"/>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0" name="Google Shape;100;p3"/>
            <p:cNvSpPr/>
            <p:nvPr/>
          </p:nvSpPr>
          <p:spPr>
            <a:xfrm>
              <a:off x="4933058" y="-325559"/>
              <a:ext cx="2243459" cy="2035154"/>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1" name="Google Shape;101;p3"/>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02"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6200"/>
              <a:buFont typeface="Arial"/>
              <a:buNone/>
            </a:pPr>
            <a:r>
              <a:rPr lang="en-US" sz="5600" b="1" i="0" u="none" strike="noStrike" cap="none">
                <a:solidFill>
                  <a:srgbClr val="FDF9E0"/>
                </a:solidFill>
                <a:latin typeface="Arial"/>
                <a:ea typeface="Arial"/>
                <a:cs typeface="Arial"/>
                <a:sym typeface="Arial"/>
              </a:rPr>
              <a:t>Problem Statement</a:t>
            </a:r>
            <a:endParaRPr/>
          </a:p>
        </p:txBody>
      </p:sp>
      <p:sp>
        <p:nvSpPr>
          <p:cNvPr id="103" name="Stat 1"/>
          <p:cNvSpPr/>
          <p:nvPr/>
        </p:nvSpPr>
        <p:spPr>
          <a:xfrm>
            <a:off x="1188720" y="2377440"/>
            <a:ext cx="5120640" cy="19202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TextBox 103"/>
          <p:cNvSpPr txBox="1"/>
          <p:nvPr/>
        </p:nvSpPr>
        <p:spPr>
          <a:xfrm>
            <a:off x="1554480" y="2514600"/>
            <a:ext cx="4389120" cy="777240"/>
          </a:xfrm>
          <a:prstGeom prst="rect">
            <a:avLst/>
          </a:prstGeom>
          <a:noFill/>
        </p:spPr>
        <p:txBody>
          <a:bodyPr wrap="square" lIns="0" tIns="0" rIns="0" bIns="0" anchor="ctr">
            <a:noAutofit/>
          </a:bodyPr>
          <a:lstStyle/>
          <a:p>
            <a:pPr algn="l">
              <a:lnSpc>
                <a:spcPct val="100000"/>
              </a:lnSpc>
              <a:spcBef>
                <a:spcPts val="0"/>
              </a:spcBef>
              <a:spcAft>
                <a:spcPts val="0"/>
              </a:spcAft>
            </a:pPr>
            <a:r>
              <a:rPr sz="5600" b="1" i="0">
                <a:solidFill>
                  <a:srgbClr val="FF9A1F"/>
                </a:solidFill>
                <a:latin typeface="Arial"/>
              </a:rPr>
              <a:t>11</a:t>
            </a:r>
          </a:p>
        </p:txBody>
      </p:sp>
      <p:sp>
        <p:nvSpPr>
          <p:cNvPr id="105" name="TextBox 104"/>
          <p:cNvSpPr txBox="1"/>
          <p:nvPr/>
        </p:nvSpPr>
        <p:spPr>
          <a:xfrm>
            <a:off x="1554480" y="3355848"/>
            <a:ext cx="4389120" cy="804672"/>
          </a:xfrm>
          <a:prstGeom prst="rect">
            <a:avLst/>
          </a:prstGeom>
          <a:noFill/>
        </p:spPr>
        <p:txBody>
          <a:bodyPr wrap="square" lIns="0" tIns="0" rIns="0" bIns="0" anchor="t">
            <a:noAutofit/>
          </a:bodyPr>
          <a:lstStyle/>
          <a:p>
            <a:pPr algn="l">
              <a:lnSpc>
                <a:spcPct val="108000"/>
              </a:lnSpc>
              <a:spcBef>
                <a:spcPts val="0"/>
              </a:spcBef>
              <a:spcAft>
                <a:spcPts val="0"/>
              </a:spcAft>
            </a:pPr>
            <a:r>
              <a:rPr sz="2200" b="0" i="0">
                <a:solidFill>
                  <a:srgbClr val="FDF9E0"/>
                </a:solidFill>
                <a:latin typeface="Arial"/>
              </a:rPr>
              <a:t>deaths in the Chinnaswamy Stadium crush, June 2025</a:t>
            </a:r>
          </a:p>
        </p:txBody>
      </p:sp>
      <p:sp>
        <p:nvSpPr>
          <p:cNvPr id="106" name="Stat 2"/>
          <p:cNvSpPr/>
          <p:nvPr/>
        </p:nvSpPr>
        <p:spPr>
          <a:xfrm>
            <a:off x="6583680" y="2377440"/>
            <a:ext cx="5120640" cy="19202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TextBox 106"/>
          <p:cNvSpPr txBox="1"/>
          <p:nvPr/>
        </p:nvSpPr>
        <p:spPr>
          <a:xfrm>
            <a:off x="6949440" y="2514600"/>
            <a:ext cx="4389120" cy="777240"/>
          </a:xfrm>
          <a:prstGeom prst="rect">
            <a:avLst/>
          </a:prstGeom>
          <a:noFill/>
        </p:spPr>
        <p:txBody>
          <a:bodyPr wrap="square" lIns="0" tIns="0" rIns="0" bIns="0" anchor="ctr">
            <a:noAutofit/>
          </a:bodyPr>
          <a:lstStyle/>
          <a:p>
            <a:pPr algn="l">
              <a:lnSpc>
                <a:spcPct val="100000"/>
              </a:lnSpc>
              <a:spcBef>
                <a:spcPts val="0"/>
              </a:spcBef>
              <a:spcAft>
                <a:spcPts val="0"/>
              </a:spcAft>
            </a:pPr>
            <a:r>
              <a:rPr sz="5600" b="1" i="0">
                <a:solidFill>
                  <a:srgbClr val="FF9A1F"/>
                </a:solidFill>
                <a:latin typeface="Arial"/>
              </a:rPr>
              <a:t>2–3 lakh</a:t>
            </a:r>
          </a:p>
        </p:txBody>
      </p:sp>
      <p:sp>
        <p:nvSpPr>
          <p:cNvPr id="108" name="TextBox 107"/>
          <p:cNvSpPr txBox="1"/>
          <p:nvPr/>
        </p:nvSpPr>
        <p:spPr>
          <a:xfrm>
            <a:off x="6949440" y="3355848"/>
            <a:ext cx="4389120" cy="804672"/>
          </a:xfrm>
          <a:prstGeom prst="rect">
            <a:avLst/>
          </a:prstGeom>
          <a:noFill/>
        </p:spPr>
        <p:txBody>
          <a:bodyPr wrap="square" lIns="0" tIns="0" rIns="0" bIns="0" anchor="t">
            <a:noAutofit/>
          </a:bodyPr>
          <a:lstStyle/>
          <a:p>
            <a:pPr algn="l">
              <a:lnSpc>
                <a:spcPct val="108000"/>
              </a:lnSpc>
              <a:spcBef>
                <a:spcPts val="0"/>
              </a:spcBef>
              <a:spcAft>
                <a:spcPts val="0"/>
              </a:spcAft>
            </a:pPr>
            <a:r>
              <a:rPr sz="2200" b="0" i="0">
                <a:solidFill>
                  <a:srgbClr val="FDF9E0"/>
                </a:solidFill>
                <a:latin typeface="Arial"/>
              </a:rPr>
              <a:t>fans at a stadium built for 35,000, per Karnataka's CM</a:t>
            </a:r>
          </a:p>
        </p:txBody>
      </p:sp>
      <p:sp>
        <p:nvSpPr>
          <p:cNvPr id="109" name="Stat 3"/>
          <p:cNvSpPr/>
          <p:nvPr/>
        </p:nvSpPr>
        <p:spPr>
          <a:xfrm>
            <a:off x="11978640" y="2377440"/>
            <a:ext cx="5120640" cy="19202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TextBox 109"/>
          <p:cNvSpPr txBox="1"/>
          <p:nvPr/>
        </p:nvSpPr>
        <p:spPr>
          <a:xfrm>
            <a:off x="12344400" y="2514600"/>
            <a:ext cx="4389120" cy="777240"/>
          </a:xfrm>
          <a:prstGeom prst="rect">
            <a:avLst/>
          </a:prstGeom>
          <a:noFill/>
        </p:spPr>
        <p:txBody>
          <a:bodyPr wrap="square" lIns="0" tIns="0" rIns="0" bIns="0" anchor="ctr">
            <a:noAutofit/>
          </a:bodyPr>
          <a:lstStyle/>
          <a:p>
            <a:pPr algn="l">
              <a:lnSpc>
                <a:spcPct val="100000"/>
              </a:lnSpc>
              <a:spcBef>
                <a:spcPts val="0"/>
              </a:spcBef>
              <a:spcAft>
                <a:spcPts val="0"/>
              </a:spcAft>
            </a:pPr>
            <a:r>
              <a:rPr sz="5600" b="1" i="0">
                <a:solidFill>
                  <a:srgbClr val="FF9A1F"/>
                </a:solidFill>
                <a:latin typeface="Arial"/>
              </a:rPr>
              <a:t>186</a:t>
            </a:r>
          </a:p>
        </p:txBody>
      </p:sp>
      <p:sp>
        <p:nvSpPr>
          <p:cNvPr id="111" name="TextBox 110"/>
          <p:cNvSpPr txBox="1"/>
          <p:nvPr/>
        </p:nvSpPr>
        <p:spPr>
          <a:xfrm>
            <a:off x="12344400" y="3355848"/>
            <a:ext cx="4389120" cy="804672"/>
          </a:xfrm>
          <a:prstGeom prst="rect">
            <a:avLst/>
          </a:prstGeom>
          <a:noFill/>
        </p:spPr>
        <p:txBody>
          <a:bodyPr wrap="square" lIns="0" tIns="0" rIns="0" bIns="0" anchor="t">
            <a:noAutofit/>
          </a:bodyPr>
          <a:lstStyle/>
          <a:p>
            <a:pPr algn="l">
              <a:lnSpc>
                <a:spcPct val="108000"/>
              </a:lnSpc>
              <a:spcBef>
                <a:spcPts val="0"/>
              </a:spcBef>
              <a:spcAft>
                <a:spcPts val="0"/>
              </a:spcAft>
            </a:pPr>
            <a:r>
              <a:rPr sz="2200" b="0" i="0">
                <a:solidFill>
                  <a:srgbClr val="FDF9E0"/>
                </a:solidFill>
                <a:latin typeface="Arial"/>
              </a:rPr>
              <a:t>deaths in five Indian crowd crushes in just 12 months</a:t>
            </a:r>
          </a:p>
        </p:txBody>
      </p:sp>
      <p:pic>
        <p:nvPicPr>
          <p:cNvPr id="112" name="Photo stadium" descr="strip_stadium.jpg"/>
          <p:cNvPicPr>
            <a:picLocks noChangeAspect="1"/>
          </p:cNvPicPr>
          <p:nvPr/>
        </p:nvPicPr>
        <p:blipFill>
          <a:blip r:embed="rId10"/>
          <a:stretch>
            <a:fillRect/>
          </a:stretch>
        </p:blipFill>
        <p:spPr>
          <a:xfrm>
            <a:off x="1188720" y="4572000"/>
            <a:ext cx="7680960" cy="1668780"/>
          </a:xfrm>
          <a:prstGeom prst="roundRect">
            <a:avLst>
              <a:gd name="adj" fmla="val 6000"/>
            </a:avLst>
          </a:prstGeom>
        </p:spPr>
      </p:pic>
      <p:sp>
        <p:nvSpPr>
          <p:cNvPr id="113" name="Photo credit"/>
          <p:cNvSpPr/>
          <p:nvPr/>
        </p:nvSpPr>
        <p:spPr>
          <a:xfrm>
            <a:off x="1371600" y="5710428"/>
            <a:ext cx="5394960" cy="384048"/>
          </a:xfrm>
          <a:prstGeom prst="roundRect">
            <a:avLst>
              <a:gd name="adj" fmla="val 30000"/>
            </a:avLst>
          </a:prstGeom>
          <a:solidFill>
            <a:srgbClr val="1E1E1E">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Box 113"/>
          <p:cNvSpPr txBox="1"/>
          <p:nvPr/>
        </p:nvSpPr>
        <p:spPr>
          <a:xfrm>
            <a:off x="1536192" y="5710428"/>
            <a:ext cx="5120640" cy="384048"/>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DF9E0"/>
                </a:solidFill>
                <a:latin typeface="Arial"/>
              </a:rPr>
              <a:t>M. Chinnaswamy Stadium, Bengaluru</a:t>
            </a:r>
            <a:r>
              <a:rPr sz="1400" b="0" i="0">
                <a:solidFill>
                  <a:srgbClr val="C9C4AC"/>
                </a:solidFill>
                <a:latin typeface="Arial"/>
              </a:rPr>
              <a:t>  ·  Raghavan2010, CC0</a:t>
            </a:r>
          </a:p>
        </p:txBody>
      </p:sp>
      <p:pic>
        <p:nvPicPr>
          <p:cNvPr id="115" name="Photo Kumbh crowd" descr="strip_kumbh.jpg"/>
          <p:cNvPicPr>
            <a:picLocks noChangeAspect="1"/>
          </p:cNvPicPr>
          <p:nvPr/>
        </p:nvPicPr>
        <p:blipFill>
          <a:blip r:embed="rId11"/>
          <a:stretch>
            <a:fillRect/>
          </a:stretch>
        </p:blipFill>
        <p:spPr>
          <a:xfrm>
            <a:off x="1188720" y="6469380"/>
            <a:ext cx="7680960" cy="1668780"/>
          </a:xfrm>
          <a:prstGeom prst="roundRect">
            <a:avLst>
              <a:gd name="adj" fmla="val 6000"/>
            </a:avLst>
          </a:prstGeom>
        </p:spPr>
      </p:pic>
      <p:sp>
        <p:nvSpPr>
          <p:cNvPr id="116" name="Photo credit"/>
          <p:cNvSpPr/>
          <p:nvPr/>
        </p:nvSpPr>
        <p:spPr>
          <a:xfrm>
            <a:off x="1371600" y="7607808"/>
            <a:ext cx="6400800" cy="384048"/>
          </a:xfrm>
          <a:prstGeom prst="roundRect">
            <a:avLst>
              <a:gd name="adj" fmla="val 30000"/>
            </a:avLst>
          </a:prstGeom>
          <a:solidFill>
            <a:srgbClr val="1E1E1E">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TextBox 116"/>
          <p:cNvSpPr txBox="1"/>
          <p:nvPr/>
        </p:nvSpPr>
        <p:spPr>
          <a:xfrm>
            <a:off x="1536192" y="7607808"/>
            <a:ext cx="6126480" cy="384048"/>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DF9E0"/>
                </a:solidFill>
                <a:latin typeface="Arial"/>
              </a:rPr>
              <a:t>Maha Kumbh crowd, Prayagraj</a:t>
            </a:r>
            <a:r>
              <a:rPr sz="1400" b="0" i="0">
                <a:solidFill>
                  <a:srgbClr val="C9C4AC"/>
                </a:solidFill>
                <a:latin typeface="Arial"/>
              </a:rPr>
              <a:t>  ·  Michael T. Balonek, CC BY-SA 4.0</a:t>
            </a:r>
          </a:p>
        </p:txBody>
      </p:sp>
      <p:sp>
        <p:nvSpPr>
          <p:cNvPr id="118" name="Problem we solve"/>
          <p:cNvSpPr/>
          <p:nvPr/>
        </p:nvSpPr>
        <p:spPr>
          <a:xfrm>
            <a:off x="9144000" y="4572000"/>
            <a:ext cx="7955280" cy="3566160"/>
          </a:xfrm>
          <a:prstGeom prst="roundRect">
            <a:avLst>
              <a:gd name="adj" fmla="val 6000"/>
            </a:avLst>
          </a:prstGeom>
          <a:solidFill>
            <a:srgbClr val="2C2C2C"/>
          </a:solidFill>
          <a:ln w="31750">
            <a:solidFill>
              <a:srgbClr val="FF9A1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Oval 118"/>
          <p:cNvSpPr/>
          <p:nvPr/>
        </p:nvSpPr>
        <p:spPr>
          <a:xfrm>
            <a:off x="9509760" y="4818888"/>
            <a:ext cx="731520" cy="73152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Picture 119" descr="users-dark.png"/>
          <p:cNvPicPr>
            <a:picLocks noChangeAspect="1"/>
          </p:cNvPicPr>
          <p:nvPr/>
        </p:nvPicPr>
        <p:blipFill>
          <a:blip r:embed="rId12"/>
          <a:stretch>
            <a:fillRect/>
          </a:stretch>
        </p:blipFill>
        <p:spPr>
          <a:xfrm>
            <a:off x="9670694" y="4979822"/>
            <a:ext cx="409651" cy="409651"/>
          </a:xfrm>
          <a:prstGeom prst="rect">
            <a:avLst/>
          </a:prstGeom>
        </p:spPr>
      </p:pic>
      <p:sp>
        <p:nvSpPr>
          <p:cNvPr id="121" name="TextBox 120"/>
          <p:cNvSpPr txBox="1"/>
          <p:nvPr/>
        </p:nvSpPr>
        <p:spPr>
          <a:xfrm>
            <a:off x="10424160" y="4818888"/>
            <a:ext cx="6309360" cy="731520"/>
          </a:xfrm>
          <a:prstGeom prst="rect">
            <a:avLst/>
          </a:prstGeom>
          <a:noFill/>
        </p:spPr>
        <p:txBody>
          <a:bodyPr wrap="square" lIns="0" tIns="0" rIns="0" bIns="0" anchor="ctr">
            <a:noAutofit/>
          </a:bodyPr>
          <a:lstStyle/>
          <a:p>
            <a:pPr algn="l">
              <a:lnSpc>
                <a:spcPct val="100000"/>
              </a:lnSpc>
              <a:spcBef>
                <a:spcPts val="0"/>
              </a:spcBef>
              <a:spcAft>
                <a:spcPts val="0"/>
              </a:spcAft>
            </a:pPr>
            <a:r>
              <a:rPr sz="3000" b="1" i="0">
                <a:solidFill>
                  <a:srgbClr val="FF9A1F"/>
                </a:solidFill>
                <a:latin typeface="Arial"/>
              </a:rPr>
              <a:t>The problem we're solving</a:t>
            </a:r>
          </a:p>
        </p:txBody>
      </p:sp>
      <p:sp>
        <p:nvSpPr>
          <p:cNvPr id="122" name="TextBox 121"/>
          <p:cNvSpPr txBox="1"/>
          <p:nvPr/>
        </p:nvSpPr>
        <p:spPr>
          <a:xfrm>
            <a:off x="9509760" y="5715000"/>
            <a:ext cx="7223760" cy="822960"/>
          </a:xfrm>
          <a:prstGeom prst="rect">
            <a:avLst/>
          </a:prstGeom>
          <a:noFill/>
        </p:spPr>
        <p:txBody>
          <a:bodyPr wrap="square" lIns="0" tIns="0" rIns="0" bIns="0" anchor="t">
            <a:noAutofit/>
          </a:bodyPr>
          <a:lstStyle/>
          <a:p>
            <a:pPr algn="l">
              <a:lnSpc>
                <a:spcPct val="108000"/>
              </a:lnSpc>
              <a:spcBef>
                <a:spcPts val="0"/>
              </a:spcBef>
              <a:spcAft>
                <a:spcPts val="0"/>
              </a:spcAft>
            </a:pPr>
            <a:r>
              <a:rPr sz="2500" b="0" i="0">
                <a:solidFill>
                  <a:srgbClr val="FDF9E0"/>
                </a:solidFill>
                <a:latin typeface="Arial"/>
              </a:rPr>
              <a:t>Organisers can't see a crush building, and help reaches the wrong spot too late.</a:t>
            </a:r>
          </a:p>
        </p:txBody>
      </p:sp>
      <p:sp>
        <p:nvSpPr>
          <p:cNvPr id="123" name="TextBox 122"/>
          <p:cNvSpPr txBox="1"/>
          <p:nvPr/>
        </p:nvSpPr>
        <p:spPr>
          <a:xfrm>
            <a:off x="9509760" y="6675120"/>
            <a:ext cx="7223760" cy="1371600"/>
          </a:xfrm>
          <a:prstGeom prst="rect">
            <a:avLst/>
          </a:prstGeom>
          <a:noFill/>
        </p:spPr>
        <p:txBody>
          <a:bodyPr wrap="square" lIns="0" tIns="0" rIns="0" bIns="0" anchor="t">
            <a:noAutofit/>
          </a:bodyPr>
          <a:lstStyle/>
          <a:p>
            <a:pPr marL="347472" indent="-347472" algn="l">
              <a:lnSpc>
                <a:spcPct val="105000"/>
              </a:lnSpc>
              <a:spcBef>
                <a:spcPts val="0"/>
              </a:spcBef>
              <a:spcAft>
                <a:spcPts val="800"/>
              </a:spcAft>
              <a:buClr>
                <a:srgbClr val="FF9A1F"/>
              </a:buClr>
              <a:buSzPct val="100000"/>
              <a:buFont typeface="Arial"/>
              <a:buChar char="•"/>
            </a:pPr>
            <a:r>
              <a:rPr sz="2300" b="0" i="0">
                <a:solidFill>
                  <a:srgbClr val="C9C4AC"/>
                </a:solidFill>
                <a:latin typeface="Arial"/>
              </a:rPr>
              <a:t>No one measures crowd density live</a:t>
            </a:r>
          </a:p>
          <a:p>
            <a:pPr marL="347472" indent="-347472" algn="l">
              <a:lnSpc>
                <a:spcPct val="105000"/>
              </a:lnSpc>
              <a:spcBef>
                <a:spcPts val="0"/>
              </a:spcBef>
              <a:spcAft>
                <a:spcPts val="800"/>
              </a:spcAft>
              <a:buClr>
                <a:srgbClr val="FF9A1F"/>
              </a:buClr>
              <a:buSzPct val="100000"/>
              <a:buFont typeface="Arial"/>
              <a:buChar char="•"/>
            </a:pPr>
            <a:r>
              <a:rPr sz="2300" b="0" i="0">
                <a:solidFill>
                  <a:srgbClr val="C9C4AC"/>
                </a:solidFill>
                <a:latin typeface="Arial"/>
              </a:rPr>
              <a:t>A crush builds in minutes, with no alarm</a:t>
            </a:r>
          </a:p>
          <a:p>
            <a:pPr marL="347472" indent="-347472" algn="l">
              <a:lnSpc>
                <a:spcPct val="105000"/>
              </a:lnSpc>
              <a:spcBef>
                <a:spcPts val="0"/>
              </a:spcBef>
              <a:spcAft>
                <a:spcPts val="0"/>
              </a:spcAft>
              <a:buClr>
                <a:srgbClr val="FF9A1F"/>
              </a:buClr>
              <a:buSzPct val="100000"/>
              <a:buFont typeface="Arial"/>
              <a:buChar char="•"/>
            </a:pPr>
            <a:r>
              <a:rPr sz="2300" b="0" i="0">
                <a:solidFill>
                  <a:srgbClr val="C9C4AC"/>
                </a:solidFill>
                <a:latin typeface="Arial"/>
              </a:rPr>
              <a:t>Help is slow to reach someone who falls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106"/>
        <p:cNvGrpSpPr/>
        <p:nvPr/>
      </p:nvGrpSpPr>
      <p:grpSpPr>
        <a:xfrm>
          <a:off x="0" y="0"/>
          <a:ext cx="0" cy="0"/>
          <a:chOff x="0" y="0"/>
          <a:chExt cx="0" cy="0"/>
        </a:xfrm>
      </p:grpSpPr>
      <p:sp>
        <p:nvSpPr>
          <p:cNvPr id="107" name="Google Shape;107;p4"/>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8" name="Google Shape;108;p4"/>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09" name="Google Shape;109;p4"/>
          <p:cNvGrpSpPr/>
          <p:nvPr/>
        </p:nvGrpSpPr>
        <p:grpSpPr>
          <a:xfrm>
            <a:off x="2368788" y="8390623"/>
            <a:ext cx="13550424" cy="2179108"/>
            <a:chOff x="0" y="-1"/>
            <a:chExt cx="13550423" cy="2179107"/>
          </a:xfrm>
        </p:grpSpPr>
        <p:sp>
          <p:nvSpPr>
            <p:cNvPr id="110" name="Google Shape;110;p4"/>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1" name="Google Shape;111;p4"/>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2" name="Google Shape;112;p4"/>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3" name="Google Shape;113;p4"/>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4" name="Google Shape;114;p4"/>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15" name="Google Shape;115;p4"/>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6" name="Google Shape;116;p4"/>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17" name="Google Shape;117;p4"/>
          <p:cNvGrpSpPr/>
          <p:nvPr/>
        </p:nvGrpSpPr>
        <p:grpSpPr>
          <a:xfrm>
            <a:off x="3021811" y="-661897"/>
            <a:ext cx="12244379" cy="2085254"/>
            <a:chOff x="-1" y="-350608"/>
            <a:chExt cx="12244377" cy="2085253"/>
          </a:xfrm>
        </p:grpSpPr>
        <p:sp>
          <p:nvSpPr>
            <p:cNvPr id="118" name="Google Shape;118;p4"/>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9" name="Google Shape;119;p4"/>
            <p:cNvSpPr/>
            <p:nvPr/>
          </p:nvSpPr>
          <p:spPr>
            <a:xfrm>
              <a:off x="4918979" y="-350608"/>
              <a:ext cx="2243460" cy="2085253"/>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0" name="Google Shape;120;p4"/>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21"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4700"/>
              <a:buFont typeface="Arial"/>
              <a:buNone/>
            </a:pPr>
            <a:r>
              <a:rPr lang="en-US" sz="5600" b="1" i="0" u="none" strike="noStrike" cap="none">
                <a:solidFill>
                  <a:srgbClr val="FDF9E0"/>
                </a:solidFill>
                <a:latin typeface="Arial"/>
                <a:ea typeface="Arial"/>
                <a:cs typeface="Arial"/>
                <a:sym typeface="Arial"/>
              </a:rPr>
              <a:t>Novelty</a:t>
            </a:r>
            <a:endParaRPr/>
          </a:p>
        </p:txBody>
      </p:sp>
      <p:sp>
        <p:nvSpPr>
          <p:cNvPr id="122" name="TextBox 121"/>
          <p:cNvSpPr txBox="1"/>
          <p:nvPr/>
        </p:nvSpPr>
        <p:spPr>
          <a:xfrm>
            <a:off x="1188720" y="2377440"/>
            <a:ext cx="7772400" cy="548640"/>
          </a:xfrm>
          <a:prstGeom prst="rect">
            <a:avLst/>
          </a:prstGeom>
          <a:noFill/>
        </p:spPr>
        <p:txBody>
          <a:bodyPr wrap="square" lIns="0" tIns="0" rIns="0" bIns="0" anchor="ctr">
            <a:noAutofit/>
          </a:bodyPr>
          <a:lstStyle/>
          <a:p>
            <a:pPr algn="l">
              <a:lnSpc>
                <a:spcPct val="100000"/>
              </a:lnSpc>
              <a:spcBef>
                <a:spcPts val="0"/>
              </a:spcBef>
              <a:spcAft>
                <a:spcPts val="0"/>
              </a:spcAft>
            </a:pPr>
            <a:r>
              <a:rPr sz="3000" b="1" i="0">
                <a:solidFill>
                  <a:srgbClr val="FF9A1F"/>
                </a:solidFill>
                <a:latin typeface="Arial"/>
              </a:rPr>
              <a:t>1  How it's different</a:t>
            </a:r>
          </a:p>
        </p:txBody>
      </p:sp>
      <p:sp>
        <p:nvSpPr>
          <p:cNvPr id="123" name="Difference 1"/>
          <p:cNvSpPr/>
          <p:nvPr/>
        </p:nvSpPr>
        <p:spPr>
          <a:xfrm>
            <a:off x="1188720" y="310896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4" name="Picture 123" descr="times-muted.png"/>
          <p:cNvPicPr>
            <a:picLocks noChangeAspect="1"/>
          </p:cNvPicPr>
          <p:nvPr/>
        </p:nvPicPr>
        <p:blipFill>
          <a:blip r:embed="rId10"/>
          <a:stretch>
            <a:fillRect/>
          </a:stretch>
        </p:blipFill>
        <p:spPr>
          <a:xfrm>
            <a:off x="1508760" y="3383280"/>
            <a:ext cx="292608" cy="292608"/>
          </a:xfrm>
          <a:prstGeom prst="rect">
            <a:avLst/>
          </a:prstGeom>
        </p:spPr>
      </p:pic>
      <p:sp>
        <p:nvSpPr>
          <p:cNvPr id="125" name="TextBox 124"/>
          <p:cNvSpPr txBox="1"/>
          <p:nvPr/>
        </p:nvSpPr>
        <p:spPr>
          <a:xfrm>
            <a:off x="2011680" y="3310128"/>
            <a:ext cx="6675120" cy="438912"/>
          </a:xfrm>
          <a:prstGeom prst="rect">
            <a:avLst/>
          </a:prstGeom>
          <a:noFill/>
        </p:spPr>
        <p:txBody>
          <a:bodyPr wrap="square" lIns="0" tIns="0" rIns="0" bIns="0" anchor="ctr">
            <a:noAutofit/>
          </a:bodyPr>
          <a:lstStyle/>
          <a:p>
            <a:pPr algn="l">
              <a:lnSpc>
                <a:spcPct val="100000"/>
              </a:lnSpc>
              <a:spcBef>
                <a:spcPts val="0"/>
              </a:spcBef>
              <a:spcAft>
                <a:spcPts val="0"/>
              </a:spcAft>
            </a:pPr>
            <a:r>
              <a:rPr sz="2200" b="0" i="0">
                <a:solidFill>
                  <a:srgbClr val="C9C4AC"/>
                </a:solidFill>
                <a:latin typeface="Arial"/>
              </a:rPr>
              <a:t>Today: guards watch CCTV and guess crowd size</a:t>
            </a:r>
          </a:p>
        </p:txBody>
      </p:sp>
      <p:pic>
        <p:nvPicPr>
          <p:cNvPr id="126" name="Picture 125" descr="check-orange.png"/>
          <p:cNvPicPr>
            <a:picLocks noChangeAspect="1"/>
          </p:cNvPicPr>
          <p:nvPr/>
        </p:nvPicPr>
        <p:blipFill>
          <a:blip r:embed="rId11"/>
          <a:stretch>
            <a:fillRect/>
          </a:stretch>
        </p:blipFill>
        <p:spPr>
          <a:xfrm>
            <a:off x="1490472" y="3895344"/>
            <a:ext cx="329184" cy="329184"/>
          </a:xfrm>
          <a:prstGeom prst="rect">
            <a:avLst/>
          </a:prstGeom>
        </p:spPr>
      </p:pic>
      <p:sp>
        <p:nvSpPr>
          <p:cNvPr id="127" name="TextBox 126"/>
          <p:cNvSpPr txBox="1"/>
          <p:nvPr/>
        </p:nvSpPr>
        <p:spPr>
          <a:xfrm>
            <a:off x="2011680" y="3803904"/>
            <a:ext cx="6675120" cy="731520"/>
          </a:xfrm>
          <a:prstGeom prst="rect">
            <a:avLst/>
          </a:prstGeom>
          <a:noFill/>
        </p:spPr>
        <p:txBody>
          <a:bodyPr wrap="square" lIns="0" tIns="0" rIns="0" bIns="0" anchor="t">
            <a:noAutofit/>
          </a:bodyPr>
          <a:lstStyle/>
          <a:p>
            <a:pPr algn="l">
              <a:lnSpc>
                <a:spcPct val="105000"/>
              </a:lnSpc>
              <a:spcBef>
                <a:spcPts val="0"/>
              </a:spcBef>
              <a:spcAft>
                <a:spcPts val="0"/>
              </a:spcAft>
            </a:pPr>
            <a:r>
              <a:rPr sz="2500" b="1" i="0">
                <a:solidFill>
                  <a:srgbClr val="FDF9E0"/>
                </a:solidFill>
                <a:latin typeface="Arial"/>
              </a:rPr>
              <a:t>Predicts when a zone will turn critical, minutes ahead</a:t>
            </a:r>
          </a:p>
        </p:txBody>
      </p:sp>
      <p:sp>
        <p:nvSpPr>
          <p:cNvPr id="128" name="Difference 2"/>
          <p:cNvSpPr/>
          <p:nvPr/>
        </p:nvSpPr>
        <p:spPr>
          <a:xfrm>
            <a:off x="1188720" y="480060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9" name="Picture 128" descr="times-muted.png"/>
          <p:cNvPicPr>
            <a:picLocks noChangeAspect="1"/>
          </p:cNvPicPr>
          <p:nvPr/>
        </p:nvPicPr>
        <p:blipFill>
          <a:blip r:embed="rId10"/>
          <a:stretch>
            <a:fillRect/>
          </a:stretch>
        </p:blipFill>
        <p:spPr>
          <a:xfrm>
            <a:off x="1508760" y="5074920"/>
            <a:ext cx="292608" cy="292608"/>
          </a:xfrm>
          <a:prstGeom prst="rect">
            <a:avLst/>
          </a:prstGeom>
        </p:spPr>
      </p:pic>
      <p:sp>
        <p:nvSpPr>
          <p:cNvPr id="130" name="TextBox 129"/>
          <p:cNvSpPr txBox="1"/>
          <p:nvPr/>
        </p:nvSpPr>
        <p:spPr>
          <a:xfrm>
            <a:off x="2011680" y="5001768"/>
            <a:ext cx="6675120" cy="438912"/>
          </a:xfrm>
          <a:prstGeom prst="rect">
            <a:avLst/>
          </a:prstGeom>
          <a:noFill/>
        </p:spPr>
        <p:txBody>
          <a:bodyPr wrap="square" lIns="0" tIns="0" rIns="0" bIns="0" anchor="ctr">
            <a:noAutofit/>
          </a:bodyPr>
          <a:lstStyle/>
          <a:p>
            <a:pPr algn="l">
              <a:lnSpc>
                <a:spcPct val="100000"/>
              </a:lnSpc>
              <a:spcBef>
                <a:spcPts val="0"/>
              </a:spcBef>
              <a:spcAft>
                <a:spcPts val="0"/>
              </a:spcAft>
            </a:pPr>
            <a:r>
              <a:rPr sz="2200" b="0" i="0">
                <a:solidFill>
                  <a:srgbClr val="C9C4AC"/>
                </a:solidFill>
                <a:latin typeface="Arial"/>
              </a:rPr>
              <a:t>Today: people-counters miss heads in packed crowds</a:t>
            </a:r>
          </a:p>
        </p:txBody>
      </p:sp>
      <p:pic>
        <p:nvPicPr>
          <p:cNvPr id="131" name="Picture 130" descr="check-orange.png"/>
          <p:cNvPicPr>
            <a:picLocks noChangeAspect="1"/>
          </p:cNvPicPr>
          <p:nvPr/>
        </p:nvPicPr>
        <p:blipFill>
          <a:blip r:embed="rId11"/>
          <a:stretch>
            <a:fillRect/>
          </a:stretch>
        </p:blipFill>
        <p:spPr>
          <a:xfrm>
            <a:off x="1490472" y="5586984"/>
            <a:ext cx="329184" cy="329184"/>
          </a:xfrm>
          <a:prstGeom prst="rect">
            <a:avLst/>
          </a:prstGeom>
        </p:spPr>
      </p:pic>
      <p:sp>
        <p:nvSpPr>
          <p:cNvPr id="132" name="TextBox 131"/>
          <p:cNvSpPr txBox="1"/>
          <p:nvPr/>
        </p:nvSpPr>
        <p:spPr>
          <a:xfrm>
            <a:off x="2011680" y="5495544"/>
            <a:ext cx="6675120" cy="731520"/>
          </a:xfrm>
          <a:prstGeom prst="rect">
            <a:avLst/>
          </a:prstGeom>
          <a:noFill/>
        </p:spPr>
        <p:txBody>
          <a:bodyPr wrap="square" lIns="0" tIns="0" rIns="0" bIns="0" anchor="t">
            <a:noAutofit/>
          </a:bodyPr>
          <a:lstStyle/>
          <a:p>
            <a:pPr algn="l">
              <a:lnSpc>
                <a:spcPct val="105000"/>
              </a:lnSpc>
              <a:spcBef>
                <a:spcPts val="0"/>
              </a:spcBef>
              <a:spcAft>
                <a:spcPts val="0"/>
              </a:spcAft>
            </a:pPr>
            <a:r>
              <a:rPr sz="2500" b="1" i="0">
                <a:solidFill>
                  <a:srgbClr val="FDF9E0"/>
                </a:solidFill>
                <a:latin typeface="Arial"/>
              </a:rPr>
              <a:t>Switches to a density-map model when the crowd packs in</a:t>
            </a:r>
          </a:p>
        </p:txBody>
      </p:sp>
      <p:sp>
        <p:nvSpPr>
          <p:cNvPr id="133" name="Difference 3"/>
          <p:cNvSpPr/>
          <p:nvPr/>
        </p:nvSpPr>
        <p:spPr>
          <a:xfrm>
            <a:off x="1188720" y="649224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4" name="Picture 133" descr="times-muted.png"/>
          <p:cNvPicPr>
            <a:picLocks noChangeAspect="1"/>
          </p:cNvPicPr>
          <p:nvPr/>
        </p:nvPicPr>
        <p:blipFill>
          <a:blip r:embed="rId10"/>
          <a:stretch>
            <a:fillRect/>
          </a:stretch>
        </p:blipFill>
        <p:spPr>
          <a:xfrm>
            <a:off x="1508760" y="6766560"/>
            <a:ext cx="292608" cy="292608"/>
          </a:xfrm>
          <a:prstGeom prst="rect">
            <a:avLst/>
          </a:prstGeom>
        </p:spPr>
      </p:pic>
      <p:sp>
        <p:nvSpPr>
          <p:cNvPr id="135" name="TextBox 134"/>
          <p:cNvSpPr txBox="1"/>
          <p:nvPr/>
        </p:nvSpPr>
        <p:spPr>
          <a:xfrm>
            <a:off x="2011680" y="6693408"/>
            <a:ext cx="6675120" cy="438912"/>
          </a:xfrm>
          <a:prstGeom prst="rect">
            <a:avLst/>
          </a:prstGeom>
          <a:noFill/>
        </p:spPr>
        <p:txBody>
          <a:bodyPr wrap="square" lIns="0" tIns="0" rIns="0" bIns="0" anchor="ctr">
            <a:noAutofit/>
          </a:bodyPr>
          <a:lstStyle/>
          <a:p>
            <a:pPr algn="l">
              <a:lnSpc>
                <a:spcPct val="100000"/>
              </a:lnSpc>
              <a:spcBef>
                <a:spcPts val="0"/>
              </a:spcBef>
              <a:spcAft>
                <a:spcPts val="0"/>
              </a:spcAft>
            </a:pPr>
            <a:r>
              <a:rPr sz="2200" b="0" i="0">
                <a:solidFill>
                  <a:srgbClr val="C9C4AC"/>
                </a:solidFill>
                <a:latin typeface="Arial"/>
              </a:rPr>
              <a:t>Today: alarms stop at the control room</a:t>
            </a:r>
          </a:p>
        </p:txBody>
      </p:sp>
      <p:pic>
        <p:nvPicPr>
          <p:cNvPr id="136" name="Picture 135" descr="check-orange.png"/>
          <p:cNvPicPr>
            <a:picLocks noChangeAspect="1"/>
          </p:cNvPicPr>
          <p:nvPr/>
        </p:nvPicPr>
        <p:blipFill>
          <a:blip r:embed="rId11"/>
          <a:stretch>
            <a:fillRect/>
          </a:stretch>
        </p:blipFill>
        <p:spPr>
          <a:xfrm>
            <a:off x="1490472" y="7278624"/>
            <a:ext cx="329184" cy="329184"/>
          </a:xfrm>
          <a:prstGeom prst="rect">
            <a:avLst/>
          </a:prstGeom>
        </p:spPr>
      </p:pic>
      <p:sp>
        <p:nvSpPr>
          <p:cNvPr id="137" name="TextBox 136"/>
          <p:cNvSpPr txBox="1"/>
          <p:nvPr/>
        </p:nvSpPr>
        <p:spPr>
          <a:xfrm>
            <a:off x="2011680" y="7187184"/>
            <a:ext cx="6675120" cy="731520"/>
          </a:xfrm>
          <a:prstGeom prst="rect">
            <a:avLst/>
          </a:prstGeom>
          <a:noFill/>
        </p:spPr>
        <p:txBody>
          <a:bodyPr wrap="square" lIns="0" tIns="0" rIns="0" bIns="0" anchor="t">
            <a:noAutofit/>
          </a:bodyPr>
          <a:lstStyle/>
          <a:p>
            <a:pPr algn="l">
              <a:lnSpc>
                <a:spcPct val="105000"/>
              </a:lnSpc>
              <a:spcBef>
                <a:spcPts val="0"/>
              </a:spcBef>
              <a:spcAft>
                <a:spcPts val="0"/>
              </a:spcAft>
            </a:pPr>
            <a:r>
              <a:rPr sz="2500" b="1" i="0">
                <a:solidFill>
                  <a:srgbClr val="FDF9E0"/>
                </a:solidFill>
                <a:latin typeface="Arial"/>
              </a:rPr>
              <a:t>Sends the nearest help station, with location and photo</a:t>
            </a:r>
          </a:p>
        </p:txBody>
      </p:sp>
      <p:sp>
        <p:nvSpPr>
          <p:cNvPr id="138" name="TextBox 137"/>
          <p:cNvSpPr txBox="1"/>
          <p:nvPr/>
        </p:nvSpPr>
        <p:spPr>
          <a:xfrm>
            <a:off x="9326880" y="2377440"/>
            <a:ext cx="7772400" cy="548640"/>
          </a:xfrm>
          <a:prstGeom prst="rect">
            <a:avLst/>
          </a:prstGeom>
          <a:noFill/>
        </p:spPr>
        <p:txBody>
          <a:bodyPr wrap="square" lIns="0" tIns="0" rIns="0" bIns="0" anchor="ctr">
            <a:noAutofit/>
          </a:bodyPr>
          <a:lstStyle/>
          <a:p>
            <a:pPr algn="l">
              <a:lnSpc>
                <a:spcPct val="100000"/>
              </a:lnSpc>
              <a:spcBef>
                <a:spcPts val="0"/>
              </a:spcBef>
              <a:spcAft>
                <a:spcPts val="0"/>
              </a:spcAft>
            </a:pPr>
            <a:r>
              <a:rPr sz="3000" b="1" i="0">
                <a:solidFill>
                  <a:srgbClr val="FF9A1F"/>
                </a:solidFill>
                <a:latin typeface="Arial"/>
              </a:rPr>
              <a:t>2  How it solves the problem</a:t>
            </a:r>
          </a:p>
        </p:txBody>
      </p:sp>
      <p:sp>
        <p:nvSpPr>
          <p:cNvPr id="139" name="Solves 1"/>
          <p:cNvSpPr/>
          <p:nvPr/>
        </p:nvSpPr>
        <p:spPr>
          <a:xfrm>
            <a:off x="9326880" y="310896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Oval 139"/>
          <p:cNvSpPr/>
          <p:nvPr/>
        </p:nvSpPr>
        <p:spPr>
          <a:xfrm>
            <a:off x="9646920" y="342900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1" name="Picture 140" descr="clock-dark.png"/>
          <p:cNvPicPr>
            <a:picLocks noChangeAspect="1"/>
          </p:cNvPicPr>
          <p:nvPr/>
        </p:nvPicPr>
        <p:blipFill>
          <a:blip r:embed="rId12"/>
          <a:stretch>
            <a:fillRect/>
          </a:stretch>
        </p:blipFill>
        <p:spPr>
          <a:xfrm>
            <a:off x="9838030" y="3620110"/>
            <a:ext cx="486461" cy="486461"/>
          </a:xfrm>
          <a:prstGeom prst="rect">
            <a:avLst/>
          </a:prstGeom>
        </p:spPr>
      </p:pic>
      <p:sp>
        <p:nvSpPr>
          <p:cNvPr id="142" name="TextBox 141"/>
          <p:cNvSpPr txBox="1"/>
          <p:nvPr/>
        </p:nvSpPr>
        <p:spPr>
          <a:xfrm>
            <a:off x="10789920" y="3291840"/>
            <a:ext cx="6035040" cy="457200"/>
          </a:xfrm>
          <a:prstGeom prst="rect">
            <a:avLst/>
          </a:prstGeom>
          <a:noFill/>
        </p:spPr>
        <p:txBody>
          <a:bodyPr wrap="square" lIns="0" tIns="0" rIns="0" bIns="0" anchor="ctr">
            <a:noAutofit/>
          </a:bodyPr>
          <a:lstStyle/>
          <a:p>
            <a:pPr algn="l">
              <a:lnSpc>
                <a:spcPct val="100000"/>
              </a:lnSpc>
              <a:spcBef>
                <a:spcPts val="0"/>
              </a:spcBef>
              <a:spcAft>
                <a:spcPts val="0"/>
              </a:spcAft>
            </a:pPr>
            <a:r>
              <a:rPr sz="2700" b="1" i="0">
                <a:solidFill>
                  <a:srgbClr val="FDF9E0"/>
                </a:solidFill>
                <a:latin typeface="Arial"/>
              </a:rPr>
              <a:t>Warns early</a:t>
            </a:r>
          </a:p>
        </p:txBody>
      </p:sp>
      <p:sp>
        <p:nvSpPr>
          <p:cNvPr id="143" name="TextBox 142"/>
          <p:cNvSpPr txBox="1"/>
          <p:nvPr/>
        </p:nvSpPr>
        <p:spPr>
          <a:xfrm>
            <a:off x="10789920" y="3785616"/>
            <a:ext cx="6035040" cy="731520"/>
          </a:xfrm>
          <a:prstGeom prst="rect">
            <a:avLst/>
          </a:prstGeom>
          <a:noFill/>
        </p:spPr>
        <p:txBody>
          <a:bodyPr wrap="square" lIns="0" tIns="0" rIns="0" bIns="0" anchor="t">
            <a:noAutofit/>
          </a:bodyPr>
          <a:lstStyle/>
          <a:p>
            <a:pPr algn="l">
              <a:lnSpc>
                <a:spcPct val="105000"/>
              </a:lnSpc>
              <a:spcBef>
                <a:spcPts val="0"/>
              </a:spcBef>
              <a:spcAft>
                <a:spcPts val="0"/>
              </a:spcAft>
            </a:pPr>
            <a:r>
              <a:rPr sz="2300" b="0" i="0">
                <a:solidFill>
                  <a:srgbClr val="C9C4AC"/>
                </a:solidFill>
                <a:latin typeface="Arial"/>
              </a:rPr>
              <a:t>"Gate 3 critical in 6 min", from live gate inflow</a:t>
            </a:r>
          </a:p>
        </p:txBody>
      </p:sp>
      <p:sp>
        <p:nvSpPr>
          <p:cNvPr id="144" name="Solves 2"/>
          <p:cNvSpPr/>
          <p:nvPr/>
        </p:nvSpPr>
        <p:spPr>
          <a:xfrm>
            <a:off x="9326880" y="480060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Oval 144"/>
          <p:cNvSpPr/>
          <p:nvPr/>
        </p:nvSpPr>
        <p:spPr>
          <a:xfrm>
            <a:off x="9646920" y="512064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6" name="Picture 145" descr="ambulance-dark.png"/>
          <p:cNvPicPr>
            <a:picLocks noChangeAspect="1"/>
          </p:cNvPicPr>
          <p:nvPr/>
        </p:nvPicPr>
        <p:blipFill>
          <a:blip r:embed="rId13"/>
          <a:stretch>
            <a:fillRect/>
          </a:stretch>
        </p:blipFill>
        <p:spPr>
          <a:xfrm>
            <a:off x="9838030" y="5311750"/>
            <a:ext cx="486461" cy="486461"/>
          </a:xfrm>
          <a:prstGeom prst="rect">
            <a:avLst/>
          </a:prstGeom>
        </p:spPr>
      </p:pic>
      <p:sp>
        <p:nvSpPr>
          <p:cNvPr id="147" name="TextBox 146"/>
          <p:cNvSpPr txBox="1"/>
          <p:nvPr/>
        </p:nvSpPr>
        <p:spPr>
          <a:xfrm>
            <a:off x="10789920" y="4983480"/>
            <a:ext cx="6035040" cy="457200"/>
          </a:xfrm>
          <a:prstGeom prst="rect">
            <a:avLst/>
          </a:prstGeom>
          <a:noFill/>
        </p:spPr>
        <p:txBody>
          <a:bodyPr wrap="square" lIns="0" tIns="0" rIns="0" bIns="0" anchor="ctr">
            <a:noAutofit/>
          </a:bodyPr>
          <a:lstStyle/>
          <a:p>
            <a:pPr algn="l">
              <a:lnSpc>
                <a:spcPct val="100000"/>
              </a:lnSpc>
              <a:spcBef>
                <a:spcPts val="0"/>
              </a:spcBef>
              <a:spcAft>
                <a:spcPts val="0"/>
              </a:spcAft>
            </a:pPr>
            <a:r>
              <a:rPr sz="2700" b="1" i="0">
                <a:solidFill>
                  <a:srgbClr val="FDF9E0"/>
                </a:solidFill>
                <a:latin typeface="Arial"/>
              </a:rPr>
              <a:t>Sends help fast</a:t>
            </a:r>
          </a:p>
        </p:txBody>
      </p:sp>
      <p:sp>
        <p:nvSpPr>
          <p:cNvPr id="148" name="TextBox 147"/>
          <p:cNvSpPr txBox="1"/>
          <p:nvPr/>
        </p:nvSpPr>
        <p:spPr>
          <a:xfrm>
            <a:off x="10789920" y="5477256"/>
            <a:ext cx="6035040" cy="731520"/>
          </a:xfrm>
          <a:prstGeom prst="rect">
            <a:avLst/>
          </a:prstGeom>
          <a:noFill/>
        </p:spPr>
        <p:txBody>
          <a:bodyPr wrap="square" lIns="0" tIns="0" rIns="0" bIns="0" anchor="t">
            <a:noAutofit/>
          </a:bodyPr>
          <a:lstStyle/>
          <a:p>
            <a:pPr algn="l">
              <a:lnSpc>
                <a:spcPct val="105000"/>
              </a:lnSpc>
              <a:spcBef>
                <a:spcPts val="0"/>
              </a:spcBef>
              <a:spcAft>
                <a:spcPts val="0"/>
              </a:spcAft>
            </a:pPr>
            <a:r>
              <a:rPr sz="2300" b="0" i="0">
                <a:solidFill>
                  <a:srgbClr val="C9C4AC"/>
                </a:solidFill>
                <a:latin typeface="Arial"/>
              </a:rPr>
              <a:t>Nearest medical or police post gets the alert; escalates if no reply</a:t>
            </a:r>
          </a:p>
        </p:txBody>
      </p:sp>
      <p:sp>
        <p:nvSpPr>
          <p:cNvPr id="149" name="Solves 3"/>
          <p:cNvSpPr/>
          <p:nvPr/>
        </p:nvSpPr>
        <p:spPr>
          <a:xfrm>
            <a:off x="9326880" y="649224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Oval 149"/>
          <p:cNvSpPr/>
          <p:nvPr/>
        </p:nvSpPr>
        <p:spPr>
          <a:xfrm>
            <a:off x="9646920" y="68122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1" name="Picture 150" descr="directions-dark.png"/>
          <p:cNvPicPr>
            <a:picLocks noChangeAspect="1"/>
          </p:cNvPicPr>
          <p:nvPr/>
        </p:nvPicPr>
        <p:blipFill>
          <a:blip r:embed="rId14"/>
          <a:stretch>
            <a:fillRect/>
          </a:stretch>
        </p:blipFill>
        <p:spPr>
          <a:xfrm>
            <a:off x="9838030" y="7003390"/>
            <a:ext cx="486461" cy="486461"/>
          </a:xfrm>
          <a:prstGeom prst="rect">
            <a:avLst/>
          </a:prstGeom>
        </p:spPr>
      </p:pic>
      <p:sp>
        <p:nvSpPr>
          <p:cNvPr id="152" name="TextBox 151"/>
          <p:cNvSpPr txBox="1"/>
          <p:nvPr/>
        </p:nvSpPr>
        <p:spPr>
          <a:xfrm>
            <a:off x="10789920" y="6675120"/>
            <a:ext cx="6035040" cy="457200"/>
          </a:xfrm>
          <a:prstGeom prst="rect">
            <a:avLst/>
          </a:prstGeom>
          <a:noFill/>
        </p:spPr>
        <p:txBody>
          <a:bodyPr wrap="square" lIns="0" tIns="0" rIns="0" bIns="0" anchor="ctr">
            <a:noAutofit/>
          </a:bodyPr>
          <a:lstStyle/>
          <a:p>
            <a:pPr algn="l">
              <a:lnSpc>
                <a:spcPct val="100000"/>
              </a:lnSpc>
              <a:spcBef>
                <a:spcPts val="0"/>
              </a:spcBef>
              <a:spcAft>
                <a:spcPts val="0"/>
              </a:spcAft>
            </a:pPr>
            <a:r>
              <a:rPr sz="2700" b="1" i="0">
                <a:solidFill>
                  <a:srgbClr val="FDF9E0"/>
                </a:solidFill>
                <a:latin typeface="Arial"/>
              </a:rPr>
              <a:t>Moves the crowd</a:t>
            </a:r>
          </a:p>
        </p:txBody>
      </p:sp>
      <p:sp>
        <p:nvSpPr>
          <p:cNvPr id="153" name="TextBox 152"/>
          <p:cNvSpPr txBox="1"/>
          <p:nvPr/>
        </p:nvSpPr>
        <p:spPr>
          <a:xfrm>
            <a:off x="10789920" y="7168896"/>
            <a:ext cx="6035040" cy="731520"/>
          </a:xfrm>
          <a:prstGeom prst="rect">
            <a:avLst/>
          </a:prstGeom>
          <a:noFill/>
        </p:spPr>
        <p:txBody>
          <a:bodyPr wrap="square" lIns="0" tIns="0" rIns="0" bIns="0" anchor="t">
            <a:noAutofit/>
          </a:bodyPr>
          <a:lstStyle/>
          <a:p>
            <a:pPr algn="l">
              <a:lnSpc>
                <a:spcPct val="105000"/>
              </a:lnSpc>
              <a:spcBef>
                <a:spcPts val="0"/>
              </a:spcBef>
              <a:spcAft>
                <a:spcPts val="0"/>
              </a:spcAft>
            </a:pPr>
            <a:r>
              <a:rPr sz="2300" b="0" i="0">
                <a:solidFill>
                  <a:srgbClr val="C9C4AC"/>
                </a:solidFill>
                <a:latin typeface="Arial"/>
              </a:rPr>
              <a:t>Suggests which gate to open; PA speaks in Kannada, Hindi, English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125"/>
        <p:cNvGrpSpPr/>
        <p:nvPr/>
      </p:nvGrpSpPr>
      <p:grpSpPr>
        <a:xfrm>
          <a:off x="0" y="0"/>
          <a:ext cx="0" cy="0"/>
          <a:chOff x="0" y="0"/>
          <a:chExt cx="0" cy="0"/>
        </a:xfrm>
      </p:grpSpPr>
      <p:sp>
        <p:nvSpPr>
          <p:cNvPr id="126" name="Google Shape;126;p5"/>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7" name="Google Shape;127;p5"/>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28" name="Google Shape;128;p5"/>
          <p:cNvGrpSpPr/>
          <p:nvPr/>
        </p:nvGrpSpPr>
        <p:grpSpPr>
          <a:xfrm>
            <a:off x="2368788" y="8390623"/>
            <a:ext cx="13550424" cy="2179108"/>
            <a:chOff x="0" y="-1"/>
            <a:chExt cx="13550423" cy="2179107"/>
          </a:xfrm>
        </p:grpSpPr>
        <p:sp>
          <p:nvSpPr>
            <p:cNvPr id="129" name="Google Shape;129;p5"/>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0" name="Google Shape;130;p5"/>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1" name="Google Shape;131;p5"/>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2" name="Google Shape;132;p5"/>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3" name="Google Shape;133;p5"/>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34" name="Google Shape;134;p5"/>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5" name="Google Shape;135;p5"/>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36" name="Google Shape;136;p5"/>
          <p:cNvGrpSpPr/>
          <p:nvPr/>
        </p:nvGrpSpPr>
        <p:grpSpPr>
          <a:xfrm>
            <a:off x="3166954" y="-775893"/>
            <a:ext cx="12244378" cy="2262447"/>
            <a:chOff x="-1" y="-439204"/>
            <a:chExt cx="12244377" cy="2262445"/>
          </a:xfrm>
        </p:grpSpPr>
        <p:sp>
          <p:nvSpPr>
            <p:cNvPr id="137" name="Google Shape;137;p5"/>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8" name="Google Shape;138;p5"/>
            <p:cNvSpPr/>
            <p:nvPr/>
          </p:nvSpPr>
          <p:spPr>
            <a:xfrm>
              <a:off x="4834508" y="-439204"/>
              <a:ext cx="2243460" cy="2262445"/>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9" name="Google Shape;139;p5"/>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40"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6200"/>
              <a:buFont typeface="Arial"/>
              <a:buNone/>
            </a:pPr>
            <a:r>
              <a:rPr lang="en-US" sz="5600" b="1" i="0" u="none" strike="noStrike" cap="none">
                <a:solidFill>
                  <a:srgbClr val="FDF9E0"/>
                </a:solidFill>
                <a:latin typeface="Arial"/>
                <a:ea typeface="Arial"/>
                <a:cs typeface="Arial"/>
                <a:sym typeface="Arial"/>
              </a:rPr>
              <a:t>Brief About the Idea</a:t>
            </a:r>
            <a:endParaRPr/>
          </a:p>
        </p:txBody>
      </p:sp>
      <p:sp>
        <p:nvSpPr>
          <p:cNvPr id="141" name="Pitch line"/>
          <p:cNvSpPr/>
          <p:nvPr/>
        </p:nvSpPr>
        <p:spPr>
          <a:xfrm>
            <a:off x="1188720" y="2377440"/>
            <a:ext cx="15910560" cy="1325880"/>
          </a:xfrm>
          <a:prstGeom prst="roundRect">
            <a:avLst>
              <a:gd name="adj" fmla="val 6000"/>
            </a:avLst>
          </a:prstGeom>
          <a:solidFill>
            <a:srgbClr val="2C2C2C"/>
          </a:solidFill>
          <a:ln w="31750">
            <a:solidFill>
              <a:srgbClr val="FF9A1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Oval 141"/>
          <p:cNvSpPr/>
          <p:nvPr/>
        </p:nvSpPr>
        <p:spPr>
          <a:xfrm>
            <a:off x="155448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3" name="Picture 142" descr="ghost-dark.png"/>
          <p:cNvPicPr>
            <a:picLocks noChangeAspect="1"/>
          </p:cNvPicPr>
          <p:nvPr/>
        </p:nvPicPr>
        <p:blipFill>
          <a:blip r:embed="rId10"/>
          <a:stretch>
            <a:fillRect/>
          </a:stretch>
        </p:blipFill>
        <p:spPr>
          <a:xfrm>
            <a:off x="1725473" y="2822753"/>
            <a:ext cx="435254" cy="435254"/>
          </a:xfrm>
          <a:prstGeom prst="rect">
            <a:avLst/>
          </a:prstGeom>
        </p:spPr>
      </p:pic>
      <p:sp>
        <p:nvSpPr>
          <p:cNvPr id="144" name="TextBox 143"/>
          <p:cNvSpPr txBox="1"/>
          <p:nvPr/>
        </p:nvSpPr>
        <p:spPr>
          <a:xfrm>
            <a:off x="2651760" y="2514600"/>
            <a:ext cx="14081760" cy="1051560"/>
          </a:xfrm>
          <a:prstGeom prst="rect">
            <a:avLst/>
          </a:prstGeom>
          <a:noFill/>
        </p:spPr>
        <p:txBody>
          <a:bodyPr wrap="square" lIns="0" tIns="0" rIns="0" bIns="0" anchor="ctr">
            <a:noAutofit/>
          </a:bodyPr>
          <a:lstStyle/>
          <a:p>
            <a:pPr algn="l">
              <a:lnSpc>
                <a:spcPct val="105000"/>
              </a:lnSpc>
              <a:spcBef>
                <a:spcPts val="0"/>
              </a:spcBef>
              <a:spcAft>
                <a:spcPts val="0"/>
              </a:spcAft>
            </a:pPr>
            <a:r>
              <a:rPr sz="3000" b="1" i="0">
                <a:solidFill>
                  <a:srgbClr val="FF9A1F"/>
                </a:solidFill>
                <a:latin typeface="Arial"/>
              </a:rPr>
              <a:t>Poltergeist</a:t>
            </a:r>
            <a:r>
              <a:rPr sz="3000" b="0" i="0">
                <a:solidFill>
                  <a:srgbClr val="FDF9E0"/>
                </a:solidFill>
                <a:latin typeface="Arial"/>
              </a:rPr>
              <a:t> predicts crowd crushes, spots incidents and sends the nearest help, using cameras a venue already has.</a:t>
            </a:r>
          </a:p>
        </p:txBody>
      </p:sp>
      <p:sp>
        <p:nvSpPr>
          <p:cNvPr id="145" name="Feature Predict"/>
          <p:cNvSpPr/>
          <p:nvPr/>
        </p:nvSpPr>
        <p:spPr>
          <a:xfrm>
            <a:off x="118872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Oval 145"/>
          <p:cNvSpPr/>
          <p:nvPr/>
        </p:nvSpPr>
        <p:spPr>
          <a:xfrm>
            <a:off x="150876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7" name="Picture 146" descr="chart-dark.png"/>
          <p:cNvPicPr>
            <a:picLocks noChangeAspect="1"/>
          </p:cNvPicPr>
          <p:nvPr/>
        </p:nvPicPr>
        <p:blipFill>
          <a:blip r:embed="rId11"/>
          <a:stretch>
            <a:fillRect/>
          </a:stretch>
        </p:blipFill>
        <p:spPr>
          <a:xfrm>
            <a:off x="1699870" y="4488790"/>
            <a:ext cx="486461" cy="486461"/>
          </a:xfrm>
          <a:prstGeom prst="rect">
            <a:avLst/>
          </a:prstGeom>
        </p:spPr>
      </p:pic>
      <p:sp>
        <p:nvSpPr>
          <p:cNvPr id="148" name="TextBox 147"/>
          <p:cNvSpPr txBox="1"/>
          <p:nvPr/>
        </p:nvSpPr>
        <p:spPr>
          <a:xfrm>
            <a:off x="2560320" y="4297680"/>
            <a:ext cx="2217420" cy="868680"/>
          </a:xfrm>
          <a:prstGeom prst="rect">
            <a:avLst/>
          </a:prstGeom>
          <a:noFill/>
        </p:spPr>
        <p:txBody>
          <a:bodyPr wrap="square" lIns="0" tIns="0" rIns="0" bIns="0" anchor="ctr">
            <a:noAutofit/>
          </a:bodyPr>
          <a:lstStyle/>
          <a:p>
            <a:pPr algn="l">
              <a:lnSpc>
                <a:spcPct val="100000"/>
              </a:lnSpc>
              <a:spcBef>
                <a:spcPts val="0"/>
              </a:spcBef>
              <a:spcAft>
                <a:spcPts val="0"/>
              </a:spcAft>
            </a:pPr>
            <a:r>
              <a:rPr sz="3200" b="1" i="0">
                <a:solidFill>
                  <a:srgbClr val="FDF9E0"/>
                </a:solidFill>
                <a:latin typeface="Arial"/>
              </a:rPr>
              <a:t>Predict</a:t>
            </a:r>
          </a:p>
        </p:txBody>
      </p:sp>
      <p:sp>
        <p:nvSpPr>
          <p:cNvPr id="149" name="TextBox 148"/>
          <p:cNvSpPr txBox="1"/>
          <p:nvPr/>
        </p:nvSpPr>
        <p:spPr>
          <a:xfrm>
            <a:off x="1508760" y="5349240"/>
            <a:ext cx="3131820" cy="1325880"/>
          </a:xfrm>
          <a:prstGeom prst="rect">
            <a:avLst/>
          </a:prstGeom>
          <a:noFill/>
        </p:spPr>
        <p:txBody>
          <a:bodyPr wrap="square" lIns="0" tIns="0" rIns="0" bIns="0" anchor="t">
            <a:noAutofit/>
          </a:bodyPr>
          <a:lstStyle/>
          <a:p>
            <a:pPr algn="l">
              <a:lnSpc>
                <a:spcPct val="110000"/>
              </a:lnSpc>
              <a:spcBef>
                <a:spcPts val="0"/>
              </a:spcBef>
              <a:spcAft>
                <a:spcPts val="0"/>
              </a:spcAft>
            </a:pPr>
            <a:r>
              <a:rPr sz="2400" b="0" i="0">
                <a:solidFill>
                  <a:srgbClr val="C9C4AC"/>
                </a:solidFill>
                <a:latin typeface="Arial"/>
              </a:rPr>
              <a:t>Live heatmap + gate inflow: "critical in 6 min"</a:t>
            </a:r>
          </a:p>
        </p:txBody>
      </p:sp>
      <p:sp>
        <p:nvSpPr>
          <p:cNvPr id="150" name="Feature Detect"/>
          <p:cNvSpPr/>
          <p:nvPr/>
        </p:nvSpPr>
        <p:spPr>
          <a:xfrm>
            <a:off x="523494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Oval 150"/>
          <p:cNvSpPr/>
          <p:nvPr/>
        </p:nvSpPr>
        <p:spPr>
          <a:xfrm>
            <a:off x="555498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2" name="Picture 151" descr="alert-dark.png"/>
          <p:cNvPicPr>
            <a:picLocks noChangeAspect="1"/>
          </p:cNvPicPr>
          <p:nvPr/>
        </p:nvPicPr>
        <p:blipFill>
          <a:blip r:embed="rId12"/>
          <a:stretch>
            <a:fillRect/>
          </a:stretch>
        </p:blipFill>
        <p:spPr>
          <a:xfrm>
            <a:off x="5746090" y="4488790"/>
            <a:ext cx="486461" cy="486461"/>
          </a:xfrm>
          <a:prstGeom prst="rect">
            <a:avLst/>
          </a:prstGeom>
        </p:spPr>
      </p:pic>
      <p:sp>
        <p:nvSpPr>
          <p:cNvPr id="153" name="TextBox 152"/>
          <p:cNvSpPr txBox="1"/>
          <p:nvPr/>
        </p:nvSpPr>
        <p:spPr>
          <a:xfrm>
            <a:off x="6606540" y="4297680"/>
            <a:ext cx="2217420" cy="868680"/>
          </a:xfrm>
          <a:prstGeom prst="rect">
            <a:avLst/>
          </a:prstGeom>
          <a:noFill/>
        </p:spPr>
        <p:txBody>
          <a:bodyPr wrap="square" lIns="0" tIns="0" rIns="0" bIns="0" anchor="ctr">
            <a:noAutofit/>
          </a:bodyPr>
          <a:lstStyle/>
          <a:p>
            <a:pPr algn="l">
              <a:lnSpc>
                <a:spcPct val="100000"/>
              </a:lnSpc>
              <a:spcBef>
                <a:spcPts val="0"/>
              </a:spcBef>
              <a:spcAft>
                <a:spcPts val="0"/>
              </a:spcAft>
            </a:pPr>
            <a:r>
              <a:rPr sz="3200" b="1" i="0">
                <a:solidFill>
                  <a:srgbClr val="FDF9E0"/>
                </a:solidFill>
                <a:latin typeface="Arial"/>
              </a:rPr>
              <a:t>Detect</a:t>
            </a:r>
          </a:p>
        </p:txBody>
      </p:sp>
      <p:sp>
        <p:nvSpPr>
          <p:cNvPr id="154" name="TextBox 153"/>
          <p:cNvSpPr txBox="1"/>
          <p:nvPr/>
        </p:nvSpPr>
        <p:spPr>
          <a:xfrm>
            <a:off x="5554980" y="5349240"/>
            <a:ext cx="3131820" cy="1325880"/>
          </a:xfrm>
          <a:prstGeom prst="rect">
            <a:avLst/>
          </a:prstGeom>
          <a:noFill/>
        </p:spPr>
        <p:txBody>
          <a:bodyPr wrap="square" lIns="0" tIns="0" rIns="0" bIns="0" anchor="t">
            <a:noAutofit/>
          </a:bodyPr>
          <a:lstStyle/>
          <a:p>
            <a:pPr algn="l">
              <a:lnSpc>
                <a:spcPct val="110000"/>
              </a:lnSpc>
              <a:spcBef>
                <a:spcPts val="0"/>
              </a:spcBef>
              <a:spcAft>
                <a:spcPts val="0"/>
              </a:spcAft>
            </a:pPr>
            <a:r>
              <a:rPr sz="2400" b="0" i="0">
                <a:solidFill>
                  <a:srgbClr val="C9C4AC"/>
                </a:solidFill>
                <a:latin typeface="Arial"/>
              </a:rPr>
              <a:t>Crush risk, a person down, or a panicked scatter</a:t>
            </a:r>
          </a:p>
        </p:txBody>
      </p:sp>
      <p:sp>
        <p:nvSpPr>
          <p:cNvPr id="155" name="Feature Dispatch"/>
          <p:cNvSpPr/>
          <p:nvPr/>
        </p:nvSpPr>
        <p:spPr>
          <a:xfrm>
            <a:off x="928116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Oval 155"/>
          <p:cNvSpPr/>
          <p:nvPr/>
        </p:nvSpPr>
        <p:spPr>
          <a:xfrm>
            <a:off x="960120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7" name="Picture 156" descr="ambulance-dark.png"/>
          <p:cNvPicPr>
            <a:picLocks noChangeAspect="1"/>
          </p:cNvPicPr>
          <p:nvPr/>
        </p:nvPicPr>
        <p:blipFill>
          <a:blip r:embed="rId13"/>
          <a:stretch>
            <a:fillRect/>
          </a:stretch>
        </p:blipFill>
        <p:spPr>
          <a:xfrm>
            <a:off x="9792310" y="4488790"/>
            <a:ext cx="486461" cy="486461"/>
          </a:xfrm>
          <a:prstGeom prst="rect">
            <a:avLst/>
          </a:prstGeom>
        </p:spPr>
      </p:pic>
      <p:sp>
        <p:nvSpPr>
          <p:cNvPr id="158" name="TextBox 157"/>
          <p:cNvSpPr txBox="1"/>
          <p:nvPr/>
        </p:nvSpPr>
        <p:spPr>
          <a:xfrm>
            <a:off x="10652760" y="4297680"/>
            <a:ext cx="2217420" cy="868680"/>
          </a:xfrm>
          <a:prstGeom prst="rect">
            <a:avLst/>
          </a:prstGeom>
          <a:noFill/>
        </p:spPr>
        <p:txBody>
          <a:bodyPr wrap="square" lIns="0" tIns="0" rIns="0" bIns="0" anchor="ctr">
            <a:noAutofit/>
          </a:bodyPr>
          <a:lstStyle/>
          <a:p>
            <a:pPr algn="l">
              <a:lnSpc>
                <a:spcPct val="100000"/>
              </a:lnSpc>
              <a:spcBef>
                <a:spcPts val="0"/>
              </a:spcBef>
              <a:spcAft>
                <a:spcPts val="0"/>
              </a:spcAft>
            </a:pPr>
            <a:r>
              <a:rPr sz="3200" b="1" i="0">
                <a:solidFill>
                  <a:srgbClr val="FDF9E0"/>
                </a:solidFill>
                <a:latin typeface="Arial"/>
              </a:rPr>
              <a:t>Dispatch</a:t>
            </a:r>
          </a:p>
        </p:txBody>
      </p:sp>
      <p:sp>
        <p:nvSpPr>
          <p:cNvPr id="159" name="TextBox 158"/>
          <p:cNvSpPr txBox="1"/>
          <p:nvPr/>
        </p:nvSpPr>
        <p:spPr>
          <a:xfrm>
            <a:off x="9601200" y="5349240"/>
            <a:ext cx="3131820" cy="1325880"/>
          </a:xfrm>
          <a:prstGeom prst="rect">
            <a:avLst/>
          </a:prstGeom>
          <a:noFill/>
        </p:spPr>
        <p:txBody>
          <a:bodyPr wrap="square" lIns="0" tIns="0" rIns="0" bIns="0" anchor="t">
            <a:noAutofit/>
          </a:bodyPr>
          <a:lstStyle/>
          <a:p>
            <a:pPr algn="l">
              <a:lnSpc>
                <a:spcPct val="110000"/>
              </a:lnSpc>
              <a:spcBef>
                <a:spcPts val="0"/>
              </a:spcBef>
              <a:spcAft>
                <a:spcPts val="0"/>
              </a:spcAft>
            </a:pPr>
            <a:r>
              <a:rPr sz="2400" b="0" i="0">
                <a:solidFill>
                  <a:srgbClr val="C9C4AC"/>
                </a:solidFill>
                <a:latin typeface="Arial"/>
              </a:rPr>
              <a:t>Banshee alerts the nearest help post, escalates after 60 s</a:t>
            </a:r>
          </a:p>
        </p:txBody>
      </p:sp>
      <p:sp>
        <p:nvSpPr>
          <p:cNvPr id="160" name="Feature Redirect"/>
          <p:cNvSpPr/>
          <p:nvPr/>
        </p:nvSpPr>
        <p:spPr>
          <a:xfrm>
            <a:off x="1332738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1364742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2" name="Picture 161" descr="directions-dark.png"/>
          <p:cNvPicPr>
            <a:picLocks noChangeAspect="1"/>
          </p:cNvPicPr>
          <p:nvPr/>
        </p:nvPicPr>
        <p:blipFill>
          <a:blip r:embed="rId14"/>
          <a:stretch>
            <a:fillRect/>
          </a:stretch>
        </p:blipFill>
        <p:spPr>
          <a:xfrm>
            <a:off x="13838530" y="4488790"/>
            <a:ext cx="486461" cy="486461"/>
          </a:xfrm>
          <a:prstGeom prst="rect">
            <a:avLst/>
          </a:prstGeom>
        </p:spPr>
      </p:pic>
      <p:sp>
        <p:nvSpPr>
          <p:cNvPr id="163" name="TextBox 162"/>
          <p:cNvSpPr txBox="1"/>
          <p:nvPr/>
        </p:nvSpPr>
        <p:spPr>
          <a:xfrm>
            <a:off x="14698980" y="4297680"/>
            <a:ext cx="2217420" cy="868680"/>
          </a:xfrm>
          <a:prstGeom prst="rect">
            <a:avLst/>
          </a:prstGeom>
          <a:noFill/>
        </p:spPr>
        <p:txBody>
          <a:bodyPr wrap="square" lIns="0" tIns="0" rIns="0" bIns="0" anchor="ctr">
            <a:noAutofit/>
          </a:bodyPr>
          <a:lstStyle/>
          <a:p>
            <a:pPr algn="l">
              <a:lnSpc>
                <a:spcPct val="100000"/>
              </a:lnSpc>
              <a:spcBef>
                <a:spcPts val="0"/>
              </a:spcBef>
              <a:spcAft>
                <a:spcPts val="0"/>
              </a:spcAft>
            </a:pPr>
            <a:r>
              <a:rPr sz="3200" b="1" i="0">
                <a:solidFill>
                  <a:srgbClr val="FDF9E0"/>
                </a:solidFill>
                <a:latin typeface="Arial"/>
              </a:rPr>
              <a:t>Redirect</a:t>
            </a:r>
          </a:p>
        </p:txBody>
      </p:sp>
      <p:sp>
        <p:nvSpPr>
          <p:cNvPr id="164" name="TextBox 163"/>
          <p:cNvSpPr txBox="1"/>
          <p:nvPr/>
        </p:nvSpPr>
        <p:spPr>
          <a:xfrm>
            <a:off x="13647420" y="5349240"/>
            <a:ext cx="3131820" cy="1325880"/>
          </a:xfrm>
          <a:prstGeom prst="rect">
            <a:avLst/>
          </a:prstGeom>
          <a:noFill/>
        </p:spPr>
        <p:txBody>
          <a:bodyPr wrap="square" lIns="0" tIns="0" rIns="0" bIns="0" anchor="t">
            <a:noAutofit/>
          </a:bodyPr>
          <a:lstStyle/>
          <a:p>
            <a:pPr algn="l">
              <a:lnSpc>
                <a:spcPct val="110000"/>
              </a:lnSpc>
              <a:spcBef>
                <a:spcPts val="0"/>
              </a:spcBef>
              <a:spcAft>
                <a:spcPts val="0"/>
              </a:spcAft>
            </a:pPr>
            <a:r>
              <a:rPr sz="2400" b="0" i="0">
                <a:solidFill>
                  <a:srgbClr val="C9C4AC"/>
                </a:solidFill>
                <a:latin typeface="Arial"/>
              </a:rPr>
              <a:t>Suggests the gate to open; PA announces in 3 languages</a:t>
            </a:r>
          </a:p>
        </p:txBody>
      </p:sp>
      <p:pic>
        <p:nvPicPr>
          <p:cNvPr id="165" name="Picture 164" descr="shield-orange.png"/>
          <p:cNvPicPr>
            <a:picLocks noChangeAspect="1"/>
          </p:cNvPicPr>
          <p:nvPr/>
        </p:nvPicPr>
        <p:blipFill>
          <a:blip r:embed="rId15"/>
          <a:stretch>
            <a:fillRect/>
          </a:stretch>
        </p:blipFill>
        <p:spPr>
          <a:xfrm>
            <a:off x="1188720" y="7104888"/>
            <a:ext cx="384048" cy="384048"/>
          </a:xfrm>
          <a:prstGeom prst="rect">
            <a:avLst/>
          </a:prstGeom>
        </p:spPr>
      </p:pic>
      <p:sp>
        <p:nvSpPr>
          <p:cNvPr id="166" name="TextBox 165"/>
          <p:cNvSpPr txBox="1"/>
          <p:nvPr/>
        </p:nvSpPr>
        <p:spPr>
          <a:xfrm>
            <a:off x="1737360" y="7068312"/>
            <a:ext cx="15361920" cy="457200"/>
          </a:xfrm>
          <a:prstGeom prst="rect">
            <a:avLst/>
          </a:prstGeom>
          <a:noFill/>
        </p:spPr>
        <p:txBody>
          <a:bodyPr wrap="square" lIns="0" tIns="0" rIns="0" bIns="0" anchor="ctr">
            <a:noAutofit/>
          </a:bodyPr>
          <a:lstStyle/>
          <a:p>
            <a:pPr algn="l">
              <a:lnSpc>
                <a:spcPct val="100000"/>
              </a:lnSpc>
              <a:spcBef>
                <a:spcPts val="0"/>
              </a:spcBef>
              <a:spcAft>
                <a:spcPts val="0"/>
              </a:spcAft>
            </a:pPr>
            <a:r>
              <a:rPr sz="2400" b="1" i="0">
                <a:solidFill>
                  <a:srgbClr val="FF9A1F"/>
                </a:solidFill>
                <a:latin typeface="Arial"/>
              </a:rPr>
              <a:t>Private by design:  </a:t>
            </a:r>
            <a:r>
              <a:rPr sz="2400" b="0" i="0">
                <a:solidFill>
                  <a:srgbClr val="FDF9E0"/>
                </a:solidFill>
                <a:latin typeface="Arial"/>
              </a:rPr>
              <a:t>faces are blurred on screen and only counts are stored, never identities</a:t>
            </a:r>
          </a:p>
        </p:txBody>
      </p:sp>
      <p:pic>
        <p:nvPicPr>
          <p:cNvPr id="167" name="Picture 166" descr="map-orange.png"/>
          <p:cNvPicPr>
            <a:picLocks noChangeAspect="1"/>
          </p:cNvPicPr>
          <p:nvPr/>
        </p:nvPicPr>
        <p:blipFill>
          <a:blip r:embed="rId16"/>
          <a:stretch>
            <a:fillRect/>
          </a:stretch>
        </p:blipFill>
        <p:spPr>
          <a:xfrm>
            <a:off x="1225296" y="7653528"/>
            <a:ext cx="310896" cy="384048"/>
          </a:xfrm>
          <a:prstGeom prst="rect">
            <a:avLst/>
          </a:prstGeom>
        </p:spPr>
      </p:pic>
      <p:sp>
        <p:nvSpPr>
          <p:cNvPr id="168" name="TextBox 167"/>
          <p:cNvSpPr txBox="1"/>
          <p:nvPr/>
        </p:nvSpPr>
        <p:spPr>
          <a:xfrm>
            <a:off x="1737360" y="7616952"/>
            <a:ext cx="15361920" cy="457200"/>
          </a:xfrm>
          <a:prstGeom prst="rect">
            <a:avLst/>
          </a:prstGeom>
          <a:noFill/>
        </p:spPr>
        <p:txBody>
          <a:bodyPr wrap="square" lIns="0" tIns="0" rIns="0" bIns="0" anchor="ctr">
            <a:noAutofit/>
          </a:bodyPr>
          <a:lstStyle/>
          <a:p>
            <a:pPr algn="l">
              <a:lnSpc>
                <a:spcPct val="100000"/>
              </a:lnSpc>
              <a:spcBef>
                <a:spcPts val="0"/>
              </a:spcBef>
              <a:spcAft>
                <a:spcPts val="0"/>
              </a:spcAft>
            </a:pPr>
            <a:r>
              <a:rPr sz="2400" b="1" i="0">
                <a:solidFill>
                  <a:srgbClr val="FF9A1F"/>
                </a:solidFill>
                <a:latin typeface="Arial"/>
              </a:rPr>
              <a:t>Built for:  </a:t>
            </a:r>
            <a:r>
              <a:rPr sz="2400" b="0" i="0">
                <a:solidFill>
                  <a:srgbClr val="FDF9E0"/>
                </a:solidFill>
                <a:latin typeface="Arial"/>
              </a:rPr>
              <a:t>stadiums  ·  concerts  ·  temples and festivals  ·  railway stations  ·  college fests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144"/>
        <p:cNvGrpSpPr/>
        <p:nvPr/>
      </p:nvGrpSpPr>
      <p:grpSpPr>
        <a:xfrm>
          <a:off x="0" y="0"/>
          <a:ext cx="0" cy="0"/>
          <a:chOff x="0" y="0"/>
          <a:chExt cx="0" cy="0"/>
        </a:xfrm>
      </p:grpSpPr>
      <p:sp>
        <p:nvSpPr>
          <p:cNvPr id="145" name="Google Shape;145;p6"/>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46" name="Google Shape;146;p6"/>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47" name="Google Shape;147;p6"/>
          <p:cNvGrpSpPr/>
          <p:nvPr/>
        </p:nvGrpSpPr>
        <p:grpSpPr>
          <a:xfrm>
            <a:off x="2368788" y="8390623"/>
            <a:ext cx="13550424" cy="2179108"/>
            <a:chOff x="0" y="-1"/>
            <a:chExt cx="13550423" cy="2179107"/>
          </a:xfrm>
        </p:grpSpPr>
        <p:sp>
          <p:nvSpPr>
            <p:cNvPr id="148" name="Google Shape;148;p6"/>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49" name="Google Shape;149;p6"/>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0" name="Google Shape;150;p6"/>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1" name="Google Shape;151;p6"/>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2" name="Google Shape;152;p6"/>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53" name="Google Shape;153;p6"/>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4" name="Google Shape;154;p6"/>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55" name="Google Shape;155;p6"/>
          <p:cNvGrpSpPr/>
          <p:nvPr/>
        </p:nvGrpSpPr>
        <p:grpSpPr>
          <a:xfrm>
            <a:off x="3021811" y="-721025"/>
            <a:ext cx="12244379" cy="2314415"/>
            <a:chOff x="-1" y="-409736"/>
            <a:chExt cx="12244377" cy="2314414"/>
          </a:xfrm>
        </p:grpSpPr>
        <p:sp>
          <p:nvSpPr>
            <p:cNvPr id="156" name="Google Shape;156;p6"/>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7" name="Google Shape;157;p6"/>
            <p:cNvSpPr/>
            <p:nvPr/>
          </p:nvSpPr>
          <p:spPr>
            <a:xfrm>
              <a:off x="4961215" y="-409736"/>
              <a:ext cx="2243459" cy="2314414"/>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8" name="Google Shape;158;p6"/>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59"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5000"/>
              <a:buFont typeface="Arial"/>
              <a:buNone/>
            </a:pPr>
            <a:r>
              <a:rPr lang="en-US" sz="5600" b="1" i="0" u="none" strike="noStrike" cap="none">
                <a:solidFill>
                  <a:srgbClr val="FDF9E0"/>
                </a:solidFill>
                <a:latin typeface="Arial"/>
                <a:ea typeface="Arial"/>
                <a:cs typeface="Arial"/>
                <a:sym typeface="Arial"/>
              </a:rPr>
              <a:t>Proposed Solution</a:t>
            </a:r>
            <a:endParaRPr/>
          </a:p>
        </p:txBody>
      </p:sp>
      <p:sp>
        <p:nvSpPr>
          <p:cNvPr id="160" name="Step 1"/>
          <p:cNvSpPr/>
          <p:nvPr/>
        </p:nvSpPr>
        <p:spPr>
          <a:xfrm>
            <a:off x="1188720"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2144268"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2" name="Picture 161" descr="video-dark.png"/>
          <p:cNvPicPr>
            <a:picLocks noChangeAspect="1"/>
          </p:cNvPicPr>
          <p:nvPr/>
        </p:nvPicPr>
        <p:blipFill>
          <a:blip r:embed="rId10"/>
          <a:stretch>
            <a:fillRect/>
          </a:stretch>
        </p:blipFill>
        <p:spPr>
          <a:xfrm>
            <a:off x="2335378" y="2824582"/>
            <a:ext cx="486461" cy="486461"/>
          </a:xfrm>
          <a:prstGeom prst="rect">
            <a:avLst/>
          </a:prstGeom>
        </p:spPr>
      </p:pic>
      <p:sp>
        <p:nvSpPr>
          <p:cNvPr id="163" name="TextBox 162"/>
          <p:cNvSpPr txBox="1"/>
          <p:nvPr/>
        </p:nvSpPr>
        <p:spPr>
          <a:xfrm>
            <a:off x="1371600" y="3611880"/>
            <a:ext cx="2414016" cy="457200"/>
          </a:xfrm>
          <a:prstGeom prst="rect">
            <a:avLst/>
          </a:prstGeom>
          <a:noFill/>
        </p:spPr>
        <p:txBody>
          <a:bodyPr wrap="square" lIns="0" tIns="0" rIns="0" bIns="0" anchor="ctr">
            <a:noAutofit/>
          </a:bodyPr>
          <a:lstStyle/>
          <a:p>
            <a:pPr algn="ctr">
              <a:lnSpc>
                <a:spcPct val="100000"/>
              </a:lnSpc>
              <a:spcBef>
                <a:spcPts val="0"/>
              </a:spcBef>
              <a:spcAft>
                <a:spcPts val="0"/>
              </a:spcAft>
            </a:pPr>
            <a:r>
              <a:rPr sz="2600" b="1" i="0">
                <a:solidFill>
                  <a:srgbClr val="FDF9E0"/>
                </a:solidFill>
                <a:latin typeface="Arial"/>
              </a:rPr>
              <a:t>1  Capture</a:t>
            </a:r>
          </a:p>
        </p:txBody>
      </p:sp>
      <p:sp>
        <p:nvSpPr>
          <p:cNvPr id="164" name="TextBox 163"/>
          <p:cNvSpPr txBox="1"/>
          <p:nvPr/>
        </p:nvSpPr>
        <p:spPr>
          <a:xfrm>
            <a:off x="1417320" y="4160520"/>
            <a:ext cx="2322576" cy="1143000"/>
          </a:xfrm>
          <a:prstGeom prst="rect">
            <a:avLst/>
          </a:prstGeom>
          <a:noFill/>
        </p:spPr>
        <p:txBody>
          <a:bodyPr wrap="square" lIns="0" tIns="0" rIns="0" bIns="0" anchor="t">
            <a:noAutofit/>
          </a:bodyPr>
          <a:lstStyle/>
          <a:p>
            <a:pPr algn="ctr">
              <a:lnSpc>
                <a:spcPct val="108000"/>
              </a:lnSpc>
              <a:spcBef>
                <a:spcPts val="0"/>
              </a:spcBef>
              <a:spcAft>
                <a:spcPts val="0"/>
              </a:spcAft>
            </a:pPr>
            <a:r>
              <a:rPr sz="2100" b="0" i="0">
                <a:solidFill>
                  <a:srgbClr val="C9C4AC"/>
                </a:solidFill>
                <a:latin typeface="Arial"/>
              </a:rPr>
              <a:t>Live CCTV or phone video, faces blurred</a:t>
            </a:r>
          </a:p>
        </p:txBody>
      </p:sp>
      <p:cxnSp>
        <p:nvCxnSpPr>
          <p:cNvPr id="165" name="Connector 164"/>
          <p:cNvCxnSpPr/>
          <p:nvPr/>
        </p:nvCxnSpPr>
        <p:spPr>
          <a:xfrm>
            <a:off x="4041648"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6" name="Step 2"/>
          <p:cNvSpPr/>
          <p:nvPr/>
        </p:nvSpPr>
        <p:spPr>
          <a:xfrm>
            <a:off x="4471416"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Oval 166"/>
          <p:cNvSpPr/>
          <p:nvPr/>
        </p:nvSpPr>
        <p:spPr>
          <a:xfrm>
            <a:off x="5426964"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8" name="Picture 167" descr="brain-dark.png"/>
          <p:cNvPicPr>
            <a:picLocks noChangeAspect="1"/>
          </p:cNvPicPr>
          <p:nvPr/>
        </p:nvPicPr>
        <p:blipFill>
          <a:blip r:embed="rId11"/>
          <a:stretch>
            <a:fillRect/>
          </a:stretch>
        </p:blipFill>
        <p:spPr>
          <a:xfrm>
            <a:off x="5618074" y="2824582"/>
            <a:ext cx="486461" cy="486461"/>
          </a:xfrm>
          <a:prstGeom prst="rect">
            <a:avLst/>
          </a:prstGeom>
        </p:spPr>
      </p:pic>
      <p:sp>
        <p:nvSpPr>
          <p:cNvPr id="169" name="TextBox 168"/>
          <p:cNvSpPr txBox="1"/>
          <p:nvPr/>
        </p:nvSpPr>
        <p:spPr>
          <a:xfrm>
            <a:off x="4654296" y="3611880"/>
            <a:ext cx="2414016" cy="457200"/>
          </a:xfrm>
          <a:prstGeom prst="rect">
            <a:avLst/>
          </a:prstGeom>
          <a:noFill/>
        </p:spPr>
        <p:txBody>
          <a:bodyPr wrap="square" lIns="0" tIns="0" rIns="0" bIns="0" anchor="ctr">
            <a:noAutofit/>
          </a:bodyPr>
          <a:lstStyle/>
          <a:p>
            <a:pPr algn="ctr">
              <a:lnSpc>
                <a:spcPct val="100000"/>
              </a:lnSpc>
              <a:spcBef>
                <a:spcPts val="0"/>
              </a:spcBef>
              <a:spcAft>
                <a:spcPts val="0"/>
              </a:spcAft>
            </a:pPr>
            <a:r>
              <a:rPr sz="2600" b="1" i="0">
                <a:solidFill>
                  <a:srgbClr val="FDF9E0"/>
                </a:solidFill>
                <a:latin typeface="Arial"/>
              </a:rPr>
              <a:t>2  Count</a:t>
            </a:r>
          </a:p>
        </p:txBody>
      </p:sp>
      <p:sp>
        <p:nvSpPr>
          <p:cNvPr id="170" name="TextBox 169"/>
          <p:cNvSpPr txBox="1"/>
          <p:nvPr/>
        </p:nvSpPr>
        <p:spPr>
          <a:xfrm>
            <a:off x="4700016" y="4160520"/>
            <a:ext cx="2322576" cy="1143000"/>
          </a:xfrm>
          <a:prstGeom prst="rect">
            <a:avLst/>
          </a:prstGeom>
          <a:noFill/>
        </p:spPr>
        <p:txBody>
          <a:bodyPr wrap="square" lIns="0" tIns="0" rIns="0" bIns="0" anchor="t">
            <a:noAutofit/>
          </a:bodyPr>
          <a:lstStyle/>
          <a:p>
            <a:pPr algn="ctr">
              <a:lnSpc>
                <a:spcPct val="108000"/>
              </a:lnSpc>
              <a:spcBef>
                <a:spcPts val="0"/>
              </a:spcBef>
              <a:spcAft>
                <a:spcPts val="0"/>
              </a:spcAft>
            </a:pPr>
            <a:r>
              <a:rPr sz="2100" b="0" i="0">
                <a:solidFill>
                  <a:srgbClr val="C9C4AC"/>
                </a:solidFill>
                <a:latin typeface="Arial"/>
              </a:rPr>
              <a:t>YOLO if sparse, CSRNet if packed</a:t>
            </a:r>
          </a:p>
        </p:txBody>
      </p:sp>
      <p:cxnSp>
        <p:nvCxnSpPr>
          <p:cNvPr id="171" name="Connector 170"/>
          <p:cNvCxnSpPr/>
          <p:nvPr/>
        </p:nvCxnSpPr>
        <p:spPr>
          <a:xfrm>
            <a:off x="7324344"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2" name="Step 3"/>
          <p:cNvSpPr/>
          <p:nvPr/>
        </p:nvSpPr>
        <p:spPr>
          <a:xfrm>
            <a:off x="7754112"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8709660"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 name="Picture 173" descr="chart-dark.png"/>
          <p:cNvPicPr>
            <a:picLocks noChangeAspect="1"/>
          </p:cNvPicPr>
          <p:nvPr/>
        </p:nvPicPr>
        <p:blipFill>
          <a:blip r:embed="rId12"/>
          <a:stretch>
            <a:fillRect/>
          </a:stretch>
        </p:blipFill>
        <p:spPr>
          <a:xfrm>
            <a:off x="8900770" y="2824582"/>
            <a:ext cx="486461" cy="486461"/>
          </a:xfrm>
          <a:prstGeom prst="rect">
            <a:avLst/>
          </a:prstGeom>
        </p:spPr>
      </p:pic>
      <p:sp>
        <p:nvSpPr>
          <p:cNvPr id="175" name="TextBox 174"/>
          <p:cNvSpPr txBox="1"/>
          <p:nvPr/>
        </p:nvSpPr>
        <p:spPr>
          <a:xfrm>
            <a:off x="7936992" y="3611880"/>
            <a:ext cx="2414016" cy="457200"/>
          </a:xfrm>
          <a:prstGeom prst="rect">
            <a:avLst/>
          </a:prstGeom>
          <a:noFill/>
        </p:spPr>
        <p:txBody>
          <a:bodyPr wrap="square" lIns="0" tIns="0" rIns="0" bIns="0" anchor="ctr">
            <a:noAutofit/>
          </a:bodyPr>
          <a:lstStyle/>
          <a:p>
            <a:pPr algn="ctr">
              <a:lnSpc>
                <a:spcPct val="100000"/>
              </a:lnSpc>
              <a:spcBef>
                <a:spcPts val="0"/>
              </a:spcBef>
              <a:spcAft>
                <a:spcPts val="0"/>
              </a:spcAft>
            </a:pPr>
            <a:r>
              <a:rPr sz="2600" b="1" i="0">
                <a:solidFill>
                  <a:srgbClr val="FDF9E0"/>
                </a:solidFill>
                <a:latin typeface="Arial"/>
              </a:rPr>
              <a:t>3  Predict</a:t>
            </a:r>
          </a:p>
        </p:txBody>
      </p:sp>
      <p:sp>
        <p:nvSpPr>
          <p:cNvPr id="176" name="TextBox 175"/>
          <p:cNvSpPr txBox="1"/>
          <p:nvPr/>
        </p:nvSpPr>
        <p:spPr>
          <a:xfrm>
            <a:off x="7982712" y="4160520"/>
            <a:ext cx="2322576" cy="1143000"/>
          </a:xfrm>
          <a:prstGeom prst="rect">
            <a:avLst/>
          </a:prstGeom>
          <a:noFill/>
        </p:spPr>
        <p:txBody>
          <a:bodyPr wrap="square" lIns="0" tIns="0" rIns="0" bIns="0" anchor="t">
            <a:noAutofit/>
          </a:bodyPr>
          <a:lstStyle/>
          <a:p>
            <a:pPr algn="ctr">
              <a:lnSpc>
                <a:spcPct val="108000"/>
              </a:lnSpc>
              <a:spcBef>
                <a:spcPts val="0"/>
              </a:spcBef>
              <a:spcAft>
                <a:spcPts val="0"/>
              </a:spcAft>
            </a:pPr>
            <a:r>
              <a:rPr sz="2100" b="0" i="0">
                <a:solidFill>
                  <a:srgbClr val="C9C4AC"/>
                </a:solidFill>
                <a:latin typeface="Arial"/>
              </a:rPr>
              <a:t>People per m² + minutes to critical</a:t>
            </a:r>
          </a:p>
        </p:txBody>
      </p:sp>
      <p:cxnSp>
        <p:nvCxnSpPr>
          <p:cNvPr id="177" name="Connector 176"/>
          <p:cNvCxnSpPr/>
          <p:nvPr/>
        </p:nvCxnSpPr>
        <p:spPr>
          <a:xfrm>
            <a:off x="10607040"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8" name="Step 4"/>
          <p:cNvSpPr/>
          <p:nvPr/>
        </p:nvSpPr>
        <p:spPr>
          <a:xfrm>
            <a:off x="11036808"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11992356"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0" name="Picture 179" descr="wind-dark.png"/>
          <p:cNvPicPr>
            <a:picLocks noChangeAspect="1"/>
          </p:cNvPicPr>
          <p:nvPr/>
        </p:nvPicPr>
        <p:blipFill>
          <a:blip r:embed="rId13"/>
          <a:stretch>
            <a:fillRect/>
          </a:stretch>
        </p:blipFill>
        <p:spPr>
          <a:xfrm>
            <a:off x="12183466" y="2824582"/>
            <a:ext cx="486461" cy="486461"/>
          </a:xfrm>
          <a:prstGeom prst="rect">
            <a:avLst/>
          </a:prstGeom>
        </p:spPr>
      </p:pic>
      <p:sp>
        <p:nvSpPr>
          <p:cNvPr id="181" name="TextBox 180"/>
          <p:cNvSpPr txBox="1"/>
          <p:nvPr/>
        </p:nvSpPr>
        <p:spPr>
          <a:xfrm>
            <a:off x="11219688" y="3611880"/>
            <a:ext cx="2414016" cy="457200"/>
          </a:xfrm>
          <a:prstGeom prst="rect">
            <a:avLst/>
          </a:prstGeom>
          <a:noFill/>
        </p:spPr>
        <p:txBody>
          <a:bodyPr wrap="square" lIns="0" tIns="0" rIns="0" bIns="0" anchor="ctr">
            <a:noAutofit/>
          </a:bodyPr>
          <a:lstStyle/>
          <a:p>
            <a:pPr algn="ctr">
              <a:lnSpc>
                <a:spcPct val="100000"/>
              </a:lnSpc>
              <a:spcBef>
                <a:spcPts val="0"/>
              </a:spcBef>
              <a:spcAft>
                <a:spcPts val="0"/>
              </a:spcAft>
            </a:pPr>
            <a:r>
              <a:rPr sz="2600" b="1" i="0">
                <a:solidFill>
                  <a:srgbClr val="FDF9E0"/>
                </a:solidFill>
                <a:latin typeface="Arial"/>
              </a:rPr>
              <a:t>4  Detect</a:t>
            </a:r>
          </a:p>
        </p:txBody>
      </p:sp>
      <p:sp>
        <p:nvSpPr>
          <p:cNvPr id="182" name="TextBox 181"/>
          <p:cNvSpPr txBox="1"/>
          <p:nvPr/>
        </p:nvSpPr>
        <p:spPr>
          <a:xfrm>
            <a:off x="11265408" y="4160520"/>
            <a:ext cx="2322576" cy="1143000"/>
          </a:xfrm>
          <a:prstGeom prst="rect">
            <a:avLst/>
          </a:prstGeom>
          <a:noFill/>
        </p:spPr>
        <p:txBody>
          <a:bodyPr wrap="square" lIns="0" tIns="0" rIns="0" bIns="0" anchor="t">
            <a:noAutofit/>
          </a:bodyPr>
          <a:lstStyle/>
          <a:p>
            <a:pPr algn="ctr">
              <a:lnSpc>
                <a:spcPct val="108000"/>
              </a:lnSpc>
              <a:spcBef>
                <a:spcPts val="0"/>
              </a:spcBef>
              <a:spcAft>
                <a:spcPts val="0"/>
              </a:spcAft>
            </a:pPr>
            <a:r>
              <a:rPr sz="2100" b="0" i="0">
                <a:solidFill>
                  <a:srgbClr val="C9C4AC"/>
                </a:solidFill>
                <a:latin typeface="Arial"/>
              </a:rPr>
              <a:t>Surges and scatter (optical flow), falls (pose)</a:t>
            </a:r>
          </a:p>
        </p:txBody>
      </p:sp>
      <p:cxnSp>
        <p:nvCxnSpPr>
          <p:cNvPr id="183" name="Connector 182"/>
          <p:cNvCxnSpPr/>
          <p:nvPr/>
        </p:nvCxnSpPr>
        <p:spPr>
          <a:xfrm>
            <a:off x="13889736"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4" name="Step 5"/>
          <p:cNvSpPr/>
          <p:nvPr/>
        </p:nvSpPr>
        <p:spPr>
          <a:xfrm>
            <a:off x="14319504"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15275052"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6" name="Picture 185" descr="ambulance-dark.png"/>
          <p:cNvPicPr>
            <a:picLocks noChangeAspect="1"/>
          </p:cNvPicPr>
          <p:nvPr/>
        </p:nvPicPr>
        <p:blipFill>
          <a:blip r:embed="rId14"/>
          <a:stretch>
            <a:fillRect/>
          </a:stretch>
        </p:blipFill>
        <p:spPr>
          <a:xfrm>
            <a:off x="15466162" y="2824582"/>
            <a:ext cx="486461" cy="486461"/>
          </a:xfrm>
          <a:prstGeom prst="rect">
            <a:avLst/>
          </a:prstGeom>
        </p:spPr>
      </p:pic>
      <p:sp>
        <p:nvSpPr>
          <p:cNvPr id="187" name="TextBox 186"/>
          <p:cNvSpPr txBox="1"/>
          <p:nvPr/>
        </p:nvSpPr>
        <p:spPr>
          <a:xfrm>
            <a:off x="14502384" y="3611880"/>
            <a:ext cx="2414016" cy="457200"/>
          </a:xfrm>
          <a:prstGeom prst="rect">
            <a:avLst/>
          </a:prstGeom>
          <a:noFill/>
        </p:spPr>
        <p:txBody>
          <a:bodyPr wrap="square" lIns="0" tIns="0" rIns="0" bIns="0" anchor="ctr">
            <a:noAutofit/>
          </a:bodyPr>
          <a:lstStyle/>
          <a:p>
            <a:pPr algn="ctr">
              <a:lnSpc>
                <a:spcPct val="100000"/>
              </a:lnSpc>
              <a:spcBef>
                <a:spcPts val="0"/>
              </a:spcBef>
              <a:spcAft>
                <a:spcPts val="0"/>
              </a:spcAft>
            </a:pPr>
            <a:r>
              <a:rPr sz="2600" b="1" i="0">
                <a:solidFill>
                  <a:srgbClr val="FDF9E0"/>
                </a:solidFill>
                <a:latin typeface="Arial"/>
              </a:rPr>
              <a:t>5  Respond</a:t>
            </a:r>
          </a:p>
        </p:txBody>
      </p:sp>
      <p:sp>
        <p:nvSpPr>
          <p:cNvPr id="188" name="TextBox 187"/>
          <p:cNvSpPr txBox="1"/>
          <p:nvPr/>
        </p:nvSpPr>
        <p:spPr>
          <a:xfrm>
            <a:off x="14548104" y="4160520"/>
            <a:ext cx="2322576" cy="1143000"/>
          </a:xfrm>
          <a:prstGeom prst="rect">
            <a:avLst/>
          </a:prstGeom>
          <a:noFill/>
        </p:spPr>
        <p:txBody>
          <a:bodyPr wrap="square" lIns="0" tIns="0" rIns="0" bIns="0" anchor="t">
            <a:noAutofit/>
          </a:bodyPr>
          <a:lstStyle/>
          <a:p>
            <a:pPr algn="ctr">
              <a:lnSpc>
                <a:spcPct val="108000"/>
              </a:lnSpc>
              <a:spcBef>
                <a:spcPts val="0"/>
              </a:spcBef>
              <a:spcAft>
                <a:spcPts val="0"/>
              </a:spcAft>
            </a:pPr>
            <a:r>
              <a:rPr sz="2100" b="0" i="0">
                <a:solidFill>
                  <a:srgbClr val="C9C4AC"/>
                </a:solidFill>
                <a:latin typeface="Arial"/>
              </a:rPr>
              <a:t>Nearest help post, gate advice, PA</a:t>
            </a:r>
          </a:p>
        </p:txBody>
      </p:sp>
      <p:sp>
        <p:nvSpPr>
          <p:cNvPr id="189" name="Risk levels"/>
          <p:cNvSpPr/>
          <p:nvPr/>
        </p:nvSpPr>
        <p:spPr>
          <a:xfrm>
            <a:off x="1188720" y="5669280"/>
            <a:ext cx="9326880" cy="24688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TextBox 189"/>
          <p:cNvSpPr txBox="1"/>
          <p:nvPr/>
        </p:nvSpPr>
        <p:spPr>
          <a:xfrm>
            <a:off x="1508760" y="5870448"/>
            <a:ext cx="8686800" cy="457200"/>
          </a:xfrm>
          <a:prstGeom prst="rect">
            <a:avLst/>
          </a:prstGeom>
          <a:noFill/>
        </p:spPr>
        <p:txBody>
          <a:bodyPr wrap="square" lIns="0" tIns="0" rIns="0" bIns="0" anchor="ctr">
            <a:noAutofit/>
          </a:bodyPr>
          <a:lstStyle/>
          <a:p>
            <a:pPr algn="l">
              <a:lnSpc>
                <a:spcPct val="100000"/>
              </a:lnSpc>
              <a:spcBef>
                <a:spcPts val="0"/>
              </a:spcBef>
              <a:spcAft>
                <a:spcPts val="0"/>
              </a:spcAft>
            </a:pPr>
            <a:r>
              <a:rPr sz="2700" b="1" i="0">
                <a:solidFill>
                  <a:srgbClr val="FF9A1F"/>
                </a:solidFill>
                <a:latin typeface="Arial"/>
              </a:rPr>
              <a:t>Risk levels per zone</a:t>
            </a:r>
          </a:p>
        </p:txBody>
      </p:sp>
      <p:sp>
        <p:nvSpPr>
          <p:cNvPr id="191" name="Level SAFE"/>
          <p:cNvSpPr/>
          <p:nvPr/>
        </p:nvSpPr>
        <p:spPr>
          <a:xfrm>
            <a:off x="1508760" y="6446520"/>
            <a:ext cx="2773680" cy="960120"/>
          </a:xfrm>
          <a:prstGeom prst="roundRect">
            <a:avLst>
              <a:gd name="adj" fmla="val 6000"/>
            </a:avLst>
          </a:prstGeom>
          <a:solidFill>
            <a:srgbClr val="2C2C2C"/>
          </a:solidFill>
          <a:ln w="31750">
            <a:solidFill>
              <a:srgbClr val="5BD18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TextBox 191"/>
          <p:cNvSpPr txBox="1"/>
          <p:nvPr/>
        </p:nvSpPr>
        <p:spPr>
          <a:xfrm>
            <a:off x="1691640" y="651967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300" b="1" i="0">
                <a:solidFill>
                  <a:srgbClr val="5BD18B"/>
                </a:solidFill>
                <a:latin typeface="Arial"/>
              </a:rPr>
              <a:t>SAFE</a:t>
            </a:r>
          </a:p>
        </p:txBody>
      </p:sp>
      <p:sp>
        <p:nvSpPr>
          <p:cNvPr id="193" name="TextBox 192"/>
          <p:cNvSpPr txBox="1"/>
          <p:nvPr/>
        </p:nvSpPr>
        <p:spPr>
          <a:xfrm>
            <a:off x="1691640" y="693115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under 4 /m²</a:t>
            </a:r>
          </a:p>
        </p:txBody>
      </p:sp>
      <p:sp>
        <p:nvSpPr>
          <p:cNvPr id="194" name="Level WARNING"/>
          <p:cNvSpPr/>
          <p:nvPr/>
        </p:nvSpPr>
        <p:spPr>
          <a:xfrm>
            <a:off x="4465320" y="6446520"/>
            <a:ext cx="2773680" cy="960120"/>
          </a:xfrm>
          <a:prstGeom prst="roundRect">
            <a:avLst>
              <a:gd name="adj" fmla="val 6000"/>
            </a:avLst>
          </a:prstGeom>
          <a:solidFill>
            <a:srgbClr val="2C2C2C"/>
          </a:solidFill>
          <a:ln w="31750">
            <a:solidFill>
              <a:srgbClr val="FFC2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TextBox 194"/>
          <p:cNvSpPr txBox="1"/>
          <p:nvPr/>
        </p:nvSpPr>
        <p:spPr>
          <a:xfrm>
            <a:off x="4648200" y="651967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300" b="1" i="0">
                <a:solidFill>
                  <a:srgbClr val="FFC23D"/>
                </a:solidFill>
                <a:latin typeface="Arial"/>
              </a:rPr>
              <a:t>WARNING</a:t>
            </a:r>
          </a:p>
        </p:txBody>
      </p:sp>
      <p:sp>
        <p:nvSpPr>
          <p:cNvPr id="196" name="TextBox 195"/>
          <p:cNvSpPr txBox="1"/>
          <p:nvPr/>
        </p:nvSpPr>
        <p:spPr>
          <a:xfrm>
            <a:off x="4648200" y="693115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4 to 6 /m²</a:t>
            </a:r>
          </a:p>
        </p:txBody>
      </p:sp>
      <p:sp>
        <p:nvSpPr>
          <p:cNvPr id="197" name="Level CRITICAL"/>
          <p:cNvSpPr/>
          <p:nvPr/>
        </p:nvSpPr>
        <p:spPr>
          <a:xfrm>
            <a:off x="7421880" y="6446520"/>
            <a:ext cx="2773680" cy="960120"/>
          </a:xfrm>
          <a:prstGeom prst="roundRect">
            <a:avLst>
              <a:gd name="adj" fmla="val 6000"/>
            </a:avLst>
          </a:prstGeom>
          <a:solidFill>
            <a:srgbClr val="2C2C2C"/>
          </a:solidFill>
          <a:ln w="31750">
            <a:solidFill>
              <a:srgbClr val="FF5A4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8" name="TextBox 197"/>
          <p:cNvSpPr txBox="1"/>
          <p:nvPr/>
        </p:nvSpPr>
        <p:spPr>
          <a:xfrm>
            <a:off x="7604760" y="651967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300" b="1" i="0">
                <a:solidFill>
                  <a:srgbClr val="FF5A4E"/>
                </a:solidFill>
                <a:latin typeface="Arial"/>
              </a:rPr>
              <a:t>CRITICAL</a:t>
            </a:r>
          </a:p>
        </p:txBody>
      </p:sp>
      <p:sp>
        <p:nvSpPr>
          <p:cNvPr id="199" name="TextBox 198"/>
          <p:cNvSpPr txBox="1"/>
          <p:nvPr/>
        </p:nvSpPr>
        <p:spPr>
          <a:xfrm>
            <a:off x="7604760" y="693115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6+ /m² or a surge</a:t>
            </a:r>
          </a:p>
        </p:txBody>
      </p:sp>
      <p:sp>
        <p:nvSpPr>
          <p:cNvPr id="200" name="TextBox 199"/>
          <p:cNvSpPr txBox="1"/>
          <p:nvPr/>
        </p:nvSpPr>
        <p:spPr>
          <a:xfrm>
            <a:off x="1508760" y="7516368"/>
            <a:ext cx="8686800" cy="548640"/>
          </a:xfrm>
          <a:prstGeom prst="rect">
            <a:avLst/>
          </a:prstGeom>
          <a:noFill/>
        </p:spPr>
        <p:txBody>
          <a:bodyPr wrap="square" lIns="0" tIns="0" rIns="0" bIns="0" anchor="t">
            <a:noAutofit/>
          </a:bodyPr>
          <a:lstStyle/>
          <a:p>
            <a:pPr algn="l">
              <a:lnSpc>
                <a:spcPct val="105000"/>
              </a:lnSpc>
              <a:spcBef>
                <a:spcPts val="0"/>
              </a:spcBef>
              <a:spcAft>
                <a:spcPts val="0"/>
              </a:spcAft>
            </a:pPr>
            <a:r>
              <a:rPr sz="1800" b="0" i="0">
                <a:solidFill>
                  <a:srgbClr val="C9C4AC"/>
                </a:solidFill>
                <a:latin typeface="Arial"/>
              </a:rPr>
              <a:t>Based on crowd scientist Prof. G. Keith Still's guidance; tunable per venue.</a:t>
            </a:r>
          </a:p>
        </p:txBody>
      </p:sp>
      <p:sp>
        <p:nvSpPr>
          <p:cNvPr id="201" name="Build plan"/>
          <p:cNvSpPr/>
          <p:nvPr/>
        </p:nvSpPr>
        <p:spPr>
          <a:xfrm>
            <a:off x="10789920" y="5669280"/>
            <a:ext cx="6309360" cy="24688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TextBox 201"/>
          <p:cNvSpPr txBox="1"/>
          <p:nvPr/>
        </p:nvSpPr>
        <p:spPr>
          <a:xfrm>
            <a:off x="11109960" y="5870448"/>
            <a:ext cx="5669280" cy="457200"/>
          </a:xfrm>
          <a:prstGeom prst="rect">
            <a:avLst/>
          </a:prstGeom>
          <a:noFill/>
        </p:spPr>
        <p:txBody>
          <a:bodyPr wrap="square" lIns="0" tIns="0" rIns="0" bIns="0" anchor="ctr">
            <a:noAutofit/>
          </a:bodyPr>
          <a:lstStyle/>
          <a:p>
            <a:pPr algn="l">
              <a:lnSpc>
                <a:spcPct val="100000"/>
              </a:lnSpc>
              <a:spcBef>
                <a:spcPts val="0"/>
              </a:spcBef>
              <a:spcAft>
                <a:spcPts val="0"/>
              </a:spcAft>
            </a:pPr>
            <a:r>
              <a:rPr sz="2700" b="1" i="0">
                <a:solidFill>
                  <a:srgbClr val="FF9A1F"/>
                </a:solidFill>
                <a:latin typeface="Arial"/>
              </a:rPr>
              <a:t>Our 10-hour build, 4 people</a:t>
            </a:r>
          </a:p>
        </p:txBody>
      </p:sp>
      <p:sp>
        <p:nvSpPr>
          <p:cNvPr id="203" name="TextBox 202"/>
          <p:cNvSpPr txBox="1"/>
          <p:nvPr/>
        </p:nvSpPr>
        <p:spPr>
          <a:xfrm>
            <a:off x="11109960" y="6492240"/>
            <a:ext cx="5669280" cy="1554480"/>
          </a:xfrm>
          <a:prstGeom prst="rect">
            <a:avLst/>
          </a:prstGeom>
          <a:noFill/>
        </p:spPr>
        <p:txBody>
          <a:bodyPr wrap="square" lIns="0" tIns="0" rIns="0" bIns="0" anchor="t">
            <a:noAutofit/>
          </a:bodyPr>
          <a:lstStyle/>
          <a:p>
            <a:pPr marL="347472" indent="-347472" algn="l">
              <a:lnSpc>
                <a:spcPct val="105000"/>
              </a:lnSpc>
              <a:spcBef>
                <a:spcPts val="0"/>
              </a:spcBef>
              <a:spcAft>
                <a:spcPts val="400"/>
              </a:spcAft>
              <a:buClr>
                <a:srgbClr val="FF9A1F"/>
              </a:buClr>
              <a:buSzPct val="100000"/>
              <a:buFont typeface="Arial"/>
              <a:buChar char="•"/>
            </a:pPr>
            <a:r>
              <a:rPr sz="2200" b="1" i="0">
                <a:solidFill>
                  <a:srgbClr val="FDF9E0"/>
                </a:solidFill>
                <a:latin typeface="Arial"/>
              </a:rPr>
              <a:t>P1 </a:t>
            </a:r>
            <a:r>
              <a:rPr sz="2200" b="0" i="0">
                <a:solidFill>
                  <a:srgbClr val="FDF9E0"/>
                </a:solidFill>
                <a:latin typeface="Arial"/>
              </a:rPr>
              <a:t>Video, YOLO + pose, face blur</a:t>
            </a:r>
          </a:p>
          <a:p>
            <a:pPr marL="347472" indent="-347472" algn="l">
              <a:lnSpc>
                <a:spcPct val="105000"/>
              </a:lnSpc>
              <a:spcBef>
                <a:spcPts val="0"/>
              </a:spcBef>
              <a:spcAft>
                <a:spcPts val="400"/>
              </a:spcAft>
              <a:buClr>
                <a:srgbClr val="FF9A1F"/>
              </a:buClr>
              <a:buSzPct val="100000"/>
              <a:buFont typeface="Arial"/>
              <a:buChar char="•"/>
            </a:pPr>
            <a:r>
              <a:rPr sz="2200" b="1" i="0">
                <a:solidFill>
                  <a:srgbClr val="FDF9E0"/>
                </a:solidFill>
                <a:latin typeface="Arial"/>
              </a:rPr>
              <a:t>P2 </a:t>
            </a:r>
            <a:r>
              <a:rPr sz="2200" b="0" i="0">
                <a:solidFill>
                  <a:srgbClr val="FDF9E0"/>
                </a:solidFill>
                <a:latin typeface="Arial"/>
              </a:rPr>
              <a:t>Density model, heatmap, prediction</a:t>
            </a:r>
          </a:p>
          <a:p>
            <a:pPr marL="347472" indent="-347472" algn="l">
              <a:lnSpc>
                <a:spcPct val="105000"/>
              </a:lnSpc>
              <a:spcBef>
                <a:spcPts val="0"/>
              </a:spcBef>
              <a:spcAft>
                <a:spcPts val="400"/>
              </a:spcAft>
              <a:buClr>
                <a:srgbClr val="FF9A1F"/>
              </a:buClr>
              <a:buSzPct val="100000"/>
              <a:buFont typeface="Arial"/>
              <a:buChar char="•"/>
            </a:pPr>
            <a:r>
              <a:rPr sz="2200" b="1" i="0">
                <a:solidFill>
                  <a:srgbClr val="FDF9E0"/>
                </a:solidFill>
                <a:latin typeface="Arial"/>
              </a:rPr>
              <a:t>P3 </a:t>
            </a:r>
            <a:r>
              <a:rPr sz="2200" b="0" i="0">
                <a:solidFill>
                  <a:srgbClr val="FDF9E0"/>
                </a:solidFill>
                <a:latin typeface="Arial"/>
              </a:rPr>
              <a:t>Optical flow + risk engine</a:t>
            </a:r>
          </a:p>
          <a:p>
            <a:pPr marL="347472" indent="-347472" algn="l">
              <a:lnSpc>
                <a:spcPct val="105000"/>
              </a:lnSpc>
              <a:spcBef>
                <a:spcPts val="0"/>
              </a:spcBef>
              <a:spcAft>
                <a:spcPts val="0"/>
              </a:spcAft>
              <a:buClr>
                <a:srgbClr val="FF9A1F"/>
              </a:buClr>
              <a:buSzPct val="100000"/>
              <a:buFont typeface="Arial"/>
              <a:buChar char="•"/>
            </a:pPr>
            <a:r>
              <a:rPr sz="2200" b="1" i="0">
                <a:solidFill>
                  <a:srgbClr val="FDF9E0"/>
                </a:solidFill>
                <a:latin typeface="Arial"/>
              </a:rPr>
              <a:t>P4 </a:t>
            </a:r>
            <a:r>
              <a:rPr sz="2200" b="0" i="0">
                <a:solidFill>
                  <a:srgbClr val="FDF9E0"/>
                </a:solidFill>
                <a:latin typeface="Arial"/>
              </a:rPr>
              <a:t>Dashboard, dispatch, PA voice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163"/>
        <p:cNvGrpSpPr/>
        <p:nvPr/>
      </p:nvGrpSpPr>
      <p:grpSpPr>
        <a:xfrm>
          <a:off x="0" y="0"/>
          <a:ext cx="0" cy="0"/>
          <a:chOff x="0" y="0"/>
          <a:chExt cx="0" cy="0"/>
        </a:xfrm>
      </p:grpSpPr>
      <p:sp>
        <p:nvSpPr>
          <p:cNvPr id="164" name="Google Shape;164;p7"/>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5" name="Google Shape;165;p7"/>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66" name="Google Shape;166;p7"/>
          <p:cNvGrpSpPr/>
          <p:nvPr/>
        </p:nvGrpSpPr>
        <p:grpSpPr>
          <a:xfrm>
            <a:off x="2368788" y="8390623"/>
            <a:ext cx="13550424" cy="2179108"/>
            <a:chOff x="0" y="-1"/>
            <a:chExt cx="13550423" cy="2179107"/>
          </a:xfrm>
        </p:grpSpPr>
        <p:sp>
          <p:nvSpPr>
            <p:cNvPr id="167" name="Google Shape;167;p7"/>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8" name="Google Shape;168;p7"/>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9" name="Google Shape;169;p7"/>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0" name="Google Shape;170;p7"/>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1" name="Google Shape;171;p7"/>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72" name="Google Shape;172;p7"/>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3" name="Google Shape;173;p7"/>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74" name="Google Shape;174;p7"/>
          <p:cNvGrpSpPr/>
          <p:nvPr/>
        </p:nvGrpSpPr>
        <p:grpSpPr>
          <a:xfrm>
            <a:off x="3021811" y="-578343"/>
            <a:ext cx="12244379" cy="2029052"/>
            <a:chOff x="-1" y="-267054"/>
            <a:chExt cx="12244377" cy="2029050"/>
          </a:xfrm>
        </p:grpSpPr>
        <p:sp>
          <p:nvSpPr>
            <p:cNvPr id="175" name="Google Shape;175;p7"/>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6" name="Google Shape;176;p7"/>
            <p:cNvSpPr/>
            <p:nvPr/>
          </p:nvSpPr>
          <p:spPr>
            <a:xfrm>
              <a:off x="4947136" y="-267054"/>
              <a:ext cx="2243460" cy="2029050"/>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7" name="Google Shape;177;p7"/>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78"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5000"/>
              <a:buFont typeface="Arial"/>
              <a:buNone/>
            </a:pPr>
            <a:r>
              <a:rPr lang="en-US" sz="5600" b="1" i="0" u="none" strike="noStrike" cap="none">
                <a:solidFill>
                  <a:srgbClr val="FDF9E0"/>
                </a:solidFill>
                <a:latin typeface="Arial"/>
                <a:ea typeface="Arial"/>
                <a:cs typeface="Arial"/>
                <a:sym typeface="Arial"/>
              </a:rPr>
              <a:t>Technologies Used</a:t>
            </a:r>
            <a:endParaRPr/>
          </a:p>
        </p:txBody>
      </p:sp>
      <p:sp>
        <p:nvSpPr>
          <p:cNvPr id="179" name="Tech Vision models"/>
          <p:cNvSpPr/>
          <p:nvPr/>
        </p:nvSpPr>
        <p:spPr>
          <a:xfrm>
            <a:off x="118872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Oval 179"/>
          <p:cNvSpPr/>
          <p:nvPr/>
        </p:nvSpPr>
        <p:spPr>
          <a:xfrm>
            <a:off x="150876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1" name="Picture 180" descr="eye-dark.png"/>
          <p:cNvPicPr>
            <a:picLocks noChangeAspect="1"/>
          </p:cNvPicPr>
          <p:nvPr/>
        </p:nvPicPr>
        <p:blipFill>
          <a:blip r:embed="rId10"/>
          <a:stretch>
            <a:fillRect/>
          </a:stretch>
        </p:blipFill>
        <p:spPr>
          <a:xfrm>
            <a:off x="1679753" y="2822753"/>
            <a:ext cx="435254" cy="435254"/>
          </a:xfrm>
          <a:prstGeom prst="rect">
            <a:avLst/>
          </a:prstGeom>
        </p:spPr>
      </p:pic>
      <p:sp>
        <p:nvSpPr>
          <p:cNvPr id="182" name="TextBox 181"/>
          <p:cNvSpPr txBox="1"/>
          <p:nvPr/>
        </p:nvSpPr>
        <p:spPr>
          <a:xfrm>
            <a:off x="2514600" y="265176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Vision models</a:t>
            </a:r>
          </a:p>
        </p:txBody>
      </p:sp>
      <p:sp>
        <p:nvSpPr>
          <p:cNvPr id="183" name="TextBox 182"/>
          <p:cNvSpPr txBox="1"/>
          <p:nvPr/>
        </p:nvSpPr>
        <p:spPr>
          <a:xfrm>
            <a:off x="1508760" y="370332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YOLOv8 people + pose (falls)</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CSRNet for dense crowds</a:t>
            </a:r>
          </a:p>
        </p:txBody>
      </p:sp>
      <p:sp>
        <p:nvSpPr>
          <p:cNvPr id="184" name="Tech Video and motion"/>
          <p:cNvSpPr/>
          <p:nvPr/>
        </p:nvSpPr>
        <p:spPr>
          <a:xfrm>
            <a:off x="658368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690372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6" name="Picture 185" descr="video-dark.png"/>
          <p:cNvPicPr>
            <a:picLocks noChangeAspect="1"/>
          </p:cNvPicPr>
          <p:nvPr/>
        </p:nvPicPr>
        <p:blipFill>
          <a:blip r:embed="rId11"/>
          <a:stretch>
            <a:fillRect/>
          </a:stretch>
        </p:blipFill>
        <p:spPr>
          <a:xfrm>
            <a:off x="7074713" y="2822753"/>
            <a:ext cx="435254" cy="435254"/>
          </a:xfrm>
          <a:prstGeom prst="rect">
            <a:avLst/>
          </a:prstGeom>
        </p:spPr>
      </p:pic>
      <p:sp>
        <p:nvSpPr>
          <p:cNvPr id="187" name="TextBox 186"/>
          <p:cNvSpPr txBox="1"/>
          <p:nvPr/>
        </p:nvSpPr>
        <p:spPr>
          <a:xfrm>
            <a:off x="7909560" y="265176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Video and motion</a:t>
            </a:r>
          </a:p>
        </p:txBody>
      </p:sp>
      <p:sp>
        <p:nvSpPr>
          <p:cNvPr id="188" name="TextBox 187"/>
          <p:cNvSpPr txBox="1"/>
          <p:nvPr/>
        </p:nvSpPr>
        <p:spPr>
          <a:xfrm>
            <a:off x="6903720" y="370332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OpenCV: zones, face blur</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Farneback optical flow</a:t>
            </a:r>
          </a:p>
        </p:txBody>
      </p:sp>
      <p:sp>
        <p:nvSpPr>
          <p:cNvPr id="189" name="Tech Prediction"/>
          <p:cNvSpPr/>
          <p:nvPr/>
        </p:nvSpPr>
        <p:spPr>
          <a:xfrm>
            <a:off x="1197864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Oval 189"/>
          <p:cNvSpPr/>
          <p:nvPr/>
        </p:nvSpPr>
        <p:spPr>
          <a:xfrm>
            <a:off x="1229868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1" name="Picture 190" descr="chart-dark.png"/>
          <p:cNvPicPr>
            <a:picLocks noChangeAspect="1"/>
          </p:cNvPicPr>
          <p:nvPr/>
        </p:nvPicPr>
        <p:blipFill>
          <a:blip r:embed="rId12"/>
          <a:stretch>
            <a:fillRect/>
          </a:stretch>
        </p:blipFill>
        <p:spPr>
          <a:xfrm>
            <a:off x="12469673" y="2822753"/>
            <a:ext cx="435254" cy="435254"/>
          </a:xfrm>
          <a:prstGeom prst="rect">
            <a:avLst/>
          </a:prstGeom>
        </p:spPr>
      </p:pic>
      <p:sp>
        <p:nvSpPr>
          <p:cNvPr id="192" name="TextBox 191"/>
          <p:cNvSpPr txBox="1"/>
          <p:nvPr/>
        </p:nvSpPr>
        <p:spPr>
          <a:xfrm>
            <a:off x="13304520" y="265176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Prediction</a:t>
            </a:r>
          </a:p>
        </p:txBody>
      </p:sp>
      <p:sp>
        <p:nvSpPr>
          <p:cNvPr id="193" name="TextBox 192"/>
          <p:cNvSpPr txBox="1"/>
          <p:nvPr/>
        </p:nvSpPr>
        <p:spPr>
          <a:xfrm>
            <a:off x="12298680" y="370332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Python, PyTorch, NumPy</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Inflow trend → time to critical</a:t>
            </a:r>
          </a:p>
        </p:txBody>
      </p:sp>
      <p:sp>
        <p:nvSpPr>
          <p:cNvPr id="194" name="Tech Dashboard"/>
          <p:cNvSpPr/>
          <p:nvPr/>
        </p:nvSpPr>
        <p:spPr>
          <a:xfrm>
            <a:off x="118872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Oval 194"/>
          <p:cNvSpPr/>
          <p:nvPr/>
        </p:nvSpPr>
        <p:spPr>
          <a:xfrm>
            <a:off x="150876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6" name="Picture 195" descr="dash-dark.png"/>
          <p:cNvPicPr>
            <a:picLocks noChangeAspect="1"/>
          </p:cNvPicPr>
          <p:nvPr/>
        </p:nvPicPr>
        <p:blipFill>
          <a:blip r:embed="rId13"/>
          <a:stretch>
            <a:fillRect/>
          </a:stretch>
        </p:blipFill>
        <p:spPr>
          <a:xfrm>
            <a:off x="1679753" y="5840273"/>
            <a:ext cx="435254" cy="435254"/>
          </a:xfrm>
          <a:prstGeom prst="rect">
            <a:avLst/>
          </a:prstGeom>
        </p:spPr>
      </p:pic>
      <p:sp>
        <p:nvSpPr>
          <p:cNvPr id="197" name="TextBox 196"/>
          <p:cNvSpPr txBox="1"/>
          <p:nvPr/>
        </p:nvSpPr>
        <p:spPr>
          <a:xfrm>
            <a:off x="2514600" y="566928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Dashboard</a:t>
            </a:r>
          </a:p>
        </p:txBody>
      </p:sp>
      <p:sp>
        <p:nvSpPr>
          <p:cNvPr id="198" name="TextBox 197"/>
          <p:cNvSpPr txBox="1"/>
          <p:nvPr/>
        </p:nvSpPr>
        <p:spPr>
          <a:xfrm>
            <a:off x="1508760" y="672084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Streamlit live control room</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Venue map of help posts</a:t>
            </a:r>
          </a:p>
        </p:txBody>
      </p:sp>
      <p:sp>
        <p:nvSpPr>
          <p:cNvPr id="199" name="Tech Dispatch + PA"/>
          <p:cNvSpPr/>
          <p:nvPr/>
        </p:nvSpPr>
        <p:spPr>
          <a:xfrm>
            <a:off x="658368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0" name="Oval 199"/>
          <p:cNvSpPr/>
          <p:nvPr/>
        </p:nvSpPr>
        <p:spPr>
          <a:xfrm>
            <a:off x="690372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1" name="Picture 200" descr="telegram-dark.png"/>
          <p:cNvPicPr>
            <a:picLocks noChangeAspect="1"/>
          </p:cNvPicPr>
          <p:nvPr/>
        </p:nvPicPr>
        <p:blipFill>
          <a:blip r:embed="rId14"/>
          <a:stretch>
            <a:fillRect/>
          </a:stretch>
        </p:blipFill>
        <p:spPr>
          <a:xfrm>
            <a:off x="7074713" y="5840273"/>
            <a:ext cx="435254" cy="435254"/>
          </a:xfrm>
          <a:prstGeom prst="rect">
            <a:avLst/>
          </a:prstGeom>
        </p:spPr>
      </p:pic>
      <p:sp>
        <p:nvSpPr>
          <p:cNvPr id="202" name="TextBox 201"/>
          <p:cNvSpPr txBox="1"/>
          <p:nvPr/>
        </p:nvSpPr>
        <p:spPr>
          <a:xfrm>
            <a:off x="7909560" y="566928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Dispatch + PA</a:t>
            </a:r>
          </a:p>
        </p:txBody>
      </p:sp>
      <p:sp>
        <p:nvSpPr>
          <p:cNvPr id="203" name="TextBox 202"/>
          <p:cNvSpPr txBox="1"/>
          <p:nvPr/>
        </p:nvSpPr>
        <p:spPr>
          <a:xfrm>
            <a:off x="6903720" y="672084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Telegram bot + Accept button</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gTTS voice in 3 languages</a:t>
            </a:r>
          </a:p>
        </p:txBody>
      </p:sp>
      <p:sp>
        <p:nvSpPr>
          <p:cNvPr id="204" name="Tech Data and testing"/>
          <p:cNvSpPr/>
          <p:nvPr/>
        </p:nvSpPr>
        <p:spPr>
          <a:xfrm>
            <a:off x="1197864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Oval 204"/>
          <p:cNvSpPr/>
          <p:nvPr/>
        </p:nvSpPr>
        <p:spPr>
          <a:xfrm>
            <a:off x="1229868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6" name="Picture 205" descr="db-dark.png"/>
          <p:cNvPicPr>
            <a:picLocks noChangeAspect="1"/>
          </p:cNvPicPr>
          <p:nvPr/>
        </p:nvPicPr>
        <p:blipFill>
          <a:blip r:embed="rId15"/>
          <a:stretch>
            <a:fillRect/>
          </a:stretch>
        </p:blipFill>
        <p:spPr>
          <a:xfrm>
            <a:off x="12469673" y="5840273"/>
            <a:ext cx="435254" cy="435254"/>
          </a:xfrm>
          <a:prstGeom prst="rect">
            <a:avLst/>
          </a:prstGeom>
        </p:spPr>
      </p:pic>
      <p:sp>
        <p:nvSpPr>
          <p:cNvPr id="207" name="TextBox 206"/>
          <p:cNvSpPr txBox="1"/>
          <p:nvPr/>
        </p:nvSpPr>
        <p:spPr>
          <a:xfrm>
            <a:off x="13304520" y="566928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Data and testing</a:t>
            </a:r>
          </a:p>
        </p:txBody>
      </p:sp>
      <p:sp>
        <p:nvSpPr>
          <p:cNvPr id="208" name="TextBox 207"/>
          <p:cNvSpPr txBox="1"/>
          <p:nvPr/>
        </p:nvSpPr>
        <p:spPr>
          <a:xfrm>
            <a:off x="12298680" y="672084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ShanghaiTech for accuracy</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UMN + our clips for surges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182"/>
        <p:cNvGrpSpPr/>
        <p:nvPr/>
      </p:nvGrpSpPr>
      <p:grpSpPr>
        <a:xfrm>
          <a:off x="0" y="0"/>
          <a:ext cx="0" cy="0"/>
          <a:chOff x="0" y="0"/>
          <a:chExt cx="0" cy="0"/>
        </a:xfrm>
      </p:grpSpPr>
      <p:sp>
        <p:nvSpPr>
          <p:cNvPr id="183" name="Google Shape;183;p8"/>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4" name="Google Shape;184;p8"/>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85" name="Google Shape;185;p8"/>
          <p:cNvGrpSpPr/>
          <p:nvPr/>
        </p:nvGrpSpPr>
        <p:grpSpPr>
          <a:xfrm>
            <a:off x="2368788" y="8390623"/>
            <a:ext cx="13550424" cy="2179108"/>
            <a:chOff x="0" y="-1"/>
            <a:chExt cx="13550423" cy="2179107"/>
          </a:xfrm>
        </p:grpSpPr>
        <p:sp>
          <p:nvSpPr>
            <p:cNvPr id="186" name="Google Shape;186;p8"/>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7" name="Google Shape;187;p8"/>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8" name="Google Shape;188;p8"/>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9" name="Google Shape;189;p8"/>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0" name="Google Shape;190;p8"/>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91" name="Google Shape;191;p8"/>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2" name="Google Shape;192;p8"/>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93" name="Google Shape;193;p8"/>
          <p:cNvGrpSpPr/>
          <p:nvPr/>
        </p:nvGrpSpPr>
        <p:grpSpPr>
          <a:xfrm>
            <a:off x="3021811" y="-598718"/>
            <a:ext cx="12244379" cy="2069801"/>
            <a:chOff x="-1" y="-287429"/>
            <a:chExt cx="12244377" cy="2069800"/>
          </a:xfrm>
        </p:grpSpPr>
        <p:sp>
          <p:nvSpPr>
            <p:cNvPr id="194" name="Google Shape;194;p8"/>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5" name="Google Shape;195;p8"/>
            <p:cNvSpPr/>
            <p:nvPr/>
          </p:nvSpPr>
          <p:spPr>
            <a:xfrm>
              <a:off x="4904900" y="-287429"/>
              <a:ext cx="2243460" cy="2069800"/>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6" name="Google Shape;196;p8"/>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97"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5000"/>
              <a:buFont typeface="Arial"/>
              <a:buNone/>
            </a:pPr>
            <a:r>
              <a:rPr lang="en-US" sz="5600" b="1" i="0" u="none" strike="noStrike" cap="none">
                <a:solidFill>
                  <a:srgbClr val="FDF9E0"/>
                </a:solidFill>
                <a:latin typeface="Arial"/>
                <a:ea typeface="Arial"/>
                <a:cs typeface="Arial"/>
                <a:sym typeface="Arial"/>
              </a:rPr>
              <a:t>Wireframe: Live Control Room</a:t>
            </a:r>
            <a:endParaRPr/>
          </a:p>
        </p:txBody>
      </p:sp>
      <p:sp>
        <p:nvSpPr>
          <p:cNvPr id="198" name="App window"/>
          <p:cNvSpPr/>
          <p:nvPr/>
        </p:nvSpPr>
        <p:spPr>
          <a:xfrm>
            <a:off x="1188720" y="2377440"/>
            <a:ext cx="15910560" cy="5760720"/>
          </a:xfrm>
          <a:prstGeom prst="roundRect">
            <a:avLst>
              <a:gd name="adj" fmla="val 3000"/>
            </a:avLst>
          </a:prstGeom>
          <a:solidFill>
            <a:srgbClr val="2C2C2C"/>
          </a:solidFill>
          <a:ln w="19050">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Oval 198"/>
          <p:cNvSpPr/>
          <p:nvPr/>
        </p:nvSpPr>
        <p:spPr>
          <a:xfrm>
            <a:off x="1463040" y="2532888"/>
            <a:ext cx="457200" cy="45720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0" name="Picture 199" descr="ghost-dark.png"/>
          <p:cNvPicPr>
            <a:picLocks noChangeAspect="1"/>
          </p:cNvPicPr>
          <p:nvPr/>
        </p:nvPicPr>
        <p:blipFill>
          <a:blip r:embed="rId10"/>
          <a:stretch>
            <a:fillRect/>
          </a:stretch>
        </p:blipFill>
        <p:spPr>
          <a:xfrm>
            <a:off x="1554480" y="2624328"/>
            <a:ext cx="274320" cy="274320"/>
          </a:xfrm>
          <a:prstGeom prst="rect">
            <a:avLst/>
          </a:prstGeom>
        </p:spPr>
      </p:pic>
      <p:sp>
        <p:nvSpPr>
          <p:cNvPr id="201" name="TextBox 200"/>
          <p:cNvSpPr txBox="1"/>
          <p:nvPr/>
        </p:nvSpPr>
        <p:spPr>
          <a:xfrm>
            <a:off x="2057400" y="2487168"/>
            <a:ext cx="7315200" cy="548640"/>
          </a:xfrm>
          <a:prstGeom prst="rect">
            <a:avLst/>
          </a:prstGeom>
          <a:noFill/>
        </p:spPr>
        <p:txBody>
          <a:bodyPr wrap="square" lIns="0" tIns="0" rIns="0" bIns="0" anchor="ctr">
            <a:noAutofit/>
          </a:bodyPr>
          <a:lstStyle/>
          <a:p>
            <a:pPr algn="l">
              <a:lnSpc>
                <a:spcPct val="100000"/>
              </a:lnSpc>
              <a:spcBef>
                <a:spcPts val="0"/>
              </a:spcBef>
              <a:spcAft>
                <a:spcPts val="0"/>
              </a:spcAft>
            </a:pPr>
            <a:r>
              <a:rPr sz="2200" b="1" i="0">
                <a:solidFill>
                  <a:srgbClr val="FF9A1F"/>
                </a:solidFill>
                <a:latin typeface="Arial"/>
              </a:rPr>
              <a:t>Poltergeist</a:t>
            </a:r>
            <a:r>
              <a:rPr sz="2200" b="0" i="0">
                <a:solidFill>
                  <a:srgbClr val="FDF9E0"/>
                </a:solidFill>
                <a:latin typeface="Arial"/>
              </a:rPr>
              <a:t>  ·  Live crowd monitor</a:t>
            </a:r>
          </a:p>
        </p:txBody>
      </p:sp>
      <p:sp>
        <p:nvSpPr>
          <p:cNvPr id="202" name="TextBox 201"/>
          <p:cNvSpPr txBox="1"/>
          <p:nvPr/>
        </p:nvSpPr>
        <p:spPr>
          <a:xfrm>
            <a:off x="11338560" y="2487168"/>
            <a:ext cx="5486400" cy="548640"/>
          </a:xfrm>
          <a:prstGeom prst="rect">
            <a:avLst/>
          </a:prstGeom>
          <a:noFill/>
        </p:spPr>
        <p:txBody>
          <a:bodyPr wrap="square" lIns="0" tIns="0" rIns="0" bIns="0" anchor="ctr">
            <a:noAutofit/>
          </a:bodyPr>
          <a:lstStyle/>
          <a:p>
            <a:pPr algn="r">
              <a:lnSpc>
                <a:spcPct val="100000"/>
              </a:lnSpc>
              <a:spcBef>
                <a:spcPts val="0"/>
              </a:spcBef>
              <a:spcAft>
                <a:spcPts val="0"/>
              </a:spcAft>
            </a:pPr>
            <a:r>
              <a:rPr sz="2000" b="0" i="0">
                <a:solidFill>
                  <a:srgbClr val="C9C4AC"/>
                </a:solidFill>
                <a:latin typeface="Arial"/>
              </a:rPr>
              <a:t>3 cameras live  ·  faces blurred  ·  08:42</a:t>
            </a:r>
          </a:p>
        </p:txBody>
      </p:sp>
      <p:pic>
        <p:nvPicPr>
          <p:cNvPr id="203" name="Picture 202" descr="camera_real.png"/>
          <p:cNvPicPr>
            <a:picLocks noChangeAspect="1"/>
          </p:cNvPicPr>
          <p:nvPr/>
        </p:nvPicPr>
        <p:blipFill>
          <a:blip r:embed="rId11"/>
          <a:stretch>
            <a:fillRect/>
          </a:stretch>
        </p:blipFill>
        <p:spPr>
          <a:xfrm>
            <a:off x="1463040" y="3154680"/>
            <a:ext cx="8412480" cy="4732020"/>
          </a:xfrm>
          <a:prstGeom prst="rect">
            <a:avLst/>
          </a:prstGeom>
        </p:spPr>
      </p:pic>
      <p:sp>
        <p:nvSpPr>
          <p:cNvPr id="204" name="TextBox 203"/>
          <p:cNvSpPr txBox="1"/>
          <p:nvPr/>
        </p:nvSpPr>
        <p:spPr>
          <a:xfrm>
            <a:off x="10149840" y="3154680"/>
            <a:ext cx="6675120" cy="411480"/>
          </a:xfrm>
          <a:prstGeom prst="rect">
            <a:avLst/>
          </a:prstGeom>
          <a:noFill/>
        </p:spPr>
        <p:txBody>
          <a:bodyPr wrap="square" lIns="0" tIns="0" rIns="0" bIns="0" anchor="ctr">
            <a:noAutofit/>
          </a:bodyPr>
          <a:lstStyle/>
          <a:p>
            <a:pPr algn="l">
              <a:lnSpc>
                <a:spcPct val="100000"/>
              </a:lnSpc>
              <a:spcBef>
                <a:spcPts val="0"/>
              </a:spcBef>
              <a:spcAft>
                <a:spcPts val="0"/>
              </a:spcAft>
            </a:pPr>
            <a:r>
              <a:rPr sz="1800" b="1" i="0">
                <a:solidFill>
                  <a:srgbClr val="C9C4AC"/>
                </a:solidFill>
                <a:latin typeface="Arial"/>
              </a:rPr>
              <a:t>ZONES</a:t>
            </a:r>
          </a:p>
        </p:txBody>
      </p:sp>
      <p:sp>
        <p:nvSpPr>
          <p:cNvPr id="205" name="Zone Platform 1"/>
          <p:cNvSpPr/>
          <p:nvPr/>
        </p:nvSpPr>
        <p:spPr>
          <a:xfrm>
            <a:off x="10149840" y="3566160"/>
            <a:ext cx="6675120" cy="530352"/>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Oval 205"/>
          <p:cNvSpPr/>
          <p:nvPr/>
        </p:nvSpPr>
        <p:spPr>
          <a:xfrm>
            <a:off x="10351008" y="3730752"/>
            <a:ext cx="201168" cy="201168"/>
          </a:xfrm>
          <a:prstGeom prst="ellipse">
            <a:avLst/>
          </a:prstGeom>
          <a:solidFill>
            <a:srgbClr val="FF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TextBox 206"/>
          <p:cNvSpPr txBox="1"/>
          <p:nvPr/>
        </p:nvSpPr>
        <p:spPr>
          <a:xfrm>
            <a:off x="10698480" y="3566160"/>
            <a:ext cx="192024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1" i="0">
                <a:solidFill>
                  <a:srgbClr val="FDF9E0"/>
                </a:solidFill>
                <a:latin typeface="Arial"/>
              </a:rPr>
              <a:t>Platform 1</a:t>
            </a:r>
          </a:p>
        </p:txBody>
      </p:sp>
      <p:sp>
        <p:nvSpPr>
          <p:cNvPr id="208" name="TextBox 207"/>
          <p:cNvSpPr txBox="1"/>
          <p:nvPr/>
        </p:nvSpPr>
        <p:spPr>
          <a:xfrm>
            <a:off x="12573000" y="3566160"/>
            <a:ext cx="137160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6.4 /m²</a:t>
            </a:r>
          </a:p>
        </p:txBody>
      </p:sp>
      <p:sp>
        <p:nvSpPr>
          <p:cNvPr id="209" name="Status Platform 1"/>
          <p:cNvSpPr/>
          <p:nvPr/>
        </p:nvSpPr>
        <p:spPr>
          <a:xfrm>
            <a:off x="14447520" y="3657600"/>
            <a:ext cx="2240280" cy="347472"/>
          </a:xfrm>
          <a:prstGeom prst="roundRect">
            <a:avLst>
              <a:gd name="adj" fmla="val 50000"/>
            </a:avLst>
          </a:prstGeom>
          <a:solidFill>
            <a:srgbClr val="FF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TextBox 209"/>
          <p:cNvSpPr txBox="1"/>
          <p:nvPr/>
        </p:nvSpPr>
        <p:spPr>
          <a:xfrm>
            <a:off x="14447520" y="3657600"/>
            <a:ext cx="2240280" cy="347472"/>
          </a:xfrm>
          <a:prstGeom prst="rect">
            <a:avLst/>
          </a:prstGeom>
          <a:noFill/>
        </p:spPr>
        <p:txBody>
          <a:bodyPr wrap="square" lIns="0" tIns="0" rIns="0" bIns="0" anchor="ctr">
            <a:noAutofit/>
          </a:bodyPr>
          <a:lstStyle/>
          <a:p>
            <a:pPr algn="ctr">
              <a:lnSpc>
                <a:spcPct val="100000"/>
              </a:lnSpc>
              <a:spcBef>
                <a:spcPts val="0"/>
              </a:spcBef>
              <a:spcAft>
                <a:spcPts val="0"/>
              </a:spcAft>
            </a:pPr>
            <a:r>
              <a:rPr sz="1400" b="1" i="0">
                <a:solidFill>
                  <a:srgbClr val="1E1E1E"/>
                </a:solidFill>
                <a:latin typeface="Arial"/>
              </a:rPr>
              <a:t>CRITICAL</a:t>
            </a:r>
          </a:p>
        </p:txBody>
      </p:sp>
      <p:sp>
        <p:nvSpPr>
          <p:cNvPr id="211" name="Zone Platform 2"/>
          <p:cNvSpPr/>
          <p:nvPr/>
        </p:nvSpPr>
        <p:spPr>
          <a:xfrm>
            <a:off x="10149840" y="4169664"/>
            <a:ext cx="6675120" cy="530352"/>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Oval 211"/>
          <p:cNvSpPr/>
          <p:nvPr/>
        </p:nvSpPr>
        <p:spPr>
          <a:xfrm>
            <a:off x="10351008" y="4334256"/>
            <a:ext cx="201168" cy="201168"/>
          </a:xfrm>
          <a:prstGeom prst="ellipse">
            <a:avLst/>
          </a:prstGeom>
          <a:solidFill>
            <a:srgbClr val="FFC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TextBox 212"/>
          <p:cNvSpPr txBox="1"/>
          <p:nvPr/>
        </p:nvSpPr>
        <p:spPr>
          <a:xfrm>
            <a:off x="10698480" y="4169664"/>
            <a:ext cx="192024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1" i="0">
                <a:solidFill>
                  <a:srgbClr val="FDF9E0"/>
                </a:solidFill>
                <a:latin typeface="Arial"/>
              </a:rPr>
              <a:t>Platform 2</a:t>
            </a:r>
          </a:p>
        </p:txBody>
      </p:sp>
      <p:sp>
        <p:nvSpPr>
          <p:cNvPr id="214" name="TextBox 213"/>
          <p:cNvSpPr txBox="1"/>
          <p:nvPr/>
        </p:nvSpPr>
        <p:spPr>
          <a:xfrm>
            <a:off x="12573000" y="4169664"/>
            <a:ext cx="137160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4.6 /m²</a:t>
            </a:r>
          </a:p>
        </p:txBody>
      </p:sp>
      <p:sp>
        <p:nvSpPr>
          <p:cNvPr id="215" name="Status Platform 2"/>
          <p:cNvSpPr/>
          <p:nvPr/>
        </p:nvSpPr>
        <p:spPr>
          <a:xfrm>
            <a:off x="14447520" y="4261104"/>
            <a:ext cx="2240280" cy="347472"/>
          </a:xfrm>
          <a:prstGeom prst="roundRect">
            <a:avLst>
              <a:gd name="adj" fmla="val 50000"/>
            </a:avLst>
          </a:prstGeom>
          <a:solidFill>
            <a:srgbClr val="FFC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TextBox 215"/>
          <p:cNvSpPr txBox="1"/>
          <p:nvPr/>
        </p:nvSpPr>
        <p:spPr>
          <a:xfrm>
            <a:off x="14447520" y="4261104"/>
            <a:ext cx="2240280" cy="347472"/>
          </a:xfrm>
          <a:prstGeom prst="rect">
            <a:avLst/>
          </a:prstGeom>
          <a:noFill/>
        </p:spPr>
        <p:txBody>
          <a:bodyPr wrap="square" lIns="0" tIns="0" rIns="0" bIns="0" anchor="ctr">
            <a:noAutofit/>
          </a:bodyPr>
          <a:lstStyle/>
          <a:p>
            <a:pPr algn="ctr">
              <a:lnSpc>
                <a:spcPct val="100000"/>
              </a:lnSpc>
              <a:spcBef>
                <a:spcPts val="0"/>
              </a:spcBef>
              <a:spcAft>
                <a:spcPts val="0"/>
              </a:spcAft>
            </a:pPr>
            <a:r>
              <a:rPr sz="1400" b="1" i="0">
                <a:solidFill>
                  <a:srgbClr val="1E1E1E"/>
                </a:solidFill>
                <a:latin typeface="Arial"/>
              </a:rPr>
              <a:t>CRITICAL IN 6 MIN</a:t>
            </a:r>
          </a:p>
        </p:txBody>
      </p:sp>
      <p:sp>
        <p:nvSpPr>
          <p:cNvPr id="217" name="Zone Footbridge"/>
          <p:cNvSpPr/>
          <p:nvPr/>
        </p:nvSpPr>
        <p:spPr>
          <a:xfrm>
            <a:off x="10149840" y="4773168"/>
            <a:ext cx="6675120" cy="530352"/>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Oval 217"/>
          <p:cNvSpPr/>
          <p:nvPr/>
        </p:nvSpPr>
        <p:spPr>
          <a:xfrm>
            <a:off x="10351008" y="4937760"/>
            <a:ext cx="201168" cy="201168"/>
          </a:xfrm>
          <a:prstGeom prst="ellipse">
            <a:avLst/>
          </a:prstGeom>
          <a:solidFill>
            <a:srgbClr val="5BD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18"/>
          <p:cNvSpPr txBox="1"/>
          <p:nvPr/>
        </p:nvSpPr>
        <p:spPr>
          <a:xfrm>
            <a:off x="10698480" y="4773168"/>
            <a:ext cx="192024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1" i="0">
                <a:solidFill>
                  <a:srgbClr val="FDF9E0"/>
                </a:solidFill>
                <a:latin typeface="Arial"/>
              </a:rPr>
              <a:t>Footbridge</a:t>
            </a:r>
          </a:p>
        </p:txBody>
      </p:sp>
      <p:sp>
        <p:nvSpPr>
          <p:cNvPr id="220" name="TextBox 219"/>
          <p:cNvSpPr txBox="1"/>
          <p:nvPr/>
        </p:nvSpPr>
        <p:spPr>
          <a:xfrm>
            <a:off x="12573000" y="4773168"/>
            <a:ext cx="137160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0.8 /m²</a:t>
            </a:r>
          </a:p>
        </p:txBody>
      </p:sp>
      <p:sp>
        <p:nvSpPr>
          <p:cNvPr id="221" name="Status Footbridge"/>
          <p:cNvSpPr/>
          <p:nvPr/>
        </p:nvSpPr>
        <p:spPr>
          <a:xfrm>
            <a:off x="14447520" y="4864608"/>
            <a:ext cx="2240280" cy="347472"/>
          </a:xfrm>
          <a:prstGeom prst="roundRect">
            <a:avLst>
              <a:gd name="adj" fmla="val 50000"/>
            </a:avLst>
          </a:prstGeom>
          <a:solidFill>
            <a:srgbClr val="5BD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2" name="TextBox 221"/>
          <p:cNvSpPr txBox="1"/>
          <p:nvPr/>
        </p:nvSpPr>
        <p:spPr>
          <a:xfrm>
            <a:off x="14447520" y="4864608"/>
            <a:ext cx="2240280" cy="347472"/>
          </a:xfrm>
          <a:prstGeom prst="rect">
            <a:avLst/>
          </a:prstGeom>
          <a:noFill/>
        </p:spPr>
        <p:txBody>
          <a:bodyPr wrap="square" lIns="0" tIns="0" rIns="0" bIns="0" anchor="ctr">
            <a:noAutofit/>
          </a:bodyPr>
          <a:lstStyle/>
          <a:p>
            <a:pPr algn="ctr">
              <a:lnSpc>
                <a:spcPct val="100000"/>
              </a:lnSpc>
              <a:spcBef>
                <a:spcPts val="0"/>
              </a:spcBef>
              <a:spcAft>
                <a:spcPts val="0"/>
              </a:spcAft>
            </a:pPr>
            <a:r>
              <a:rPr sz="1400" b="1" i="0">
                <a:solidFill>
                  <a:srgbClr val="1E1E1E"/>
                </a:solidFill>
                <a:latin typeface="Arial"/>
              </a:rPr>
              <a:t>SAFE</a:t>
            </a:r>
          </a:p>
        </p:txBody>
      </p:sp>
      <p:sp>
        <p:nvSpPr>
          <p:cNvPr id="223" name="Alert card"/>
          <p:cNvSpPr/>
          <p:nvPr/>
        </p:nvSpPr>
        <p:spPr>
          <a:xfrm>
            <a:off x="10149840" y="5468112"/>
            <a:ext cx="6675120" cy="2418588"/>
          </a:xfrm>
          <a:prstGeom prst="roundRect">
            <a:avLst>
              <a:gd name="adj" fmla="val 6000"/>
            </a:avLst>
          </a:prstGeom>
          <a:solidFill>
            <a:srgbClr val="4A2B28"/>
          </a:solidFill>
          <a:ln w="31750">
            <a:solidFill>
              <a:srgbClr val="FF5A4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4" name="Picture 223" descr="bell-cream.png"/>
          <p:cNvPicPr>
            <a:picLocks noChangeAspect="1"/>
          </p:cNvPicPr>
          <p:nvPr/>
        </p:nvPicPr>
        <p:blipFill>
          <a:blip r:embed="rId12"/>
          <a:stretch>
            <a:fillRect/>
          </a:stretch>
        </p:blipFill>
        <p:spPr>
          <a:xfrm>
            <a:off x="10424160" y="5696712"/>
            <a:ext cx="365760" cy="365760"/>
          </a:xfrm>
          <a:prstGeom prst="rect">
            <a:avLst/>
          </a:prstGeom>
        </p:spPr>
      </p:pic>
      <p:sp>
        <p:nvSpPr>
          <p:cNvPr id="225" name="TextBox 224"/>
          <p:cNvSpPr txBox="1"/>
          <p:nvPr/>
        </p:nvSpPr>
        <p:spPr>
          <a:xfrm>
            <a:off x="10927080" y="5605272"/>
            <a:ext cx="5669280" cy="457200"/>
          </a:xfrm>
          <a:prstGeom prst="rect">
            <a:avLst/>
          </a:prstGeom>
          <a:noFill/>
        </p:spPr>
        <p:txBody>
          <a:bodyPr wrap="square" lIns="0" tIns="0" rIns="0" bIns="0" anchor="ctr">
            <a:noAutofit/>
          </a:bodyPr>
          <a:lstStyle/>
          <a:p>
            <a:pPr algn="l">
              <a:lnSpc>
                <a:spcPct val="100000"/>
              </a:lnSpc>
              <a:spcBef>
                <a:spcPts val="0"/>
              </a:spcBef>
              <a:spcAft>
                <a:spcPts val="0"/>
              </a:spcAft>
            </a:pPr>
            <a:r>
              <a:rPr sz="2200" b="1" i="0">
                <a:solidFill>
                  <a:srgbClr val="FF5A4E"/>
                </a:solidFill>
                <a:latin typeface="Arial"/>
              </a:rPr>
              <a:t>CRITICAL  ·  Platform 1</a:t>
            </a:r>
          </a:p>
        </p:txBody>
      </p:sp>
      <p:sp>
        <p:nvSpPr>
          <p:cNvPr id="226" name="TextBox 225"/>
          <p:cNvSpPr txBox="1"/>
          <p:nvPr/>
        </p:nvSpPr>
        <p:spPr>
          <a:xfrm>
            <a:off x="10424160" y="6089904"/>
            <a:ext cx="6126480" cy="347472"/>
          </a:xfrm>
          <a:prstGeom prst="rect">
            <a:avLst/>
          </a:prstGeom>
          <a:noFill/>
        </p:spPr>
        <p:txBody>
          <a:bodyPr wrap="square" lIns="0" tIns="0" rIns="0" bIns="0" anchor="ctr">
            <a:noAutofit/>
          </a:bodyPr>
          <a:lstStyle/>
          <a:p>
            <a:pPr algn="l">
              <a:lnSpc>
                <a:spcPct val="100000"/>
              </a:lnSpc>
              <a:spcBef>
                <a:spcPts val="0"/>
              </a:spcBef>
              <a:spcAft>
                <a:spcPts val="0"/>
              </a:spcAft>
            </a:pPr>
            <a:r>
              <a:rPr sz="1800" b="0" i="0">
                <a:solidFill>
                  <a:srgbClr val="FDF9E0"/>
                </a:solidFill>
                <a:latin typeface="Arial"/>
              </a:rPr>
              <a:t>6.4 /m², crowd surging, person on tracks</a:t>
            </a:r>
          </a:p>
        </p:txBody>
      </p:sp>
      <p:sp>
        <p:nvSpPr>
          <p:cNvPr id="227" name="TextBox 226"/>
          <p:cNvSpPr txBox="1"/>
          <p:nvPr/>
        </p:nvSpPr>
        <p:spPr>
          <a:xfrm>
            <a:off x="10424160" y="6455664"/>
            <a:ext cx="6126480" cy="347472"/>
          </a:xfrm>
          <a:prstGeom prst="rect">
            <a:avLst/>
          </a:prstGeom>
          <a:noFill/>
        </p:spPr>
        <p:txBody>
          <a:bodyPr wrap="square" lIns="0" tIns="0" rIns="0" bIns="0" anchor="ctr">
            <a:noAutofit/>
          </a:bodyPr>
          <a:lstStyle/>
          <a:p>
            <a:pPr algn="l">
              <a:lnSpc>
                <a:spcPct val="100000"/>
              </a:lnSpc>
              <a:spcBef>
                <a:spcPts val="0"/>
              </a:spcBef>
              <a:spcAft>
                <a:spcPts val="0"/>
              </a:spcAft>
            </a:pPr>
            <a:r>
              <a:rPr sz="1800" b="1" i="0">
                <a:solidFill>
                  <a:srgbClr val="5BD18B"/>
                </a:solidFill>
                <a:latin typeface="Arial"/>
              </a:rPr>
              <a:t>Accepted: </a:t>
            </a:r>
            <a:r>
              <a:rPr sz="1800" b="0" i="0">
                <a:solidFill>
                  <a:srgbClr val="FDF9E0"/>
                </a:solidFill>
                <a:latin typeface="Arial"/>
              </a:rPr>
              <a:t>RPF Post 2, 60 m away</a:t>
            </a:r>
          </a:p>
        </p:txBody>
      </p:sp>
      <p:sp>
        <p:nvSpPr>
          <p:cNvPr id="228" name="TextBox 227"/>
          <p:cNvSpPr txBox="1"/>
          <p:nvPr/>
        </p:nvSpPr>
        <p:spPr>
          <a:xfrm>
            <a:off x="10424160" y="6821424"/>
            <a:ext cx="6126480" cy="347472"/>
          </a:xfrm>
          <a:prstGeom prst="rect">
            <a:avLst/>
          </a:prstGeom>
          <a:noFill/>
        </p:spPr>
        <p:txBody>
          <a:bodyPr wrap="square" lIns="0" tIns="0" rIns="0" bIns="0" anchor="ctr">
            <a:noAutofit/>
          </a:bodyPr>
          <a:lstStyle/>
          <a:p>
            <a:pPr algn="l">
              <a:lnSpc>
                <a:spcPct val="100000"/>
              </a:lnSpc>
              <a:spcBef>
                <a:spcPts val="0"/>
              </a:spcBef>
              <a:spcAft>
                <a:spcPts val="0"/>
              </a:spcAft>
            </a:pPr>
            <a:r>
              <a:rPr sz="1800" b="1" i="0">
                <a:solidFill>
                  <a:srgbClr val="FF9A1F"/>
                </a:solidFill>
                <a:latin typeface="Arial"/>
              </a:rPr>
              <a:t>Do now: </a:t>
            </a:r>
            <a:r>
              <a:rPr sz="1800" b="0" i="0">
                <a:solidFill>
                  <a:srgbClr val="FDF9E0"/>
                </a:solidFill>
                <a:latin typeface="Arial"/>
              </a:rPr>
              <a:t>route to footbridge; PA is on</a:t>
            </a:r>
          </a:p>
        </p:txBody>
      </p:sp>
      <p:sp>
        <p:nvSpPr>
          <p:cNvPr id="229" name="Button medical"/>
          <p:cNvSpPr/>
          <p:nvPr/>
        </p:nvSpPr>
        <p:spPr>
          <a:xfrm>
            <a:off x="10424160" y="7292340"/>
            <a:ext cx="2971800" cy="429768"/>
          </a:xfrm>
          <a:prstGeom prst="roundRect">
            <a:avLst>
              <a:gd name="adj" fmla="val 20000"/>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TextBox 229"/>
          <p:cNvSpPr txBox="1"/>
          <p:nvPr/>
        </p:nvSpPr>
        <p:spPr>
          <a:xfrm>
            <a:off x="10424160" y="7292340"/>
            <a:ext cx="2971800" cy="429768"/>
          </a:xfrm>
          <a:prstGeom prst="rect">
            <a:avLst/>
          </a:prstGeom>
          <a:noFill/>
        </p:spPr>
        <p:txBody>
          <a:bodyPr wrap="square" lIns="0" tIns="0" rIns="0" bIns="0" anchor="ctr">
            <a:noAutofit/>
          </a:bodyPr>
          <a:lstStyle/>
          <a:p>
            <a:pPr algn="ctr">
              <a:lnSpc>
                <a:spcPct val="100000"/>
              </a:lnSpc>
              <a:spcBef>
                <a:spcPts val="0"/>
              </a:spcBef>
              <a:spcAft>
                <a:spcPts val="0"/>
              </a:spcAft>
            </a:pPr>
            <a:r>
              <a:rPr sz="1600" b="1" i="0">
                <a:solidFill>
                  <a:srgbClr val="1E1E1E"/>
                </a:solidFill>
                <a:latin typeface="Arial"/>
              </a:rPr>
              <a:t>Also send medical</a:t>
            </a:r>
          </a:p>
        </p:txBody>
      </p:sp>
      <p:sp>
        <p:nvSpPr>
          <p:cNvPr id="231" name="Button ack"/>
          <p:cNvSpPr/>
          <p:nvPr/>
        </p:nvSpPr>
        <p:spPr>
          <a:xfrm>
            <a:off x="13578840" y="7292340"/>
            <a:ext cx="2971800" cy="429768"/>
          </a:xfrm>
          <a:prstGeom prst="roundRect">
            <a:avLst>
              <a:gd name="adj" fmla="val 20000"/>
            </a:avLst>
          </a:prstGeom>
          <a:noFill/>
          <a:ln w="19050">
            <a:solidFill>
              <a:srgbClr val="FDF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TextBox 231"/>
          <p:cNvSpPr txBox="1"/>
          <p:nvPr/>
        </p:nvSpPr>
        <p:spPr>
          <a:xfrm>
            <a:off x="13578840" y="7292340"/>
            <a:ext cx="2971800" cy="429768"/>
          </a:xfrm>
          <a:prstGeom prst="rect">
            <a:avLst/>
          </a:prstGeom>
          <a:noFill/>
        </p:spPr>
        <p:txBody>
          <a:bodyPr wrap="square" lIns="0" tIns="0" rIns="0" bIns="0" anchor="ctr">
            <a:noAutofit/>
          </a:bodyPr>
          <a:lstStyle/>
          <a:p>
            <a:pPr algn="ctr">
              <a:lnSpc>
                <a:spcPct val="100000"/>
              </a:lnSpc>
              <a:spcBef>
                <a:spcPts val="0"/>
              </a:spcBef>
              <a:spcAft>
                <a:spcPts val="0"/>
              </a:spcAft>
            </a:pPr>
            <a:r>
              <a:rPr sz="1600" b="1" i="0">
                <a:solidFill>
                  <a:srgbClr val="FDF9E0"/>
                </a:solidFill>
                <a:latin typeface="Arial"/>
              </a:rPr>
              <a:t>Acknowledge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201"/>
        <p:cNvGrpSpPr/>
        <p:nvPr/>
      </p:nvGrpSpPr>
      <p:grpSpPr>
        <a:xfrm>
          <a:off x="0" y="0"/>
          <a:ext cx="0" cy="0"/>
          <a:chOff x="0" y="0"/>
          <a:chExt cx="0" cy="0"/>
        </a:xfrm>
      </p:grpSpPr>
      <p:sp>
        <p:nvSpPr>
          <p:cNvPr id="202" name="Google Shape;202;p9"/>
          <p:cNvSpPr/>
          <p:nvPr/>
        </p:nvSpPr>
        <p:spPr>
          <a:xfrm>
            <a:off x="-274131" y="-311289"/>
            <a:ext cx="2731199" cy="2731200"/>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3" name="Google Shape;203;p9"/>
          <p:cNvSpPr/>
          <p:nvPr/>
        </p:nvSpPr>
        <p:spPr>
          <a:xfrm>
            <a:off x="5455878" y="7182583"/>
            <a:ext cx="971090" cy="1339433"/>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4" name="Google Shape;204;p9"/>
          <p:cNvSpPr/>
          <p:nvPr/>
        </p:nvSpPr>
        <p:spPr>
          <a:xfrm>
            <a:off x="-1599929" y="4779066"/>
            <a:ext cx="6342222" cy="56445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5" name="Google Shape;205;p9"/>
          <p:cNvSpPr/>
          <p:nvPr/>
        </p:nvSpPr>
        <p:spPr>
          <a:xfrm flipH="1">
            <a:off x="13544441" y="4779066"/>
            <a:ext cx="6342222" cy="56445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6" name="Google Shape;206;p9"/>
          <p:cNvSpPr/>
          <p:nvPr/>
        </p:nvSpPr>
        <p:spPr>
          <a:xfrm flipH="1">
            <a:off x="16200370" y="-311289"/>
            <a:ext cx="2731200" cy="2731200"/>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7" name="Google Shape;207;p9"/>
          <p:cNvSpPr/>
          <p:nvPr/>
        </p:nvSpPr>
        <p:spPr>
          <a:xfrm flipH="1">
            <a:off x="12025121" y="7182583"/>
            <a:ext cx="971089" cy="1339433"/>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8" name="Google Shape;208;p9"/>
          <p:cNvSpPr txBox="1"/>
          <p:nvPr/>
        </p:nvSpPr>
        <p:spPr>
          <a:xfrm>
            <a:off x="2816311" y="3499290"/>
            <a:ext cx="12655378" cy="1740492"/>
          </a:xfrm>
          <a:prstGeom prst="rect">
            <a:avLst/>
          </a:prstGeom>
          <a:noFill/>
          <a:ln>
            <a:noFill/>
          </a:ln>
        </p:spPr>
        <p:txBody>
          <a:bodyPr spcFirstLastPara="1" wrap="square" lIns="0" tIns="0" rIns="0" bIns="0" anchor="t" anchorCtr="0">
            <a:spAutoFit/>
          </a:bodyPr>
          <a:lstStyle/>
          <a:p>
            <a:pPr marL="0" marR="0" lvl="0" indent="0" algn="ctr" rtl="0">
              <a:lnSpc>
                <a:spcPct val="69142"/>
              </a:lnSpc>
              <a:spcBef>
                <a:spcPts val="0"/>
              </a:spcBef>
              <a:spcAft>
                <a:spcPts val="0"/>
              </a:spcAft>
              <a:buClr>
                <a:srgbClr val="FDF9E0"/>
              </a:buClr>
              <a:buSzPts val="17500"/>
              <a:buFont typeface="Arial"/>
              <a:buNone/>
            </a:pPr>
            <a:r>
              <a:rPr lang="en-US" sz="17500" b="0" i="0" u="none" strike="noStrike" cap="none">
                <a:solidFill>
                  <a:srgbClr val="FDF9E0"/>
                </a:solidFill>
                <a:latin typeface="Arial"/>
                <a:ea typeface="Arial"/>
                <a:cs typeface="Arial"/>
                <a:sym typeface="Arial"/>
              </a:rPr>
              <a:t>Thank You!</a:t>
            </a:r>
            <a:endParaRPr/>
          </a:p>
        </p:txBody>
      </p:sp>
      <p:grpSp>
        <p:nvGrpSpPr>
          <p:cNvPr id="209" name="Google Shape;209;p9"/>
          <p:cNvGrpSpPr/>
          <p:nvPr/>
        </p:nvGrpSpPr>
        <p:grpSpPr>
          <a:xfrm>
            <a:off x="3021811" y="-684124"/>
            <a:ext cx="12244379" cy="2240613"/>
            <a:chOff x="-1" y="-372835"/>
            <a:chExt cx="12244377" cy="2240612"/>
          </a:xfrm>
        </p:grpSpPr>
        <p:sp>
          <p:nvSpPr>
            <p:cNvPr id="210" name="Google Shape;210;p9"/>
            <p:cNvSpPr/>
            <p:nvPr/>
          </p:nvSpPr>
          <p:spPr>
            <a:xfrm>
              <a:off x="9442894" y="0"/>
              <a:ext cx="2801482" cy="1494942"/>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1" name="Google Shape;211;p9"/>
            <p:cNvSpPr/>
            <p:nvPr/>
          </p:nvSpPr>
          <p:spPr>
            <a:xfrm>
              <a:off x="4989372" y="-372835"/>
              <a:ext cx="2243459" cy="224061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2" name="Google Shape;212;p9"/>
            <p:cNvSpPr/>
            <p:nvPr/>
          </p:nvSpPr>
          <p:spPr>
            <a:xfrm>
              <a:off x="-1" y="280132"/>
              <a:ext cx="1939145" cy="823772"/>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213" name="Closing line"/>
          <p:cNvSpPr txBox="1"/>
          <p:nvPr/>
        </p:nvSpPr>
        <p:spPr>
          <a:xfrm>
            <a:off x="5486400" y="5440680"/>
            <a:ext cx="7315200" cy="640080"/>
          </a:xfrm>
          <a:prstGeom prst="rect">
            <a:avLst/>
          </a:prstGeom>
          <a:noFill/>
        </p:spPr>
        <p:txBody>
          <a:bodyPr wrap="square" lIns="0" tIns="0" rIns="0" bIns="0" anchor="ctr">
            <a:noAutofit/>
          </a:bodyPr>
          <a:lstStyle/>
          <a:p>
            <a:pPr algn="ctr">
              <a:lnSpc>
                <a:spcPct val="100000"/>
              </a:lnSpc>
              <a:spcBef>
                <a:spcPts val="0"/>
              </a:spcBef>
              <a:spcAft>
                <a:spcPts val="0"/>
              </a:spcAft>
            </a:pPr>
            <a:r>
              <a:rPr lang="en-IN" sz="3400" b="1" dirty="0">
                <a:solidFill>
                  <a:srgbClr val="FF9A1F"/>
                </a:solidFill>
              </a:rPr>
              <a:t>C</a:t>
            </a:r>
            <a:r>
              <a:rPr lang="en-IN" sz="3400" b="1" i="0" dirty="0">
                <a:solidFill>
                  <a:srgbClr val="FF9A1F"/>
                </a:solidFill>
                <a:latin typeface="Arial"/>
              </a:rPr>
              <a:t>rowd Whisperers</a:t>
            </a:r>
            <a:r>
              <a:rPr sz="3400" b="0" i="0" dirty="0">
                <a:solidFill>
                  <a:srgbClr val="FDF9E0"/>
                </a:solidFill>
                <a:latin typeface="Arial"/>
              </a:rPr>
              <a:t>  ·  Voodoo Vision</a:t>
            </a: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1426</Words>
  <Application>Microsoft Office PowerPoint</Application>
  <PresentationFormat>Custom</PresentationFormat>
  <Paragraphs>140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vt:lpstr>
      <vt:lpstr>Cinzel Decorative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MANAS SIDDHARDHA P</dc:creator>
  <cp:lastModifiedBy>MANAS SIDDHARDHA P</cp:lastModifiedBy>
  <cp:revision>1</cp:revision>
  <dcterms:modified xsi:type="dcterms:W3CDTF">2026-10-17T18:21:38Z</dcterms:modified>
</cp:coreProperties>
</file>
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embeddedFontLst>
    <p:embeddedFont>
      <p:font typeface="Cinzel Decorative"/>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IR1HdRPD32yQtjki5Nw7d1Uil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1E5996-A6A6-40EC-ACF6-EEF7AF9ABF5F}">
  <a:tblStyle styleId="{511E5996-A6A6-40EC-ACF6-EEF7AF9ABF5F}"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CFD7E7"/>
          </a:solidFill>
        </a:fill>
      </a:tcStyle>
    </a:wholeTbl>
    <a:band1H>
      <a:tcTxStyle/>
    </a:band1H>
    <a:band2H>
      <a:tcTxStyle b="off" i="off"/>
      <a:tcStyle>
        <a:fill>
          <a:solidFill>
            <a:srgbClr val="E8ECF4"/>
          </a:solidFill>
        </a:fill>
      </a:tcStyle>
    </a:band2H>
    <a:band1V>
      <a:tcTxStyle/>
    </a:band1V>
    <a:band2V>
      <a:tcTxStyle/>
    </a:band2V>
    <a:lastCol>
      <a:tcTxStyle/>
    </a:lastCol>
    <a:firstCol>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firstCol>
    <a:lastRow>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381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lastRow>
    <a:seCell>
      <a:tcTxStyle/>
    </a:seCell>
    <a:swCell>
      <a:tcTxStyle/>
    </a:swCell>
    <a:firstRow>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381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font" Target="fonts/CinzelDecorative-regular.fntdata"/><Relationship Id="rId16" Type="http://schemas.openxmlformats.org/officeDocument/2006/relationships/font" Target="fonts/CinzelDecorative-bold.fntdata"/><Relationship Id="rId1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Hi, we're team ___. Our project is Poltergeist, a crowd-crush early-warning system for the Voodoo Vision track.</a:t>
            </a:r>
          </a:p>
        </p:txBody>
      </p:sp>
      <p:sp>
        <p:nvSpPr>
          <p:cNvPr id="47" name="Google Shape;4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Fill in your team name and each member's name, SRN, email and phone in the table.</a:t>
            </a:r>
          </a:p>
        </p:txBody>
      </p:sp>
      <p:sp>
        <p:nvSpPr>
          <p:cNvPr id="66" name="Google Shape;6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Open with Chinnaswamy: 11 people died outside the stadium on 4 June 2025, and the crowd was many times the venue's capacity. It isn't a one-off: Hathras (121, Jul 2024), Tirupati (6, Jan 2025), Maha Kumbh (30, Jan 2025), New Delhi station (18, Feb 2025) and Bengaluru (11, Jun 2025) add up to 186 deaths in 12 months. Sources: PTI, AP and Reuters reports. The gap: cameras are already there, but nobody turns the video into a density number in real time.</a:t>
            </a:r>
          </a:p>
        </p:txBody>
      </p:sp>
      <p:sp>
        <p:nvSpPr>
          <p:cNvPr id="86" name="Google Shape;8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Three things set us apart. One: we give a number, people per square metre per zone, instead of a guard's guess. Two: normal person detectors like YOLO undercount packed crowds, exactly when it matters, so we switch to a density-map model (CSRNet) once a zone gets dense. Three: we read motion with optical flow, because a sudden surge is as dangerous as high density.</a:t>
            </a:r>
          </a:p>
        </p:txBody>
      </p:sp>
      <p:sp>
        <p:nvSpPr>
          <p:cNvPr id="105" name="Google Shape;1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One line: Poltergeist turns any camera into a crowd-crush early-warning system. It counts, maps density, senses surges and warns, so organisers act before people fall.</a:t>
            </a:r>
          </a:p>
        </p:txBody>
      </p:sp>
      <p:sp>
        <p:nvSpPr>
          <p:cNvPr id="124" name="Google Shape;12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Walk the pipeline left to right. The key design choice is step 2: YOLO for sparse areas, a density-map model for packed ones. Zones are drawn once on the camera view with their real area, so counts become people per square metre. Optical flow adds the motion signal. Risk levels: under 4 per m² safe, 4 to 6 warning, above 6 or a sudden surge critical (based on Prof. G. Keith Still's crowd-safety guidance). Everything uses pretrained models, so the 10 hours go into building, not training.</a:t>
            </a:r>
          </a:p>
        </p:txBody>
      </p:sp>
      <p:sp>
        <p:nvSpPr>
          <p:cNvPr id="143" name="Google Shape;14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Everything is open source and pretrained. YOLOv8 for sparse counting, CSRNet or DM-Count for dense crowds, OpenCV optical flow for motion, Streamlit for the dashboard and a Telegram bot for alerts. We check our counts on ShanghaiTech and test surge detection on the UMN dataset and our own campus footage.</a:t>
            </a:r>
          </a:p>
        </p:txBody>
      </p:sp>
      <p:sp>
        <p:nvSpPr>
          <p:cNvPr id="162" name="Google Shape;16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This is the organiser's screen. Left: the camera view with the density heatmap and each zone outlined in its risk colour; the blue arrows are optical flow showing people pushing toward Gate 3. Right: every zone's live density, and the alert that also goes to security's phones on Telegram, with a suggested action.</a:t>
            </a:r>
          </a:p>
        </p:txBody>
      </p:sp>
      <p:sp>
        <p:nvSpPr>
          <p:cNvPr id="181" name="Google Shape;18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Thank the judges and invite questions. Have the demo video ready.</a:t>
            </a:r>
          </a:p>
        </p:txBody>
      </p:sp>
      <p:sp>
        <p:nvSpPr>
          <p:cNvPr id="200" name="Google Shape;20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9" name="Shape 9"/>
        <p:cNvGrpSpPr/>
        <p:nvPr/>
      </p:nvGrpSpPr>
      <p:grpSpPr>
        <a:xfrm>
          <a:off x="0" y="0"/>
          <a:ext cx="0" cy="0"/>
          <a:chOff x="0" y="0"/>
          <a:chExt cx="0" cy="0"/>
        </a:xfrm>
      </p:grpSpPr>
      <p:sp>
        <p:nvSpPr>
          <p:cNvPr id="10" name="Google Shape;10;p11"/>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2"/>
          <p:cNvSpPr txBox="1"/>
          <p:nvPr>
            <p:ph type="title"/>
          </p:nvPr>
        </p:nvSpPr>
        <p:spPr>
          <a:xfrm>
            <a:off x="685800" y="2130425"/>
            <a:ext cx="7772400" cy="1470025"/>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3" name="Google Shape;13;p12"/>
          <p:cNvSpPr txBox="1"/>
          <p:nvPr>
            <p:ph idx="1" type="body"/>
          </p:nvPr>
        </p:nvSpPr>
        <p:spPr>
          <a:xfrm>
            <a:off x="1371600" y="3886200"/>
            <a:ext cx="6400800" cy="175260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700"/>
              </a:spcBef>
              <a:spcAft>
                <a:spcPts val="0"/>
              </a:spcAft>
              <a:buClr>
                <a:srgbClr val="888888"/>
              </a:buClr>
              <a:buSzPts val="3200"/>
              <a:buFont typeface="Calibri"/>
              <a:buNone/>
              <a:defRPr>
                <a:solidFill>
                  <a:srgbClr val="888888"/>
                </a:solidFill>
              </a:defRPr>
            </a:lvl1pPr>
            <a:lvl2pPr indent="-228600" lvl="1" marL="914400" algn="ctr">
              <a:lnSpc>
                <a:spcPct val="100000"/>
              </a:lnSpc>
              <a:spcBef>
                <a:spcPts val="700"/>
              </a:spcBef>
              <a:spcAft>
                <a:spcPts val="0"/>
              </a:spcAft>
              <a:buClr>
                <a:srgbClr val="888888"/>
              </a:buClr>
              <a:buSzPts val="3200"/>
              <a:buFont typeface="Calibri"/>
              <a:buNone/>
              <a:defRPr>
                <a:solidFill>
                  <a:srgbClr val="888888"/>
                </a:solidFill>
              </a:defRPr>
            </a:lvl2pPr>
            <a:lvl3pPr indent="-228600" lvl="2" marL="1371600" algn="ctr">
              <a:lnSpc>
                <a:spcPct val="100000"/>
              </a:lnSpc>
              <a:spcBef>
                <a:spcPts val="700"/>
              </a:spcBef>
              <a:spcAft>
                <a:spcPts val="0"/>
              </a:spcAft>
              <a:buClr>
                <a:srgbClr val="888888"/>
              </a:buClr>
              <a:buSzPts val="3200"/>
              <a:buFont typeface="Calibri"/>
              <a:buNone/>
              <a:defRPr>
                <a:solidFill>
                  <a:srgbClr val="888888"/>
                </a:solidFill>
              </a:defRPr>
            </a:lvl3pPr>
            <a:lvl4pPr indent="-228600" lvl="3" marL="1828800" algn="ctr">
              <a:lnSpc>
                <a:spcPct val="100000"/>
              </a:lnSpc>
              <a:spcBef>
                <a:spcPts val="700"/>
              </a:spcBef>
              <a:spcAft>
                <a:spcPts val="0"/>
              </a:spcAft>
              <a:buClr>
                <a:srgbClr val="888888"/>
              </a:buClr>
              <a:buSzPts val="3200"/>
              <a:buFont typeface="Calibri"/>
              <a:buNone/>
              <a:defRPr>
                <a:solidFill>
                  <a:srgbClr val="888888"/>
                </a:solidFill>
              </a:defRPr>
            </a:lvl4pPr>
            <a:lvl5pPr indent="-228600" lvl="4" marL="2286000" algn="ctr">
              <a:lnSpc>
                <a:spcPct val="100000"/>
              </a:lnSpc>
              <a:spcBef>
                <a:spcPts val="700"/>
              </a:spcBef>
              <a:spcAft>
                <a:spcPts val="0"/>
              </a:spcAft>
              <a:buClr>
                <a:srgbClr val="888888"/>
              </a:buClr>
              <a:buSzPts val="3200"/>
              <a:buFont typeface="Calibri"/>
              <a:buNone/>
              <a:defRPr>
                <a:solidFill>
                  <a:srgbClr val="888888"/>
                </a:solidFill>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14" name="Google Shape;14;p12"/>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3"/>
          <p:cNvSpPr txBox="1"/>
          <p:nvPr>
            <p:ph type="title"/>
          </p:nvPr>
        </p:nvSpPr>
        <p:spPr>
          <a:xfrm>
            <a:off x="457200" y="274638"/>
            <a:ext cx="8229600" cy="1143001"/>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7" name="Google Shape;17;p13"/>
          <p:cNvSpPr txBox="1"/>
          <p:nvPr>
            <p:ph idx="1" type="body"/>
          </p:nvPr>
        </p:nvSpPr>
        <p:spPr>
          <a:xfrm>
            <a:off x="457200" y="1600200"/>
            <a:ext cx="8229600" cy="4525963"/>
          </a:xfrm>
          <a:prstGeom prst="rect">
            <a:avLst/>
          </a:prstGeom>
          <a:noFill/>
          <a:ln>
            <a:noFill/>
          </a:ln>
        </p:spPr>
        <p:txBody>
          <a:bodyPr anchorCtr="0" anchor="t" bIns="45700" lIns="45700" spcFirstLastPara="1" rIns="45700" wrap="square" tIns="45700">
            <a:normAutofit/>
          </a:bodyPr>
          <a:lstStyle>
            <a:lvl1pPr indent="-342900" lvl="0" marL="457200" algn="l">
              <a:lnSpc>
                <a:spcPct val="100000"/>
              </a:lnSpc>
              <a:spcBef>
                <a:spcPts val="700"/>
              </a:spcBef>
              <a:spcAft>
                <a:spcPts val="0"/>
              </a:spcAft>
              <a:buClr>
                <a:srgbClr val="000000"/>
              </a:buClr>
              <a:buSzPts val="1800"/>
              <a:buChar char="•"/>
              <a:defRPr/>
            </a:lvl1pPr>
            <a:lvl2pPr indent="-342900" lvl="1" marL="914400" algn="l">
              <a:lnSpc>
                <a:spcPct val="100000"/>
              </a:lnSpc>
              <a:spcBef>
                <a:spcPts val="700"/>
              </a:spcBef>
              <a:spcAft>
                <a:spcPts val="0"/>
              </a:spcAft>
              <a:buClr>
                <a:srgbClr val="000000"/>
              </a:buClr>
              <a:buSzPts val="1800"/>
              <a:buChar char="–"/>
              <a:defRPr/>
            </a:lvl2pPr>
            <a:lvl3pPr indent="-342900" lvl="2" marL="1371600" algn="l">
              <a:lnSpc>
                <a:spcPct val="100000"/>
              </a:lnSpc>
              <a:spcBef>
                <a:spcPts val="700"/>
              </a:spcBef>
              <a:spcAft>
                <a:spcPts val="0"/>
              </a:spcAft>
              <a:buClr>
                <a:srgbClr val="000000"/>
              </a:buClr>
              <a:buSzPts val="1800"/>
              <a:buChar char="•"/>
              <a:defRPr/>
            </a:lvl3pPr>
            <a:lvl4pPr indent="-342900" lvl="3" marL="1828800" algn="l">
              <a:lnSpc>
                <a:spcPct val="100000"/>
              </a:lnSpc>
              <a:spcBef>
                <a:spcPts val="700"/>
              </a:spcBef>
              <a:spcAft>
                <a:spcPts val="0"/>
              </a:spcAft>
              <a:buClr>
                <a:srgbClr val="000000"/>
              </a:buClr>
              <a:buSzPts val="1800"/>
              <a:buChar char="–"/>
              <a:defRPr/>
            </a:lvl4pPr>
            <a:lvl5pPr indent="-342900" lvl="4" marL="2286000" algn="l">
              <a:lnSpc>
                <a:spcPct val="100000"/>
              </a:lnSpc>
              <a:spcBef>
                <a:spcPts val="700"/>
              </a:spcBef>
              <a:spcAft>
                <a:spcPts val="0"/>
              </a:spcAft>
              <a:buClr>
                <a:srgbClr val="000000"/>
              </a:buClr>
              <a:buSzPts val="1800"/>
              <a:buChar char="»"/>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18" name="Google Shape;18;p13"/>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9" name="Shape 19"/>
        <p:cNvGrpSpPr/>
        <p:nvPr/>
      </p:nvGrpSpPr>
      <p:grpSpPr>
        <a:xfrm>
          <a:off x="0" y="0"/>
          <a:ext cx="0" cy="0"/>
          <a:chOff x="0" y="0"/>
          <a:chExt cx="0" cy="0"/>
        </a:xfrm>
      </p:grpSpPr>
      <p:sp>
        <p:nvSpPr>
          <p:cNvPr id="20" name="Google Shape;20;p14"/>
          <p:cNvSpPr txBox="1"/>
          <p:nvPr>
            <p:ph type="title"/>
          </p:nvPr>
        </p:nvSpPr>
        <p:spPr>
          <a:xfrm>
            <a:off x="722312" y="4406900"/>
            <a:ext cx="7772401" cy="1362075"/>
          </a:xfrm>
          <a:prstGeom prst="rect">
            <a:avLst/>
          </a:prstGeom>
          <a:noFill/>
          <a:ln>
            <a:noFill/>
          </a:ln>
        </p:spPr>
        <p:txBody>
          <a:bodyPr anchorCtr="0" anchor="t" bIns="45700" lIns="45700" spcFirstLastPara="1" rIns="45700" wrap="square" tIns="45700">
            <a:normAutofit/>
          </a:bodyPr>
          <a:lstStyle>
            <a:lvl1pPr lvl="0" algn="l">
              <a:lnSpc>
                <a:spcPct val="100000"/>
              </a:lnSpc>
              <a:spcBef>
                <a:spcPts val="0"/>
              </a:spcBef>
              <a:spcAft>
                <a:spcPts val="0"/>
              </a:spcAft>
              <a:buClr>
                <a:srgbClr val="000000"/>
              </a:buClr>
              <a:buSzPts val="4000"/>
              <a:buFont typeface="Calibri"/>
              <a:buNone/>
              <a:defRPr b="1" sz="4000" cap="none"/>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1" name="Google Shape;21;p14"/>
          <p:cNvSpPr txBox="1"/>
          <p:nvPr>
            <p:ph idx="1" type="body"/>
          </p:nvPr>
        </p:nvSpPr>
        <p:spPr>
          <a:xfrm>
            <a:off x="722312" y="2906713"/>
            <a:ext cx="7772401" cy="1500188"/>
          </a:xfrm>
          <a:prstGeom prst="rect">
            <a:avLst/>
          </a:prstGeom>
          <a:noFill/>
          <a:ln>
            <a:noFill/>
          </a:ln>
        </p:spPr>
        <p:txBody>
          <a:bodyPr anchorCtr="0" anchor="b" bIns="45700" lIns="45700" spcFirstLastPara="1" rIns="45700" wrap="square" tIns="45700">
            <a:normAutofit/>
          </a:bodyPr>
          <a:lstStyle>
            <a:lvl1pPr indent="-228600" lvl="0" marL="457200" algn="l">
              <a:lnSpc>
                <a:spcPct val="100000"/>
              </a:lnSpc>
              <a:spcBef>
                <a:spcPts val="400"/>
              </a:spcBef>
              <a:spcAft>
                <a:spcPts val="0"/>
              </a:spcAft>
              <a:buClr>
                <a:srgbClr val="888888"/>
              </a:buClr>
              <a:buSzPts val="2000"/>
              <a:buFont typeface="Calibri"/>
              <a:buNone/>
              <a:defRPr sz="2000">
                <a:solidFill>
                  <a:srgbClr val="888888"/>
                </a:solidFill>
              </a:defRPr>
            </a:lvl1pPr>
            <a:lvl2pPr indent="-228600" lvl="1" marL="914400" algn="l">
              <a:lnSpc>
                <a:spcPct val="100000"/>
              </a:lnSpc>
              <a:spcBef>
                <a:spcPts val="400"/>
              </a:spcBef>
              <a:spcAft>
                <a:spcPts val="0"/>
              </a:spcAft>
              <a:buClr>
                <a:srgbClr val="888888"/>
              </a:buClr>
              <a:buSzPts val="2000"/>
              <a:buFont typeface="Calibri"/>
              <a:buNone/>
              <a:defRPr sz="2000">
                <a:solidFill>
                  <a:srgbClr val="888888"/>
                </a:solidFill>
              </a:defRPr>
            </a:lvl2pPr>
            <a:lvl3pPr indent="-228600" lvl="2" marL="1371600" algn="l">
              <a:lnSpc>
                <a:spcPct val="100000"/>
              </a:lnSpc>
              <a:spcBef>
                <a:spcPts val="400"/>
              </a:spcBef>
              <a:spcAft>
                <a:spcPts val="0"/>
              </a:spcAft>
              <a:buClr>
                <a:srgbClr val="888888"/>
              </a:buClr>
              <a:buSzPts val="2000"/>
              <a:buFont typeface="Calibri"/>
              <a:buNone/>
              <a:defRPr sz="2000">
                <a:solidFill>
                  <a:srgbClr val="888888"/>
                </a:solidFill>
              </a:defRPr>
            </a:lvl3pPr>
            <a:lvl4pPr indent="-228600" lvl="3" marL="1828800" algn="l">
              <a:lnSpc>
                <a:spcPct val="100000"/>
              </a:lnSpc>
              <a:spcBef>
                <a:spcPts val="400"/>
              </a:spcBef>
              <a:spcAft>
                <a:spcPts val="0"/>
              </a:spcAft>
              <a:buClr>
                <a:srgbClr val="888888"/>
              </a:buClr>
              <a:buSzPts val="2000"/>
              <a:buFont typeface="Calibri"/>
              <a:buNone/>
              <a:defRPr sz="2000">
                <a:solidFill>
                  <a:srgbClr val="888888"/>
                </a:solidFill>
              </a:defRPr>
            </a:lvl4pPr>
            <a:lvl5pPr indent="-228600" lvl="4" marL="2286000" algn="l">
              <a:lnSpc>
                <a:spcPct val="100000"/>
              </a:lnSpc>
              <a:spcBef>
                <a:spcPts val="400"/>
              </a:spcBef>
              <a:spcAft>
                <a:spcPts val="0"/>
              </a:spcAft>
              <a:buClr>
                <a:srgbClr val="888888"/>
              </a:buClr>
              <a:buSzPts val="2000"/>
              <a:buFont typeface="Calibri"/>
              <a:buNone/>
              <a:defRPr sz="2000">
                <a:solidFill>
                  <a:srgbClr val="888888"/>
                </a:solidFill>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22" name="Google Shape;22;p14"/>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3" name="Shape 23"/>
        <p:cNvGrpSpPr/>
        <p:nvPr/>
      </p:nvGrpSpPr>
      <p:grpSpPr>
        <a:xfrm>
          <a:off x="0" y="0"/>
          <a:ext cx="0" cy="0"/>
          <a:chOff x="0" y="0"/>
          <a:chExt cx="0" cy="0"/>
        </a:xfrm>
      </p:grpSpPr>
      <p:sp>
        <p:nvSpPr>
          <p:cNvPr id="24" name="Google Shape;24;p15"/>
          <p:cNvSpPr txBox="1"/>
          <p:nvPr>
            <p:ph type="title"/>
          </p:nvPr>
        </p:nvSpPr>
        <p:spPr>
          <a:xfrm>
            <a:off x="457200" y="274638"/>
            <a:ext cx="8229600" cy="1143001"/>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5"/>
          <p:cNvSpPr txBox="1"/>
          <p:nvPr>
            <p:ph idx="1" type="body"/>
          </p:nvPr>
        </p:nvSpPr>
        <p:spPr>
          <a:xfrm>
            <a:off x="457200" y="1600200"/>
            <a:ext cx="4038600" cy="4525963"/>
          </a:xfrm>
          <a:prstGeom prst="rect">
            <a:avLst/>
          </a:prstGeom>
          <a:noFill/>
          <a:ln>
            <a:noFill/>
          </a:ln>
        </p:spPr>
        <p:txBody>
          <a:bodyPr anchorCtr="0" anchor="t" bIns="45700" lIns="45700" spcFirstLastPara="1" rIns="45700" wrap="square" tIns="45700">
            <a:normAutofit/>
          </a:bodyPr>
          <a:lstStyle>
            <a:lvl1pPr indent="-406400" lvl="0" marL="457200" algn="l">
              <a:lnSpc>
                <a:spcPct val="100000"/>
              </a:lnSpc>
              <a:spcBef>
                <a:spcPts val="600"/>
              </a:spcBef>
              <a:spcAft>
                <a:spcPts val="0"/>
              </a:spcAft>
              <a:buClr>
                <a:srgbClr val="000000"/>
              </a:buClr>
              <a:buSzPts val="2800"/>
              <a:buChar char="•"/>
              <a:defRPr sz="2800"/>
            </a:lvl1pPr>
            <a:lvl2pPr indent="-406400" lvl="1" marL="914400" algn="l">
              <a:lnSpc>
                <a:spcPct val="100000"/>
              </a:lnSpc>
              <a:spcBef>
                <a:spcPts val="600"/>
              </a:spcBef>
              <a:spcAft>
                <a:spcPts val="0"/>
              </a:spcAft>
              <a:buClr>
                <a:srgbClr val="000000"/>
              </a:buClr>
              <a:buSzPts val="2800"/>
              <a:buChar char="–"/>
              <a:defRPr sz="2800"/>
            </a:lvl2pPr>
            <a:lvl3pPr indent="-406400" lvl="2" marL="1371600" algn="l">
              <a:lnSpc>
                <a:spcPct val="100000"/>
              </a:lnSpc>
              <a:spcBef>
                <a:spcPts val="600"/>
              </a:spcBef>
              <a:spcAft>
                <a:spcPts val="0"/>
              </a:spcAft>
              <a:buClr>
                <a:srgbClr val="000000"/>
              </a:buClr>
              <a:buSzPts val="2800"/>
              <a:buChar char="•"/>
              <a:defRPr sz="2800"/>
            </a:lvl3pPr>
            <a:lvl4pPr indent="-406400" lvl="3" marL="1828800" algn="l">
              <a:lnSpc>
                <a:spcPct val="100000"/>
              </a:lnSpc>
              <a:spcBef>
                <a:spcPts val="600"/>
              </a:spcBef>
              <a:spcAft>
                <a:spcPts val="0"/>
              </a:spcAft>
              <a:buClr>
                <a:srgbClr val="000000"/>
              </a:buClr>
              <a:buSzPts val="2800"/>
              <a:buChar char="–"/>
              <a:defRPr sz="2800"/>
            </a:lvl4pPr>
            <a:lvl5pPr indent="-406400" lvl="4" marL="2286000" algn="l">
              <a:lnSpc>
                <a:spcPct val="100000"/>
              </a:lnSpc>
              <a:spcBef>
                <a:spcPts val="600"/>
              </a:spcBef>
              <a:spcAft>
                <a:spcPts val="0"/>
              </a:spcAft>
              <a:buClr>
                <a:srgbClr val="000000"/>
              </a:buClr>
              <a:buSzPts val="2800"/>
              <a:buChar char="»"/>
              <a:defRPr sz="2800"/>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26" name="Google Shape;26;p15"/>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7" name="Shape 27"/>
        <p:cNvGrpSpPr/>
        <p:nvPr/>
      </p:nvGrpSpPr>
      <p:grpSpPr>
        <a:xfrm>
          <a:off x="0" y="0"/>
          <a:ext cx="0" cy="0"/>
          <a:chOff x="0" y="0"/>
          <a:chExt cx="0" cy="0"/>
        </a:xfrm>
      </p:grpSpPr>
      <p:sp>
        <p:nvSpPr>
          <p:cNvPr id="28" name="Google Shape;28;p16"/>
          <p:cNvSpPr txBox="1"/>
          <p:nvPr>
            <p:ph type="title"/>
          </p:nvPr>
        </p:nvSpPr>
        <p:spPr>
          <a:xfrm>
            <a:off x="457200" y="274638"/>
            <a:ext cx="8229600" cy="1143001"/>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9" name="Google Shape;29;p16"/>
          <p:cNvSpPr txBox="1"/>
          <p:nvPr>
            <p:ph idx="1" type="body"/>
          </p:nvPr>
        </p:nvSpPr>
        <p:spPr>
          <a:xfrm>
            <a:off x="457200" y="1535112"/>
            <a:ext cx="4040188" cy="639763"/>
          </a:xfrm>
          <a:prstGeom prst="rect">
            <a:avLst/>
          </a:prstGeom>
          <a:noFill/>
          <a:ln>
            <a:noFill/>
          </a:ln>
        </p:spPr>
        <p:txBody>
          <a:bodyPr anchorCtr="0" anchor="b" bIns="45700" lIns="45700" spcFirstLastPara="1" rIns="45700" wrap="square" tIns="45700">
            <a:normAutofit/>
          </a:bodyPr>
          <a:lstStyle>
            <a:lvl1pPr indent="-228600" lvl="0" marL="457200" algn="l">
              <a:lnSpc>
                <a:spcPct val="100000"/>
              </a:lnSpc>
              <a:spcBef>
                <a:spcPts val="500"/>
              </a:spcBef>
              <a:spcAft>
                <a:spcPts val="0"/>
              </a:spcAft>
              <a:buClr>
                <a:srgbClr val="000000"/>
              </a:buClr>
              <a:buSzPts val="2400"/>
              <a:buFont typeface="Calibri"/>
              <a:buNone/>
              <a:defRPr b="1" sz="2400"/>
            </a:lvl1pPr>
            <a:lvl2pPr indent="-228600" lvl="1" marL="914400" algn="l">
              <a:lnSpc>
                <a:spcPct val="100000"/>
              </a:lnSpc>
              <a:spcBef>
                <a:spcPts val="500"/>
              </a:spcBef>
              <a:spcAft>
                <a:spcPts val="0"/>
              </a:spcAft>
              <a:buClr>
                <a:srgbClr val="000000"/>
              </a:buClr>
              <a:buSzPts val="2400"/>
              <a:buFont typeface="Calibri"/>
              <a:buNone/>
              <a:defRPr b="1" sz="2400"/>
            </a:lvl2pPr>
            <a:lvl3pPr indent="-228600" lvl="2" marL="1371600" algn="l">
              <a:lnSpc>
                <a:spcPct val="100000"/>
              </a:lnSpc>
              <a:spcBef>
                <a:spcPts val="500"/>
              </a:spcBef>
              <a:spcAft>
                <a:spcPts val="0"/>
              </a:spcAft>
              <a:buClr>
                <a:srgbClr val="000000"/>
              </a:buClr>
              <a:buSzPts val="2400"/>
              <a:buFont typeface="Calibri"/>
              <a:buNone/>
              <a:defRPr b="1" sz="2400"/>
            </a:lvl3pPr>
            <a:lvl4pPr indent="-228600" lvl="3" marL="1828800" algn="l">
              <a:lnSpc>
                <a:spcPct val="100000"/>
              </a:lnSpc>
              <a:spcBef>
                <a:spcPts val="500"/>
              </a:spcBef>
              <a:spcAft>
                <a:spcPts val="0"/>
              </a:spcAft>
              <a:buClr>
                <a:srgbClr val="000000"/>
              </a:buClr>
              <a:buSzPts val="2400"/>
              <a:buFont typeface="Calibri"/>
              <a:buNone/>
              <a:defRPr b="1" sz="2400"/>
            </a:lvl4pPr>
            <a:lvl5pPr indent="-228600" lvl="4" marL="2286000" algn="l">
              <a:lnSpc>
                <a:spcPct val="100000"/>
              </a:lnSpc>
              <a:spcBef>
                <a:spcPts val="500"/>
              </a:spcBef>
              <a:spcAft>
                <a:spcPts val="0"/>
              </a:spcAft>
              <a:buClr>
                <a:srgbClr val="000000"/>
              </a:buClr>
              <a:buSzPts val="2400"/>
              <a:buFont typeface="Calibri"/>
              <a:buNone/>
              <a:defRPr b="1" sz="2400"/>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30" name="Google Shape;30;p16"/>
          <p:cNvSpPr txBox="1"/>
          <p:nvPr>
            <p:ph idx="2" type="body"/>
          </p:nvPr>
        </p:nvSpPr>
        <p:spPr>
          <a:xfrm>
            <a:off x="4645025" y="1535112"/>
            <a:ext cx="4041775" cy="639763"/>
          </a:xfrm>
          <a:prstGeom prst="rect">
            <a:avLst/>
          </a:prstGeom>
          <a:noFill/>
          <a:ln>
            <a:noFill/>
          </a:ln>
        </p:spPr>
        <p:txBody>
          <a:bodyPr anchorCtr="0" anchor="b" bIns="45700" lIns="45700" spcFirstLastPara="1" rIns="45700" wrap="square" tIns="45700">
            <a:normAutofit/>
          </a:bodyPr>
          <a:lstStyle>
            <a:lvl1pPr indent="-342900" lvl="0" marL="457200" algn="l">
              <a:lnSpc>
                <a:spcPct val="100000"/>
              </a:lnSpc>
              <a:spcBef>
                <a:spcPts val="700"/>
              </a:spcBef>
              <a:spcAft>
                <a:spcPts val="0"/>
              </a:spcAft>
              <a:buClr>
                <a:srgbClr val="000000"/>
              </a:buClr>
              <a:buSzPts val="1800"/>
              <a:buChar char="•"/>
              <a:defRPr/>
            </a:lvl1pPr>
            <a:lvl2pPr indent="-342900" lvl="1" marL="914400" algn="l">
              <a:lnSpc>
                <a:spcPct val="100000"/>
              </a:lnSpc>
              <a:spcBef>
                <a:spcPts val="700"/>
              </a:spcBef>
              <a:spcAft>
                <a:spcPts val="0"/>
              </a:spcAft>
              <a:buClr>
                <a:srgbClr val="000000"/>
              </a:buClr>
              <a:buSzPts val="1800"/>
              <a:buChar char="–"/>
              <a:defRPr/>
            </a:lvl2pPr>
            <a:lvl3pPr indent="-342900" lvl="2" marL="1371600" algn="l">
              <a:lnSpc>
                <a:spcPct val="100000"/>
              </a:lnSpc>
              <a:spcBef>
                <a:spcPts val="700"/>
              </a:spcBef>
              <a:spcAft>
                <a:spcPts val="0"/>
              </a:spcAft>
              <a:buClr>
                <a:srgbClr val="000000"/>
              </a:buClr>
              <a:buSzPts val="1800"/>
              <a:buChar char="•"/>
              <a:defRPr/>
            </a:lvl3pPr>
            <a:lvl4pPr indent="-342900" lvl="3" marL="1828800" algn="l">
              <a:lnSpc>
                <a:spcPct val="100000"/>
              </a:lnSpc>
              <a:spcBef>
                <a:spcPts val="700"/>
              </a:spcBef>
              <a:spcAft>
                <a:spcPts val="0"/>
              </a:spcAft>
              <a:buClr>
                <a:srgbClr val="000000"/>
              </a:buClr>
              <a:buSzPts val="1800"/>
              <a:buChar char="–"/>
              <a:defRPr/>
            </a:lvl4pPr>
            <a:lvl5pPr indent="-342900" lvl="4" marL="2286000" algn="l">
              <a:lnSpc>
                <a:spcPct val="100000"/>
              </a:lnSpc>
              <a:spcBef>
                <a:spcPts val="700"/>
              </a:spcBef>
              <a:spcAft>
                <a:spcPts val="0"/>
              </a:spcAft>
              <a:buClr>
                <a:srgbClr val="000000"/>
              </a:buClr>
              <a:buSzPts val="1800"/>
              <a:buChar char="»"/>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31" name="Google Shape;31;p16"/>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17"/>
          <p:cNvSpPr txBox="1"/>
          <p:nvPr>
            <p:ph type="title"/>
          </p:nvPr>
        </p:nvSpPr>
        <p:spPr>
          <a:xfrm>
            <a:off x="457200" y="274638"/>
            <a:ext cx="8229600" cy="1143001"/>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4" name="Google Shape;34;p17"/>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5" name="Shape 35"/>
        <p:cNvGrpSpPr/>
        <p:nvPr/>
      </p:nvGrpSpPr>
      <p:grpSpPr>
        <a:xfrm>
          <a:off x="0" y="0"/>
          <a:ext cx="0" cy="0"/>
          <a:chOff x="0" y="0"/>
          <a:chExt cx="0" cy="0"/>
        </a:xfrm>
      </p:grpSpPr>
      <p:sp>
        <p:nvSpPr>
          <p:cNvPr id="36" name="Google Shape;36;p18"/>
          <p:cNvSpPr txBox="1"/>
          <p:nvPr>
            <p:ph type="title"/>
          </p:nvPr>
        </p:nvSpPr>
        <p:spPr>
          <a:xfrm>
            <a:off x="457200" y="273050"/>
            <a:ext cx="3008314" cy="1162050"/>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rgbClr val="000000"/>
              </a:buClr>
              <a:buSzPts val="2000"/>
              <a:buFont typeface="Calibri"/>
              <a:buNone/>
              <a:defRPr b="1" sz="2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7" name="Google Shape;37;p18"/>
          <p:cNvSpPr txBox="1"/>
          <p:nvPr>
            <p:ph idx="1" type="body"/>
          </p:nvPr>
        </p:nvSpPr>
        <p:spPr>
          <a:xfrm>
            <a:off x="3575050" y="273050"/>
            <a:ext cx="5111750" cy="5853113"/>
          </a:xfrm>
          <a:prstGeom prst="rect">
            <a:avLst/>
          </a:prstGeom>
          <a:noFill/>
          <a:ln>
            <a:noFill/>
          </a:ln>
        </p:spPr>
        <p:txBody>
          <a:bodyPr anchorCtr="0" anchor="t" bIns="45700" lIns="45700" spcFirstLastPara="1" rIns="45700" wrap="square" tIns="45700">
            <a:normAutofit/>
          </a:bodyPr>
          <a:lstStyle>
            <a:lvl1pPr indent="-342900" lvl="0" marL="457200" algn="l">
              <a:lnSpc>
                <a:spcPct val="100000"/>
              </a:lnSpc>
              <a:spcBef>
                <a:spcPts val="700"/>
              </a:spcBef>
              <a:spcAft>
                <a:spcPts val="0"/>
              </a:spcAft>
              <a:buClr>
                <a:srgbClr val="000000"/>
              </a:buClr>
              <a:buSzPts val="1800"/>
              <a:buChar char="•"/>
              <a:defRPr/>
            </a:lvl1pPr>
            <a:lvl2pPr indent="-342900" lvl="1" marL="914400" algn="l">
              <a:lnSpc>
                <a:spcPct val="100000"/>
              </a:lnSpc>
              <a:spcBef>
                <a:spcPts val="700"/>
              </a:spcBef>
              <a:spcAft>
                <a:spcPts val="0"/>
              </a:spcAft>
              <a:buClr>
                <a:srgbClr val="000000"/>
              </a:buClr>
              <a:buSzPts val="1800"/>
              <a:buChar char="–"/>
              <a:defRPr/>
            </a:lvl2pPr>
            <a:lvl3pPr indent="-342900" lvl="2" marL="1371600" algn="l">
              <a:lnSpc>
                <a:spcPct val="100000"/>
              </a:lnSpc>
              <a:spcBef>
                <a:spcPts val="700"/>
              </a:spcBef>
              <a:spcAft>
                <a:spcPts val="0"/>
              </a:spcAft>
              <a:buClr>
                <a:srgbClr val="000000"/>
              </a:buClr>
              <a:buSzPts val="1800"/>
              <a:buChar char="•"/>
              <a:defRPr/>
            </a:lvl3pPr>
            <a:lvl4pPr indent="-342900" lvl="3" marL="1828800" algn="l">
              <a:lnSpc>
                <a:spcPct val="100000"/>
              </a:lnSpc>
              <a:spcBef>
                <a:spcPts val="700"/>
              </a:spcBef>
              <a:spcAft>
                <a:spcPts val="0"/>
              </a:spcAft>
              <a:buClr>
                <a:srgbClr val="000000"/>
              </a:buClr>
              <a:buSzPts val="1800"/>
              <a:buChar char="–"/>
              <a:defRPr/>
            </a:lvl4pPr>
            <a:lvl5pPr indent="-342900" lvl="4" marL="2286000" algn="l">
              <a:lnSpc>
                <a:spcPct val="100000"/>
              </a:lnSpc>
              <a:spcBef>
                <a:spcPts val="700"/>
              </a:spcBef>
              <a:spcAft>
                <a:spcPts val="0"/>
              </a:spcAft>
              <a:buClr>
                <a:srgbClr val="000000"/>
              </a:buClr>
              <a:buSzPts val="1800"/>
              <a:buChar char="»"/>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38" name="Google Shape;38;p18"/>
          <p:cNvSpPr txBox="1"/>
          <p:nvPr>
            <p:ph idx="2" type="body"/>
          </p:nvPr>
        </p:nvSpPr>
        <p:spPr>
          <a:xfrm>
            <a:off x="457199" y="1435100"/>
            <a:ext cx="3008315" cy="4691063"/>
          </a:xfrm>
          <a:prstGeom prst="rect">
            <a:avLst/>
          </a:prstGeom>
          <a:noFill/>
          <a:ln>
            <a:noFill/>
          </a:ln>
        </p:spPr>
        <p:txBody>
          <a:bodyPr anchorCtr="0" anchor="t" bIns="45700" lIns="45700" spcFirstLastPara="1" rIns="45700" wrap="square" tIns="45700">
            <a:normAutofit/>
          </a:bodyPr>
          <a:lstStyle>
            <a:lvl1pPr indent="-342900" lvl="0" marL="457200" algn="l">
              <a:lnSpc>
                <a:spcPct val="100000"/>
              </a:lnSpc>
              <a:spcBef>
                <a:spcPts val="700"/>
              </a:spcBef>
              <a:spcAft>
                <a:spcPts val="0"/>
              </a:spcAft>
              <a:buClr>
                <a:srgbClr val="000000"/>
              </a:buClr>
              <a:buSzPts val="1800"/>
              <a:buChar char="•"/>
              <a:defRPr/>
            </a:lvl1pPr>
            <a:lvl2pPr indent="-342900" lvl="1" marL="914400" algn="l">
              <a:lnSpc>
                <a:spcPct val="100000"/>
              </a:lnSpc>
              <a:spcBef>
                <a:spcPts val="700"/>
              </a:spcBef>
              <a:spcAft>
                <a:spcPts val="0"/>
              </a:spcAft>
              <a:buClr>
                <a:srgbClr val="000000"/>
              </a:buClr>
              <a:buSzPts val="1800"/>
              <a:buChar char="–"/>
              <a:defRPr/>
            </a:lvl2pPr>
            <a:lvl3pPr indent="-342900" lvl="2" marL="1371600" algn="l">
              <a:lnSpc>
                <a:spcPct val="100000"/>
              </a:lnSpc>
              <a:spcBef>
                <a:spcPts val="700"/>
              </a:spcBef>
              <a:spcAft>
                <a:spcPts val="0"/>
              </a:spcAft>
              <a:buClr>
                <a:srgbClr val="000000"/>
              </a:buClr>
              <a:buSzPts val="1800"/>
              <a:buChar char="•"/>
              <a:defRPr/>
            </a:lvl3pPr>
            <a:lvl4pPr indent="-342900" lvl="3" marL="1828800" algn="l">
              <a:lnSpc>
                <a:spcPct val="100000"/>
              </a:lnSpc>
              <a:spcBef>
                <a:spcPts val="700"/>
              </a:spcBef>
              <a:spcAft>
                <a:spcPts val="0"/>
              </a:spcAft>
              <a:buClr>
                <a:srgbClr val="000000"/>
              </a:buClr>
              <a:buSzPts val="1800"/>
              <a:buChar char="–"/>
              <a:defRPr/>
            </a:lvl4pPr>
            <a:lvl5pPr indent="-342900" lvl="4" marL="2286000" algn="l">
              <a:lnSpc>
                <a:spcPct val="100000"/>
              </a:lnSpc>
              <a:spcBef>
                <a:spcPts val="700"/>
              </a:spcBef>
              <a:spcAft>
                <a:spcPts val="0"/>
              </a:spcAft>
              <a:buClr>
                <a:srgbClr val="000000"/>
              </a:buClr>
              <a:buSzPts val="1800"/>
              <a:buChar char="»"/>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39" name="Google Shape;39;p18"/>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0" name="Shape 40"/>
        <p:cNvGrpSpPr/>
        <p:nvPr/>
      </p:nvGrpSpPr>
      <p:grpSpPr>
        <a:xfrm>
          <a:off x="0" y="0"/>
          <a:ext cx="0" cy="0"/>
          <a:chOff x="0" y="0"/>
          <a:chExt cx="0" cy="0"/>
        </a:xfrm>
      </p:grpSpPr>
      <p:sp>
        <p:nvSpPr>
          <p:cNvPr id="41" name="Google Shape;41;p19"/>
          <p:cNvSpPr txBox="1"/>
          <p:nvPr>
            <p:ph type="title"/>
          </p:nvPr>
        </p:nvSpPr>
        <p:spPr>
          <a:xfrm>
            <a:off x="1792288" y="4800600"/>
            <a:ext cx="5486401" cy="566738"/>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rgbClr val="000000"/>
              </a:buClr>
              <a:buSzPts val="2000"/>
              <a:buFont typeface="Calibri"/>
              <a:buNone/>
              <a:defRPr b="1" sz="2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2" name="Google Shape;42;p19"/>
          <p:cNvSpPr/>
          <p:nvPr>
            <p:ph idx="2" type="pic"/>
          </p:nvPr>
        </p:nvSpPr>
        <p:spPr>
          <a:xfrm>
            <a:off x="1792288" y="612775"/>
            <a:ext cx="5486401" cy="4114800"/>
          </a:xfrm>
          <a:prstGeom prst="rect">
            <a:avLst/>
          </a:prstGeom>
          <a:noFill/>
          <a:ln>
            <a:noFill/>
          </a:ln>
        </p:spPr>
      </p:sp>
      <p:sp>
        <p:nvSpPr>
          <p:cNvPr id="43" name="Google Shape;43;p19"/>
          <p:cNvSpPr txBox="1"/>
          <p:nvPr>
            <p:ph idx="1" type="body"/>
          </p:nvPr>
        </p:nvSpPr>
        <p:spPr>
          <a:xfrm>
            <a:off x="1792288" y="5367337"/>
            <a:ext cx="5486401" cy="804863"/>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300"/>
              </a:spcBef>
              <a:spcAft>
                <a:spcPts val="0"/>
              </a:spcAft>
              <a:buClr>
                <a:srgbClr val="000000"/>
              </a:buClr>
              <a:buSzPts val="1400"/>
              <a:buFont typeface="Calibri"/>
              <a:buNone/>
              <a:defRPr sz="1400"/>
            </a:lvl1pPr>
            <a:lvl2pPr indent="-228600" lvl="1" marL="914400" algn="l">
              <a:lnSpc>
                <a:spcPct val="100000"/>
              </a:lnSpc>
              <a:spcBef>
                <a:spcPts val="300"/>
              </a:spcBef>
              <a:spcAft>
                <a:spcPts val="0"/>
              </a:spcAft>
              <a:buClr>
                <a:srgbClr val="000000"/>
              </a:buClr>
              <a:buSzPts val="1400"/>
              <a:buFont typeface="Calibri"/>
              <a:buNone/>
              <a:defRPr sz="1400"/>
            </a:lvl2pPr>
            <a:lvl3pPr indent="-228600" lvl="2" marL="1371600" algn="l">
              <a:lnSpc>
                <a:spcPct val="100000"/>
              </a:lnSpc>
              <a:spcBef>
                <a:spcPts val="300"/>
              </a:spcBef>
              <a:spcAft>
                <a:spcPts val="0"/>
              </a:spcAft>
              <a:buClr>
                <a:srgbClr val="000000"/>
              </a:buClr>
              <a:buSzPts val="1400"/>
              <a:buFont typeface="Calibri"/>
              <a:buNone/>
              <a:defRPr sz="1400"/>
            </a:lvl3pPr>
            <a:lvl4pPr indent="-228600" lvl="3" marL="1828800" algn="l">
              <a:lnSpc>
                <a:spcPct val="100000"/>
              </a:lnSpc>
              <a:spcBef>
                <a:spcPts val="300"/>
              </a:spcBef>
              <a:spcAft>
                <a:spcPts val="0"/>
              </a:spcAft>
              <a:buClr>
                <a:srgbClr val="000000"/>
              </a:buClr>
              <a:buSzPts val="1400"/>
              <a:buFont typeface="Calibri"/>
              <a:buNone/>
              <a:defRPr sz="1400"/>
            </a:lvl4pPr>
            <a:lvl5pPr indent="-228600" lvl="4" marL="2286000" algn="l">
              <a:lnSpc>
                <a:spcPct val="100000"/>
              </a:lnSpc>
              <a:spcBef>
                <a:spcPts val="300"/>
              </a:spcBef>
              <a:spcAft>
                <a:spcPts val="0"/>
              </a:spcAft>
              <a:buClr>
                <a:srgbClr val="000000"/>
              </a:buClr>
              <a:buSzPts val="1400"/>
              <a:buFont typeface="Calibri"/>
              <a:buNone/>
              <a:defRPr sz="1400"/>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44" name="Google Shape;44;p19"/>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914400" y="138112"/>
            <a:ext cx="16459200" cy="2262188"/>
          </a:xfrm>
          <a:prstGeom prst="rect">
            <a:avLst/>
          </a:prstGeom>
          <a:noFill/>
          <a:ln>
            <a:noFill/>
          </a:ln>
        </p:spPr>
        <p:txBody>
          <a:bodyPr anchorCtr="0" anchor="ctr" bIns="45700" lIns="45700" spcFirstLastPara="1" rIns="45700" wrap="square" tIns="45700">
            <a:normAutofit/>
          </a:bodyPr>
          <a:lstStyle>
            <a:lvl1pPr lvl="0"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10"/>
          <p:cNvSpPr txBox="1"/>
          <p:nvPr>
            <p:ph idx="1" type="body"/>
          </p:nvPr>
        </p:nvSpPr>
        <p:spPr>
          <a:xfrm>
            <a:off x="914400" y="2400300"/>
            <a:ext cx="16459200" cy="7886700"/>
          </a:xfrm>
          <a:prstGeom prst="rect">
            <a:avLst/>
          </a:prstGeom>
          <a:noFill/>
          <a:ln>
            <a:noFill/>
          </a:ln>
        </p:spPr>
        <p:txBody>
          <a:bodyPr anchorCtr="0" anchor="t" bIns="45700" lIns="45700" spcFirstLastPara="1" rIns="45700" wrap="square" tIns="45700">
            <a:normAutofit/>
          </a:bodyPr>
          <a:lstStyle>
            <a:lvl1pPr indent="-431800" lvl="0" marL="457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1pPr>
            <a:lvl2pPr indent="-431800" lvl="1" marL="914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2pPr>
            <a:lvl3pPr indent="-431800" lvl="2" marL="1371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3pPr>
            <a:lvl4pPr indent="-431800" lvl="3" marL="1828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4pPr>
            <a:lvl5pPr indent="-431800" lvl="4" marL="22860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5pPr>
            <a:lvl6pPr indent="-431800" lvl="5" marL="2743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6pPr>
            <a:lvl7pPr indent="-431800" lvl="6" marL="3200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7pPr>
            <a:lvl8pPr indent="-431800" lvl="7" marL="3657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8pPr>
            <a:lvl9pPr indent="-431800" lvl="8" marL="4114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9pPr>
          </a:lstStyle>
          <a:p/>
        </p:txBody>
      </p:sp>
      <p:sp>
        <p:nvSpPr>
          <p:cNvPr id="8" name="Google Shape;8;p10"/>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3.png"/><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18.png"/><Relationship Id="rId11" Type="http://schemas.openxmlformats.org/officeDocument/2006/relationships/image" Target="../media/image12.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26.png"/><Relationship Id="rId11" Type="http://schemas.openxmlformats.org/officeDocument/2006/relationships/image" Target="../media/image22.png"/><Relationship Id="rId12" Type="http://schemas.openxmlformats.org/officeDocument/2006/relationships/image" Target="../media/image27.png"/><Relationship Id="rId13" Type="http://schemas.openxmlformats.org/officeDocument/2006/relationships/image" Target="../media/image28.png"/><Relationship Id="rId14" Type="http://schemas.openxmlformats.org/officeDocument/2006/relationships/image" Target="../media/image29.png"/><Relationship Id="rId15"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18.png"/><Relationship Id="rId11" Type="http://schemas.openxmlformats.org/officeDocument/2006/relationships/image" Target="../media/image31.png"/><Relationship Id="rId12"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48" name="Shape 48"/>
        <p:cNvGrpSpPr/>
        <p:nvPr/>
      </p:nvGrpSpPr>
      <p:grpSpPr>
        <a:xfrm>
          <a:off x="0" y="0"/>
          <a:ext cx="0" cy="0"/>
          <a:chOff x="0" y="0"/>
          <a:chExt cx="0" cy="0"/>
        </a:xfrm>
      </p:grpSpPr>
      <p:sp>
        <p:nvSpPr>
          <p:cNvPr id="49" name="Google Shape;49;p1"/>
          <p:cNvSpPr/>
          <p:nvPr/>
        </p:nvSpPr>
        <p:spPr>
          <a:xfrm>
            <a:off x="-274131" y="-311289"/>
            <a:ext cx="2731199" cy="2731200"/>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 name="Google Shape;50;p1"/>
          <p:cNvSpPr/>
          <p:nvPr/>
        </p:nvSpPr>
        <p:spPr>
          <a:xfrm>
            <a:off x="5455878" y="7182583"/>
            <a:ext cx="971090" cy="1339433"/>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 name="Google Shape;51;p1"/>
          <p:cNvSpPr/>
          <p:nvPr/>
        </p:nvSpPr>
        <p:spPr>
          <a:xfrm>
            <a:off x="-1599929" y="4779066"/>
            <a:ext cx="6342222" cy="56445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 name="Google Shape;52;p1"/>
          <p:cNvSpPr/>
          <p:nvPr/>
        </p:nvSpPr>
        <p:spPr>
          <a:xfrm flipH="1">
            <a:off x="13544441" y="4779066"/>
            <a:ext cx="6342222" cy="56445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 name="Google Shape;53;p1"/>
          <p:cNvSpPr/>
          <p:nvPr/>
        </p:nvSpPr>
        <p:spPr>
          <a:xfrm flipH="1">
            <a:off x="16200370" y="-311289"/>
            <a:ext cx="2731200" cy="2731200"/>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 name="Google Shape;54;p1"/>
          <p:cNvSpPr/>
          <p:nvPr/>
        </p:nvSpPr>
        <p:spPr>
          <a:xfrm flipH="1">
            <a:off x="12025121" y="7182583"/>
            <a:ext cx="971089" cy="1339433"/>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 name="Google Shape;55;p1"/>
          <p:cNvGrpSpPr/>
          <p:nvPr/>
        </p:nvGrpSpPr>
        <p:grpSpPr>
          <a:xfrm>
            <a:off x="3206536" y="-571969"/>
            <a:ext cx="12244263" cy="2143200"/>
            <a:chOff x="-1" y="-324180"/>
            <a:chExt cx="12244263" cy="2143200"/>
          </a:xfrm>
        </p:grpSpPr>
        <p:sp>
          <p:nvSpPr>
            <p:cNvPr id="56" name="Google Shape;56;p1"/>
            <p:cNvSpPr/>
            <p:nvPr/>
          </p:nvSpPr>
          <p:spPr>
            <a:xfrm>
              <a:off x="9620462" y="77665"/>
              <a:ext cx="2623800" cy="1339500"/>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 name="Google Shape;57;p1"/>
            <p:cNvSpPr/>
            <p:nvPr/>
          </p:nvSpPr>
          <p:spPr>
            <a:xfrm>
              <a:off x="4815760" y="-324181"/>
              <a:ext cx="2243400" cy="2143200"/>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 name="Google Shape;58;p1"/>
            <p:cNvSpPr/>
            <p:nvPr/>
          </p:nvSpPr>
          <p:spPr>
            <a:xfrm>
              <a:off x="-1" y="280132"/>
              <a:ext cx="1939145" cy="823772"/>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9" name="Google Shape;59;p1"/>
          <p:cNvSpPr txBox="1"/>
          <p:nvPr/>
        </p:nvSpPr>
        <p:spPr>
          <a:xfrm>
            <a:off x="7106850" y="2058250"/>
            <a:ext cx="4074300" cy="708000"/>
          </a:xfrm>
          <a:prstGeom prst="rect">
            <a:avLst/>
          </a:prstGeom>
          <a:noFill/>
          <a:ln>
            <a:noFill/>
          </a:ln>
        </p:spPr>
        <p:txBody>
          <a:bodyPr anchorCtr="0" anchor="t" bIns="91425" lIns="91425" spcFirstLastPara="1" rIns="91425" wrap="square" tIns="91425">
            <a:spAutoFit/>
          </a:bodyPr>
          <a:lstStyle/>
          <a:p>
            <a:pPr indent="0" lvl="0" marL="0" rtl="0" algn="ctr">
              <a:lnSpc>
                <a:spcPct val="140000"/>
              </a:lnSpc>
              <a:spcBef>
                <a:spcPts val="4200"/>
              </a:spcBef>
              <a:spcAft>
                <a:spcPts val="4200"/>
              </a:spcAft>
              <a:buNone/>
            </a:pPr>
            <a:r>
              <a:rPr lang="en-US" sz="3400">
                <a:solidFill>
                  <a:srgbClr val="FFFFFF"/>
                </a:solidFill>
                <a:latin typeface="Cinzel Decorative"/>
                <a:ea typeface="Cinzel Decorative"/>
                <a:cs typeface="Cinzel Decorative"/>
                <a:sym typeface="Cinzel Decorative"/>
              </a:rPr>
              <a:t>arch presents</a:t>
            </a:r>
            <a:endParaRPr sz="3400">
              <a:solidFill>
                <a:srgbClr val="FFFFFF"/>
              </a:solidFill>
              <a:latin typeface="Cinzel Decorative"/>
              <a:ea typeface="Cinzel Decorative"/>
              <a:cs typeface="Cinzel Decorative"/>
              <a:sym typeface="Cinzel Decorative"/>
            </a:endParaRPr>
          </a:p>
        </p:txBody>
      </p:sp>
      <p:grpSp>
        <p:nvGrpSpPr>
          <p:cNvPr id="60" name="Google Shape;60;p1"/>
          <p:cNvGrpSpPr/>
          <p:nvPr/>
        </p:nvGrpSpPr>
        <p:grpSpPr>
          <a:xfrm>
            <a:off x="4220972" y="3152042"/>
            <a:ext cx="10215389" cy="3644737"/>
            <a:chOff x="5379931" y="3438250"/>
            <a:chExt cx="7897479" cy="2817732"/>
          </a:xfrm>
        </p:grpSpPr>
        <p:sp>
          <p:nvSpPr>
            <p:cNvPr id="61" name="Google Shape;61;p1"/>
            <p:cNvSpPr txBox="1"/>
            <p:nvPr/>
          </p:nvSpPr>
          <p:spPr>
            <a:xfrm>
              <a:off x="5784900" y="3438250"/>
              <a:ext cx="6718200" cy="800400"/>
            </a:xfrm>
            <a:prstGeom prst="rect">
              <a:avLst/>
            </a:prstGeom>
            <a:noFill/>
            <a:ln>
              <a:noFill/>
            </a:ln>
          </p:spPr>
          <p:txBody>
            <a:bodyPr anchorCtr="0" anchor="t" bIns="118250" lIns="118250" spcFirstLastPara="1" rIns="118250" wrap="square" tIns="118250">
              <a:spAutoFit/>
            </a:bodyPr>
            <a:lstStyle/>
            <a:p>
              <a:pPr indent="0" lvl="0" marL="0" rtl="0" algn="ctr">
                <a:lnSpc>
                  <a:spcPct val="140000"/>
                </a:lnSpc>
                <a:spcBef>
                  <a:spcPts val="5433"/>
                </a:spcBef>
                <a:spcAft>
                  <a:spcPts val="5433"/>
                </a:spcAft>
                <a:buNone/>
              </a:pPr>
              <a:r>
                <a:rPr b="1" lang="en-US" sz="5174">
                  <a:solidFill>
                    <a:srgbClr val="FFFFFF"/>
                  </a:solidFill>
                  <a:latin typeface="Cinzel Decorative"/>
                  <a:ea typeface="Cinzel Decorative"/>
                  <a:cs typeface="Cinzel Decorative"/>
                  <a:sym typeface="Cinzel Decorative"/>
                </a:rPr>
                <a:t>2</a:t>
              </a:r>
              <a:r>
                <a:rPr b="1" baseline="30000" lang="en-US" sz="5174">
                  <a:solidFill>
                    <a:srgbClr val="FFFFFF"/>
                  </a:solidFill>
                  <a:latin typeface="Cinzel Decorative"/>
                  <a:ea typeface="Cinzel Decorative"/>
                  <a:cs typeface="Cinzel Decorative"/>
                  <a:sym typeface="Cinzel Decorative"/>
                </a:rPr>
                <a:t>nd</a:t>
              </a:r>
              <a:r>
                <a:rPr b="1" lang="en-US" sz="5174">
                  <a:solidFill>
                    <a:srgbClr val="FFFFFF"/>
                  </a:solidFill>
                  <a:latin typeface="Cinzel Decorative"/>
                  <a:ea typeface="Cinzel Decorative"/>
                  <a:cs typeface="Cinzel Decorative"/>
                  <a:sym typeface="Cinzel Decorative"/>
                </a:rPr>
                <a:t> edition of</a:t>
              </a:r>
              <a:endParaRPr b="1" sz="5174">
                <a:solidFill>
                  <a:srgbClr val="FFFFFF"/>
                </a:solidFill>
                <a:latin typeface="Cinzel Decorative"/>
                <a:ea typeface="Cinzel Decorative"/>
                <a:cs typeface="Cinzel Decorative"/>
                <a:sym typeface="Cinzel Decorative"/>
              </a:endParaRPr>
            </a:p>
          </p:txBody>
        </p:sp>
        <p:pic>
          <p:nvPicPr>
            <p:cNvPr id="62" name="Google Shape;62;p1"/>
            <p:cNvPicPr preferRelativeResize="0"/>
            <p:nvPr/>
          </p:nvPicPr>
          <p:blipFill>
            <a:blip r:embed="rId9">
              <a:alphaModFix/>
            </a:blip>
            <a:stretch>
              <a:fillRect/>
            </a:stretch>
          </p:blipFill>
          <p:spPr>
            <a:xfrm>
              <a:off x="5379930" y="3616850"/>
              <a:ext cx="7897479" cy="2639132"/>
            </a:xfrm>
            <a:prstGeom prst="rect">
              <a:avLst/>
            </a:prstGeom>
            <a:noFill/>
            <a:ln>
              <a:noFill/>
            </a:ln>
          </p:spPr>
        </p:pic>
        <p:sp>
          <p:nvSpPr>
            <p:cNvPr id="63" name="Google Shape;63;p1"/>
            <p:cNvSpPr txBox="1"/>
            <p:nvPr/>
          </p:nvSpPr>
          <p:spPr>
            <a:xfrm>
              <a:off x="5969563" y="5455575"/>
              <a:ext cx="6718200" cy="800400"/>
            </a:xfrm>
            <a:prstGeom prst="rect">
              <a:avLst/>
            </a:prstGeom>
            <a:noFill/>
            <a:ln>
              <a:noFill/>
            </a:ln>
          </p:spPr>
          <p:txBody>
            <a:bodyPr anchorCtr="0" anchor="t" bIns="118250" lIns="118250" spcFirstLastPara="1" rIns="118250" wrap="square" tIns="118250">
              <a:spAutoFit/>
            </a:bodyPr>
            <a:lstStyle/>
            <a:p>
              <a:pPr indent="0" lvl="0" marL="0" rtl="0" algn="ctr">
                <a:lnSpc>
                  <a:spcPct val="140000"/>
                </a:lnSpc>
                <a:spcBef>
                  <a:spcPts val="5433"/>
                </a:spcBef>
                <a:spcAft>
                  <a:spcPts val="5433"/>
                </a:spcAft>
                <a:buNone/>
              </a:pPr>
              <a:r>
                <a:rPr b="1" lang="en-US" sz="5174">
                  <a:solidFill>
                    <a:srgbClr val="FFFFFF"/>
                  </a:solidFill>
                  <a:latin typeface="Cinzel Decorative"/>
                  <a:ea typeface="Cinzel Decorative"/>
                  <a:cs typeface="Cinzel Decorative"/>
                  <a:sym typeface="Cinzel Decorative"/>
                </a:rPr>
                <a:t>10hr hackathon</a:t>
              </a:r>
              <a:endParaRPr b="1" sz="5174">
                <a:solidFill>
                  <a:srgbClr val="FFFFFF"/>
                </a:solidFill>
                <a:latin typeface="Cinzel Decorative"/>
                <a:ea typeface="Cinzel Decorative"/>
                <a:cs typeface="Cinzel Decorative"/>
                <a:sym typeface="Cinzel Decorative"/>
              </a:endParaRPr>
            </a:p>
          </p:txBody>
        </p:sp>
      </p:grpSp>
      <p:sp>
        <p:nvSpPr>
          <p:cNvPr id="64" name="Project name"/>
          <p:cNvSpPr txBox="1"/>
          <p:nvPr/>
        </p:nvSpPr>
        <p:spPr>
          <a:xfrm>
            <a:off x="6537960" y="7086600"/>
            <a:ext cx="5212080" cy="731520"/>
          </a:xfrm>
          <a:prstGeom prst="rect">
            <a:avLst/>
          </a:prstGeom>
          <a:noFill/>
        </p:spPr>
        <p:txBody>
          <a:bodyPr wrap="square" lIns="0" rIns="0" tIns="0" bIns="0" anchor="ctr">
            <a:noAutofit/>
          </a:bodyPr>
          <a:lstStyle/>
          <a:p>
            <a:pPr algn="ctr">
              <a:lnSpc>
                <a:spcPct val="100000"/>
              </a:lnSpc>
              <a:spcBef>
                <a:spcPts val="0"/>
              </a:spcBef>
              <a:spcAft>
                <a:spcPts val="0"/>
              </a:spcAft>
            </a:pPr>
            <a:r>
              <a:rPr sz="5000" b="1" i="0">
                <a:solidFill>
                  <a:srgbClr val="FF9A1F"/>
                </a:solidFill>
                <a:latin typeface="Arial"/>
              </a:rPr>
              <a:t>POLTERGEIST</a:t>
            </a:r>
          </a:p>
        </p:txBody>
      </p:sp>
      <p:sp>
        <p:nvSpPr>
          <p:cNvPr id="65" name="Project tagline"/>
          <p:cNvSpPr txBox="1"/>
          <p:nvPr/>
        </p:nvSpPr>
        <p:spPr>
          <a:xfrm>
            <a:off x="6537960" y="7818120"/>
            <a:ext cx="5212080" cy="457200"/>
          </a:xfrm>
          <a:prstGeom prst="rect">
            <a:avLst/>
          </a:prstGeom>
          <a:noFill/>
        </p:spPr>
        <p:txBody>
          <a:bodyPr wrap="square" lIns="0" rIns="0" tIns="0" bIns="0" anchor="ctr">
            <a:noAutofit/>
          </a:bodyPr>
          <a:lstStyle/>
          <a:p>
            <a:pPr algn="ctr">
              <a:lnSpc>
                <a:spcPct val="108000"/>
              </a:lnSpc>
              <a:spcBef>
                <a:spcPts val="0"/>
              </a:spcBef>
              <a:spcAft>
                <a:spcPts val="0"/>
              </a:spcAft>
            </a:pPr>
            <a:r>
              <a:rPr sz="2600" b="0" i="0">
                <a:solidFill>
                  <a:srgbClr val="FDF9E0"/>
                </a:solidFill>
                <a:latin typeface="Arial"/>
              </a:rPr>
              <a:t>Crowd-crush early warning</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67" name="Shape 67"/>
        <p:cNvGrpSpPr/>
        <p:nvPr/>
      </p:nvGrpSpPr>
      <p:grpSpPr>
        <a:xfrm>
          <a:off x="0" y="0"/>
          <a:ext cx="0" cy="0"/>
          <a:chOff x="0" y="0"/>
          <a:chExt cx="0" cy="0"/>
        </a:xfrm>
      </p:grpSpPr>
      <p:sp>
        <p:nvSpPr>
          <p:cNvPr id="68" name="Google Shape;68;p2"/>
          <p:cNvSpPr/>
          <p:nvPr/>
        </p:nvSpPr>
        <p:spPr>
          <a:xfrm>
            <a:off x="-768748" y="-853415"/>
            <a:ext cx="3962348" cy="3764230"/>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 name="Google Shape;69;p2"/>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 name="Google Shape;70;p2"/>
          <p:cNvGrpSpPr/>
          <p:nvPr/>
        </p:nvGrpSpPr>
        <p:grpSpPr>
          <a:xfrm>
            <a:off x="2368788" y="8390623"/>
            <a:ext cx="13550424" cy="2179108"/>
            <a:chOff x="0" y="-1"/>
            <a:chExt cx="13550423" cy="2179107"/>
          </a:xfrm>
        </p:grpSpPr>
        <p:sp>
          <p:nvSpPr>
            <p:cNvPr id="71" name="Google Shape;71;p2"/>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 name="Google Shape;72;p2"/>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 name="Google Shape;73;p2"/>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 name="Google Shape;74;p2"/>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5" name="Google Shape;75;p2"/>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6" name="Google Shape;76;p2"/>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 name="Google Shape;77;p2"/>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aphicFrame>
        <p:nvGraphicFramePr>
          <p:cNvPr id="78" name="Google Shape;78;p2"/>
          <p:cNvGraphicFramePr/>
          <p:nvPr/>
        </p:nvGraphicFramePr>
        <p:xfrm>
          <a:off x="1712067" y="3320286"/>
          <a:ext cx="3000000" cy="3000000"/>
        </p:xfrm>
        <a:graphic>
          <a:graphicData uri="http://schemas.openxmlformats.org/drawingml/2006/table">
            <a:tbl>
              <a:tblPr>
                <a:noFill/>
                <a:tableStyleId>{511E5996-A6A6-40EC-ACF6-EEF7AF9ABF5F}</a:tableStyleId>
              </a:tblPr>
              <a:tblGrid>
                <a:gridCol w="3614175"/>
                <a:gridCol w="3614175"/>
                <a:gridCol w="3614175"/>
                <a:gridCol w="3614175"/>
              </a:tblGrid>
              <a:tr h="1033300">
                <a:tc>
                  <a:txBody>
                    <a:bodyPr/>
                    <a:lstStyle/>
                    <a:p>
                      <a:pPr indent="0" lvl="0" marL="0" marR="0" rtl="0" algn="ctr">
                        <a:lnSpc>
                          <a:spcPct val="100000"/>
                        </a:lnSpc>
                        <a:spcBef>
                          <a:spcPts val="0"/>
                        </a:spcBef>
                        <a:spcAft>
                          <a:spcPts val="0"/>
                        </a:spcAft>
                        <a:buClr>
                          <a:srgbClr val="FCF9E2"/>
                        </a:buClr>
                        <a:buSzPts val="3900"/>
                        <a:buFont typeface="Calibri"/>
                        <a:buNone/>
                      </a:pPr>
                      <a:r>
                        <a:rPr lang="en-US" sz="3900" u="none" cap="none" strike="noStrike">
                          <a:solidFill>
                            <a:srgbClr val="FCF9E2"/>
                          </a:solidFill>
                        </a:rPr>
                        <a:t>Name</a:t>
                      </a:r>
                      <a:endParaRPr/>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ctr">
                        <a:lnSpc>
                          <a:spcPct val="100000"/>
                        </a:lnSpc>
                        <a:spcBef>
                          <a:spcPts val="0"/>
                        </a:spcBef>
                        <a:spcAft>
                          <a:spcPts val="0"/>
                        </a:spcAft>
                        <a:buClr>
                          <a:srgbClr val="FCF9E2"/>
                        </a:buClr>
                        <a:buSzPts val="3900"/>
                        <a:buFont typeface="Calibri"/>
                        <a:buNone/>
                      </a:pPr>
                      <a:r>
                        <a:rPr lang="en-US" sz="3900" u="none" cap="none" strike="noStrike">
                          <a:solidFill>
                            <a:srgbClr val="FCF9E2"/>
                          </a:solidFill>
                        </a:rPr>
                        <a:t>SRN/PRN</a:t>
                      </a:r>
                      <a:endParaRPr/>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ctr">
                        <a:lnSpc>
                          <a:spcPct val="100000"/>
                        </a:lnSpc>
                        <a:spcBef>
                          <a:spcPts val="0"/>
                        </a:spcBef>
                        <a:spcAft>
                          <a:spcPts val="0"/>
                        </a:spcAft>
                        <a:buClr>
                          <a:srgbClr val="FCF9E2"/>
                        </a:buClr>
                        <a:buSzPts val="3900"/>
                        <a:buFont typeface="Calibri"/>
                        <a:buNone/>
                      </a:pPr>
                      <a:r>
                        <a:rPr lang="en-US" sz="3900" u="none" cap="none" strike="noStrike">
                          <a:solidFill>
                            <a:srgbClr val="FCF9E2"/>
                          </a:solidFill>
                        </a:rPr>
                        <a:t>Email ID</a:t>
                      </a:r>
                      <a:endParaRPr/>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ctr">
                        <a:lnSpc>
                          <a:spcPct val="100000"/>
                        </a:lnSpc>
                        <a:spcBef>
                          <a:spcPts val="0"/>
                        </a:spcBef>
                        <a:spcAft>
                          <a:spcPts val="0"/>
                        </a:spcAft>
                        <a:buClr>
                          <a:srgbClr val="FCF9E2"/>
                        </a:buClr>
                        <a:buSzPts val="3900"/>
                        <a:buFont typeface="Calibri"/>
                        <a:buNone/>
                      </a:pPr>
                      <a:r>
                        <a:rPr lang="en-US" sz="3900" u="none" cap="none" strike="noStrike">
                          <a:solidFill>
                            <a:srgbClr val="FCF9E2"/>
                          </a:solidFill>
                        </a:rPr>
                        <a:t>Phone Number</a:t>
                      </a:r>
                      <a:endParaRPr/>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r>
              <a:tr h="1015550">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r>
              <a:tr h="1015550">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r>
              <a:tr h="1015550">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r>
              <a:tr h="1015550">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r>
            </a:tbl>
          </a:graphicData>
        </a:graphic>
      </p:graphicFrame>
      <p:sp>
        <p:nvSpPr>
          <p:cNvPr id="79" name="Google Shape;79;p2"/>
          <p:cNvSpPr txBox="1"/>
          <p:nvPr/>
        </p:nvSpPr>
        <p:spPr>
          <a:xfrm>
            <a:off x="1627632" y="1325880"/>
            <a:ext cx="14630400" cy="1737360"/>
          </a:xfrm>
          <a:prstGeom prst="rect">
            <a:avLst/>
          </a:prstGeom>
          <a:noFill/>
          <a:ln>
            <a:noFill/>
          </a:ln>
        </p:spPr>
        <p:txBody>
          <a:bodyPr anchorCtr="0" anchor="t" bIns="0" lIns="0" spcFirstLastPara="1" rIns="0" wrap="square" tIns="0">
            <a:noAutofit/>
          </a:bodyPr>
          <a:lstStyle/>
          <a:p>
            <a:pPr indent="0" lvl="0" marL="0" marR="0" rtl="0" algn="l">
              <a:lnSpc>
                <a:spcPct val="114999"/>
              </a:lnSpc>
              <a:spcBef>
                <a:spcPts val="0"/>
              </a:spcBef>
              <a:spcAft>
                <a:spcPts val="0"/>
              </a:spcAft>
              <a:buClr>
                <a:srgbClr val="FDF9E0"/>
              </a:buClr>
              <a:buSzPts val="6200"/>
              <a:buFont typeface="Arial"/>
              <a:buNone/>
            </a:pPr>
            <a:r>
              <a:rPr b="0" i="0" lang="en-US" sz="5200" u="none" cap="none" strike="noStrike">
                <a:solidFill>
                  <a:srgbClr val="FDF9E0"/>
                </a:solidFill>
                <a:latin typeface="Arial"/>
                <a:ea typeface="Arial"/>
                <a:cs typeface="Arial"/>
                <a:sym typeface="Arial"/>
              </a:rPr>
              <a:t>Team Name:</a:t>
            </a:r>
            <a:br>
              <a:rPr b="0" i="0" lang="en-US" sz="5200" u="none" cap="none" strike="noStrike">
                <a:solidFill>
                  <a:srgbClr val="FDF9E0"/>
                </a:solidFill>
                <a:latin typeface="Arial"/>
                <a:ea typeface="Arial"/>
                <a:cs typeface="Arial"/>
                <a:sym typeface="Arial"/>
              </a:rPr>
            </a:br>
            <a:r>
              <a:rPr b="0" i="0" lang="en-US" sz="5200" u="none" cap="none" strike="noStrike">
                <a:solidFill>
                  <a:srgbClr val="FDF9E0"/>
                </a:solidFill>
                <a:latin typeface="Arial"/>
                <a:ea typeface="Arial"/>
                <a:cs typeface="Arial"/>
                <a:sym typeface="Arial"/>
              </a:rPr>
              <a:t>T</a:t>
            </a:r>
            <a:r>
              <a:rPr lang="en-US" sz="5200">
                <a:solidFill>
                  <a:srgbClr val="FDF9E0"/>
                </a:solidFill>
              </a:rPr>
              <a:t>rack Selected: </a:t>
            </a:r>
            <a:r>
              <a:rPr lang="en-US" sz="5200" b="1">
                <a:solidFill>
                  <a:srgbClr val="FF9A1F"/>
                </a:solidFill>
              </a:rPr>
              <a:t>Voodoo Vision</a:t>
            </a:r>
            <a:r>
              <a:rPr lang="en-US" sz="2800">
                <a:solidFill>
                  <a:srgbClr val="C9C4AC"/>
                </a:solidFill>
              </a:rPr>
              <a:t>  (Computer Vision)</a:t>
            </a:r>
            <a:endParaRPr sz="400"/>
          </a:p>
        </p:txBody>
      </p:sp>
      <p:grpSp>
        <p:nvGrpSpPr>
          <p:cNvPr id="80" name="Google Shape;80;p2"/>
          <p:cNvGrpSpPr/>
          <p:nvPr/>
        </p:nvGrpSpPr>
        <p:grpSpPr>
          <a:xfrm>
            <a:off x="3206536" y="-571969"/>
            <a:ext cx="12244263" cy="2143200"/>
            <a:chOff x="-1" y="-324180"/>
            <a:chExt cx="12244263" cy="2143200"/>
          </a:xfrm>
        </p:grpSpPr>
        <p:sp>
          <p:nvSpPr>
            <p:cNvPr id="81" name="Google Shape;81;p2"/>
            <p:cNvSpPr/>
            <p:nvPr/>
          </p:nvSpPr>
          <p:spPr>
            <a:xfrm>
              <a:off x="9620462" y="77665"/>
              <a:ext cx="2623800" cy="1339500"/>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 name="Google Shape;82;p2"/>
            <p:cNvSpPr/>
            <p:nvPr/>
          </p:nvSpPr>
          <p:spPr>
            <a:xfrm>
              <a:off x="4815760" y="-324181"/>
              <a:ext cx="2243400" cy="2143200"/>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 name="Google Shape;83;p2"/>
            <p:cNvSpPr/>
            <p:nvPr/>
          </p:nvSpPr>
          <p:spPr>
            <a:xfrm>
              <a:off x="-1" y="280132"/>
              <a:ext cx="1939200" cy="823800"/>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87" name="Shape 87"/>
        <p:cNvGrpSpPr/>
        <p:nvPr/>
      </p:nvGrpSpPr>
      <p:grpSpPr>
        <a:xfrm>
          <a:off x="0" y="0"/>
          <a:ext cx="0" cy="0"/>
          <a:chOff x="0" y="0"/>
          <a:chExt cx="0" cy="0"/>
        </a:xfrm>
      </p:grpSpPr>
      <p:sp>
        <p:nvSpPr>
          <p:cNvPr id="88" name="Google Shape;88;p3"/>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 name="Google Shape;89;p3"/>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0" name="Google Shape;90;p3"/>
          <p:cNvGrpSpPr/>
          <p:nvPr/>
        </p:nvGrpSpPr>
        <p:grpSpPr>
          <a:xfrm>
            <a:off x="2368788" y="8390623"/>
            <a:ext cx="13550424" cy="2179108"/>
            <a:chOff x="0" y="-1"/>
            <a:chExt cx="13550423" cy="2179107"/>
          </a:xfrm>
        </p:grpSpPr>
        <p:sp>
          <p:nvSpPr>
            <p:cNvPr id="91" name="Google Shape;91;p3"/>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 name="Google Shape;92;p3"/>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 name="Google Shape;93;p3"/>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 name="Google Shape;94;p3"/>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 name="Google Shape;95;p3"/>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6" name="Google Shape;96;p3"/>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 name="Google Shape;97;p3"/>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8" name="Google Shape;98;p3"/>
          <p:cNvGrpSpPr/>
          <p:nvPr/>
        </p:nvGrpSpPr>
        <p:grpSpPr>
          <a:xfrm>
            <a:off x="3021811" y="-636848"/>
            <a:ext cx="12244379" cy="2035156"/>
            <a:chOff x="-1" y="-325559"/>
            <a:chExt cx="12244377" cy="2035154"/>
          </a:xfrm>
        </p:grpSpPr>
        <p:sp>
          <p:nvSpPr>
            <p:cNvPr id="99" name="Google Shape;99;p3"/>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0" name="Google Shape;100;p3"/>
            <p:cNvSpPr/>
            <p:nvPr/>
          </p:nvSpPr>
          <p:spPr>
            <a:xfrm>
              <a:off x="4933058" y="-325559"/>
              <a:ext cx="2243459" cy="2035154"/>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 name="Google Shape;101;p3"/>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2"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6200"/>
              <a:buFont typeface="Arial"/>
              <a:buNone/>
            </a:pPr>
            <a:r>
              <a:rPr b="1" i="0" lang="en-US" sz="5600" u="none" cap="none" strike="noStrike">
                <a:solidFill>
                  <a:srgbClr val="FDF9E0"/>
                </a:solidFill>
                <a:latin typeface="Arial"/>
                <a:ea typeface="Arial"/>
                <a:cs typeface="Arial"/>
                <a:sym typeface="Arial"/>
              </a:rPr>
              <a:t>Problem Statement</a:t>
            </a:r>
            <a:endParaRPr/>
          </a:p>
        </p:txBody>
      </p:sp>
      <p:sp>
        <p:nvSpPr>
          <p:cNvPr id="103" name="Stat 1"/>
          <p:cNvSpPr/>
          <p:nvPr/>
        </p:nvSpPr>
        <p:spPr>
          <a:xfrm>
            <a:off x="1188720" y="2377440"/>
            <a:ext cx="5120640" cy="22402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1554480" y="2578608"/>
            <a:ext cx="4389120" cy="914400"/>
          </a:xfrm>
          <a:prstGeom prst="rect">
            <a:avLst/>
          </a:prstGeom>
          <a:noFill/>
        </p:spPr>
        <p:txBody>
          <a:bodyPr wrap="square" lIns="0" rIns="0" tIns="0" bIns="0" anchor="ctr">
            <a:noAutofit/>
          </a:bodyPr>
          <a:lstStyle/>
          <a:p>
            <a:pPr algn="l">
              <a:lnSpc>
                <a:spcPct val="100000"/>
              </a:lnSpc>
              <a:spcBef>
                <a:spcPts val="0"/>
              </a:spcBef>
              <a:spcAft>
                <a:spcPts val="0"/>
              </a:spcAft>
            </a:pPr>
            <a:r>
              <a:rPr sz="6200" b="1" i="0">
                <a:solidFill>
                  <a:srgbClr val="FF9A1F"/>
                </a:solidFill>
                <a:latin typeface="Arial"/>
              </a:rPr>
              <a:t>11</a:t>
            </a:r>
          </a:p>
        </p:txBody>
      </p:sp>
      <p:sp>
        <p:nvSpPr>
          <p:cNvPr id="105" name="TextBox 104"/>
          <p:cNvSpPr txBox="1"/>
          <p:nvPr/>
        </p:nvSpPr>
        <p:spPr>
          <a:xfrm>
            <a:off x="1554480" y="3566160"/>
            <a:ext cx="4389120" cy="868680"/>
          </a:xfrm>
          <a:prstGeom prst="rect">
            <a:avLst/>
          </a:prstGeom>
          <a:noFill/>
        </p:spPr>
        <p:txBody>
          <a:bodyPr wrap="square" lIns="0" rIns="0" tIns="0" bIns="0" anchor="t">
            <a:noAutofit/>
          </a:bodyPr>
          <a:lstStyle/>
          <a:p>
            <a:pPr algn="l">
              <a:lnSpc>
                <a:spcPct val="108000"/>
              </a:lnSpc>
              <a:spcBef>
                <a:spcPts val="0"/>
              </a:spcBef>
              <a:spcAft>
                <a:spcPts val="0"/>
              </a:spcAft>
            </a:pPr>
            <a:r>
              <a:rPr sz="2400" b="0" i="0">
                <a:solidFill>
                  <a:srgbClr val="FDF9E0"/>
                </a:solidFill>
                <a:latin typeface="Arial"/>
              </a:rPr>
              <a:t>deaths in the Chinnaswamy Stadium crush, June 2025</a:t>
            </a:r>
          </a:p>
        </p:txBody>
      </p:sp>
      <p:sp>
        <p:nvSpPr>
          <p:cNvPr id="106" name="Stat 2"/>
          <p:cNvSpPr/>
          <p:nvPr/>
        </p:nvSpPr>
        <p:spPr>
          <a:xfrm>
            <a:off x="6583680" y="2377440"/>
            <a:ext cx="5120640" cy="22402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6949440" y="2578608"/>
            <a:ext cx="4389120" cy="914400"/>
          </a:xfrm>
          <a:prstGeom prst="rect">
            <a:avLst/>
          </a:prstGeom>
          <a:noFill/>
        </p:spPr>
        <p:txBody>
          <a:bodyPr wrap="square" lIns="0" rIns="0" tIns="0" bIns="0" anchor="ctr">
            <a:noAutofit/>
          </a:bodyPr>
          <a:lstStyle/>
          <a:p>
            <a:pPr algn="l">
              <a:lnSpc>
                <a:spcPct val="100000"/>
              </a:lnSpc>
              <a:spcBef>
                <a:spcPts val="0"/>
              </a:spcBef>
              <a:spcAft>
                <a:spcPts val="0"/>
              </a:spcAft>
            </a:pPr>
            <a:r>
              <a:rPr sz="6200" b="1" i="0">
                <a:solidFill>
                  <a:srgbClr val="FF9A1F"/>
                </a:solidFill>
                <a:latin typeface="Arial"/>
              </a:rPr>
              <a:t>2–3 lakh</a:t>
            </a:r>
          </a:p>
        </p:txBody>
      </p:sp>
      <p:sp>
        <p:nvSpPr>
          <p:cNvPr id="108" name="TextBox 107"/>
          <p:cNvSpPr txBox="1"/>
          <p:nvPr/>
        </p:nvSpPr>
        <p:spPr>
          <a:xfrm>
            <a:off x="6949440" y="3566160"/>
            <a:ext cx="4389120" cy="868680"/>
          </a:xfrm>
          <a:prstGeom prst="rect">
            <a:avLst/>
          </a:prstGeom>
          <a:noFill/>
        </p:spPr>
        <p:txBody>
          <a:bodyPr wrap="square" lIns="0" rIns="0" tIns="0" bIns="0" anchor="t">
            <a:noAutofit/>
          </a:bodyPr>
          <a:lstStyle/>
          <a:p>
            <a:pPr algn="l">
              <a:lnSpc>
                <a:spcPct val="108000"/>
              </a:lnSpc>
              <a:spcBef>
                <a:spcPts val="0"/>
              </a:spcBef>
              <a:spcAft>
                <a:spcPts val="0"/>
              </a:spcAft>
            </a:pPr>
            <a:r>
              <a:rPr sz="2400" b="0" i="0">
                <a:solidFill>
                  <a:srgbClr val="FDF9E0"/>
                </a:solidFill>
                <a:latin typeface="Arial"/>
              </a:rPr>
              <a:t>fans at a stadium built for 35,000, per Karnataka's CM</a:t>
            </a:r>
          </a:p>
        </p:txBody>
      </p:sp>
      <p:sp>
        <p:nvSpPr>
          <p:cNvPr id="109" name="Stat 3"/>
          <p:cNvSpPr/>
          <p:nvPr/>
        </p:nvSpPr>
        <p:spPr>
          <a:xfrm>
            <a:off x="11978640" y="2377440"/>
            <a:ext cx="5120640" cy="22402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12344400" y="2578608"/>
            <a:ext cx="4389120" cy="914400"/>
          </a:xfrm>
          <a:prstGeom prst="rect">
            <a:avLst/>
          </a:prstGeom>
          <a:noFill/>
        </p:spPr>
        <p:txBody>
          <a:bodyPr wrap="square" lIns="0" rIns="0" tIns="0" bIns="0" anchor="ctr">
            <a:noAutofit/>
          </a:bodyPr>
          <a:lstStyle/>
          <a:p>
            <a:pPr algn="l">
              <a:lnSpc>
                <a:spcPct val="100000"/>
              </a:lnSpc>
              <a:spcBef>
                <a:spcPts val="0"/>
              </a:spcBef>
              <a:spcAft>
                <a:spcPts val="0"/>
              </a:spcAft>
            </a:pPr>
            <a:r>
              <a:rPr sz="6200" b="1" i="0">
                <a:solidFill>
                  <a:srgbClr val="FF9A1F"/>
                </a:solidFill>
                <a:latin typeface="Arial"/>
              </a:rPr>
              <a:t>186</a:t>
            </a:r>
          </a:p>
        </p:txBody>
      </p:sp>
      <p:sp>
        <p:nvSpPr>
          <p:cNvPr id="111" name="TextBox 110"/>
          <p:cNvSpPr txBox="1"/>
          <p:nvPr/>
        </p:nvSpPr>
        <p:spPr>
          <a:xfrm>
            <a:off x="12344400" y="3566160"/>
            <a:ext cx="4389120" cy="868680"/>
          </a:xfrm>
          <a:prstGeom prst="rect">
            <a:avLst/>
          </a:prstGeom>
          <a:noFill/>
        </p:spPr>
        <p:txBody>
          <a:bodyPr wrap="square" lIns="0" rIns="0" tIns="0" bIns="0" anchor="t">
            <a:noAutofit/>
          </a:bodyPr>
          <a:lstStyle/>
          <a:p>
            <a:pPr algn="l">
              <a:lnSpc>
                <a:spcPct val="108000"/>
              </a:lnSpc>
              <a:spcBef>
                <a:spcPts val="0"/>
              </a:spcBef>
              <a:spcAft>
                <a:spcPts val="0"/>
              </a:spcAft>
            </a:pPr>
            <a:r>
              <a:rPr sz="2400" b="0" i="0">
                <a:solidFill>
                  <a:srgbClr val="FDF9E0"/>
                </a:solidFill>
                <a:latin typeface="Arial"/>
              </a:rPr>
              <a:t>deaths in five Indian crowd crushes in just 12 months</a:t>
            </a:r>
          </a:p>
        </p:txBody>
      </p:sp>
      <p:sp>
        <p:nvSpPr>
          <p:cNvPr id="112" name="Why it happens"/>
          <p:cNvSpPr/>
          <p:nvPr/>
        </p:nvSpPr>
        <p:spPr>
          <a:xfrm>
            <a:off x="1188720" y="4892040"/>
            <a:ext cx="7680960" cy="32461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1554480" y="5120640"/>
            <a:ext cx="694944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i="0">
                <a:solidFill>
                  <a:srgbClr val="FF9A1F"/>
                </a:solidFill>
                <a:latin typeface="Arial"/>
              </a:rPr>
              <a:t>Why it keeps happening</a:t>
            </a:r>
          </a:p>
        </p:txBody>
      </p:sp>
      <p:sp>
        <p:nvSpPr>
          <p:cNvPr id="114" name="TextBox 113"/>
          <p:cNvSpPr txBox="1"/>
          <p:nvPr/>
        </p:nvSpPr>
        <p:spPr>
          <a:xfrm>
            <a:off x="1554480" y="5760720"/>
            <a:ext cx="6949440" cy="2286000"/>
          </a:xfrm>
          <a:prstGeom prst="rect">
            <a:avLst/>
          </a:prstGeom>
          <a:noFill/>
        </p:spPr>
        <p:txBody>
          <a:bodyPr wrap="square" lIns="0" rIns="0" tIns="0" bIns="0" anchor="t">
            <a:noAutofit/>
          </a:bodyPr>
          <a:lstStyle/>
          <a:p>
            <a:pPr algn="l" marL="347472" indent="-347472">
              <a:lnSpc>
                <a:spcPct val="106000"/>
              </a:lnSpc>
              <a:spcBef>
                <a:spcPts val="0"/>
              </a:spcBef>
              <a:spcAft>
                <a:spcPts val="1400"/>
              </a:spcAft>
              <a:buClr>
                <a:srgbClr val="FF9A1F"/>
              </a:buClr>
              <a:buSzPct val="100000"/>
              <a:buFont typeface="Arial"/>
              <a:buChar char="•"/>
            </a:pPr>
            <a:r>
              <a:rPr sz="2600" b="0" i="0">
                <a:solidFill>
                  <a:srgbClr val="FDF9E0"/>
                </a:solidFill>
                <a:latin typeface="Arial"/>
              </a:rPr>
              <a:t>No one measures crowd density live</a:t>
            </a:r>
          </a:p>
          <a:p>
            <a:pPr algn="l" marL="347472" indent="-347472">
              <a:lnSpc>
                <a:spcPct val="106000"/>
              </a:lnSpc>
              <a:spcBef>
                <a:spcPts val="0"/>
              </a:spcBef>
              <a:spcAft>
                <a:spcPts val="1400"/>
              </a:spcAft>
              <a:buClr>
                <a:srgbClr val="FF9A1F"/>
              </a:buClr>
              <a:buSzPct val="100000"/>
              <a:buFont typeface="Arial"/>
              <a:buChar char="•"/>
            </a:pPr>
            <a:r>
              <a:rPr sz="2600" b="0" i="0">
                <a:solidFill>
                  <a:srgbClr val="FDF9E0"/>
                </a:solidFill>
                <a:latin typeface="Arial"/>
              </a:rPr>
              <a:t>A crush builds in minutes, with no alarm</a:t>
            </a:r>
          </a:p>
          <a:p>
            <a:pPr algn="l" marL="347472" indent="-347472">
              <a:lnSpc>
                <a:spcPct val="106000"/>
              </a:lnSpc>
              <a:spcBef>
                <a:spcPts val="0"/>
              </a:spcBef>
              <a:spcAft>
                <a:spcPts val="0"/>
              </a:spcAft>
              <a:buClr>
                <a:srgbClr val="FF9A1F"/>
              </a:buClr>
              <a:buSzPct val="100000"/>
              <a:buFont typeface="Arial"/>
              <a:buChar char="•"/>
            </a:pPr>
            <a:r>
              <a:rPr sz="2600" b="0" i="0">
                <a:solidFill>
                  <a:srgbClr val="FDF9E0"/>
                </a:solidFill>
                <a:latin typeface="Arial"/>
              </a:rPr>
              <a:t>Crowd size is guessed by eye at the gates</a:t>
            </a:r>
          </a:p>
        </p:txBody>
      </p:sp>
      <p:sp>
        <p:nvSpPr>
          <p:cNvPr id="115" name="Problem we solve"/>
          <p:cNvSpPr/>
          <p:nvPr/>
        </p:nvSpPr>
        <p:spPr>
          <a:xfrm>
            <a:off x="9144000" y="4892040"/>
            <a:ext cx="7955280" cy="3246120"/>
          </a:xfrm>
          <a:prstGeom prst="roundRect">
            <a:avLst>
              <a:gd name="adj" fmla="val 6000"/>
            </a:avLst>
          </a:prstGeom>
          <a:solidFill>
            <a:srgbClr val="2C2C2C"/>
          </a:solidFill>
          <a:ln w="31750">
            <a:solidFill>
              <a:srgbClr val="FF9A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Oval 115"/>
          <p:cNvSpPr/>
          <p:nvPr/>
        </p:nvSpPr>
        <p:spPr>
          <a:xfrm>
            <a:off x="9509760" y="5138928"/>
            <a:ext cx="731520" cy="73152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7" name="Picture 116" descr="users-dark.png"/>
          <p:cNvPicPr>
            <a:picLocks noChangeAspect="1"/>
          </p:cNvPicPr>
          <p:nvPr/>
        </p:nvPicPr>
        <p:blipFill>
          <a:blip r:embed="rId10"/>
          <a:stretch>
            <a:fillRect/>
          </a:stretch>
        </p:blipFill>
        <p:spPr>
          <a:xfrm>
            <a:off x="9670694" y="5299862"/>
            <a:ext cx="409651" cy="409651"/>
          </a:xfrm>
          <a:prstGeom prst="rect">
            <a:avLst/>
          </a:prstGeom>
        </p:spPr>
      </p:pic>
      <p:sp>
        <p:nvSpPr>
          <p:cNvPr id="118" name="TextBox 117"/>
          <p:cNvSpPr txBox="1"/>
          <p:nvPr/>
        </p:nvSpPr>
        <p:spPr>
          <a:xfrm>
            <a:off x="10424160" y="5138928"/>
            <a:ext cx="6309360" cy="731520"/>
          </a:xfrm>
          <a:prstGeom prst="rect">
            <a:avLst/>
          </a:prstGeom>
          <a:noFill/>
        </p:spPr>
        <p:txBody>
          <a:bodyPr wrap="square" lIns="0" rIns="0" tIns="0" bIns="0" anchor="ctr">
            <a:noAutofit/>
          </a:bodyPr>
          <a:lstStyle/>
          <a:p>
            <a:pPr algn="l">
              <a:lnSpc>
                <a:spcPct val="100000"/>
              </a:lnSpc>
              <a:spcBef>
                <a:spcPts val="0"/>
              </a:spcBef>
              <a:spcAft>
                <a:spcPts val="0"/>
              </a:spcAft>
            </a:pPr>
            <a:r>
              <a:rPr sz="3000" b="1" i="0">
                <a:solidFill>
                  <a:srgbClr val="FF9A1F"/>
                </a:solidFill>
                <a:latin typeface="Arial"/>
              </a:rPr>
              <a:t>The problem we're solving</a:t>
            </a:r>
          </a:p>
        </p:txBody>
      </p:sp>
      <p:sp>
        <p:nvSpPr>
          <p:cNvPr id="119" name="TextBox 118"/>
          <p:cNvSpPr txBox="1"/>
          <p:nvPr/>
        </p:nvSpPr>
        <p:spPr>
          <a:xfrm>
            <a:off x="9509760" y="6080760"/>
            <a:ext cx="7223760" cy="1920240"/>
          </a:xfrm>
          <a:prstGeom prst="rect">
            <a:avLst/>
          </a:prstGeom>
          <a:noFill/>
        </p:spPr>
        <p:txBody>
          <a:bodyPr wrap="square" lIns="0" rIns="0" tIns="0" bIns="0" anchor="t">
            <a:noAutofit/>
          </a:bodyPr>
          <a:lstStyle/>
          <a:p>
            <a:pPr algn="l">
              <a:lnSpc>
                <a:spcPct val="112000"/>
              </a:lnSpc>
              <a:spcBef>
                <a:spcPts val="0"/>
              </a:spcBef>
              <a:spcAft>
                <a:spcPts val="0"/>
              </a:spcAft>
            </a:pPr>
            <a:r>
              <a:rPr sz="2700" b="0" i="0">
                <a:solidFill>
                  <a:srgbClr val="FDF9E0"/>
                </a:solidFill>
                <a:latin typeface="Arial"/>
              </a:rPr>
              <a:t>Organisers can't see danger building inside a crowd until it's too late. They need a live, automatic warning from the cameras they already have.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106" name="Shape 106"/>
        <p:cNvGrpSpPr/>
        <p:nvPr/>
      </p:nvGrpSpPr>
      <p:grpSpPr>
        <a:xfrm>
          <a:off x="0" y="0"/>
          <a:ext cx="0" cy="0"/>
          <a:chOff x="0" y="0"/>
          <a:chExt cx="0" cy="0"/>
        </a:xfrm>
      </p:grpSpPr>
      <p:sp>
        <p:nvSpPr>
          <p:cNvPr id="107" name="Google Shape;107;p4"/>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 name="Google Shape;108;p4"/>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9" name="Google Shape;109;p4"/>
          <p:cNvGrpSpPr/>
          <p:nvPr/>
        </p:nvGrpSpPr>
        <p:grpSpPr>
          <a:xfrm>
            <a:off x="2368788" y="8390623"/>
            <a:ext cx="13550424" cy="2179108"/>
            <a:chOff x="0" y="-1"/>
            <a:chExt cx="13550423" cy="2179107"/>
          </a:xfrm>
        </p:grpSpPr>
        <p:sp>
          <p:nvSpPr>
            <p:cNvPr id="110" name="Google Shape;110;p4"/>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 name="Google Shape;111;p4"/>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 name="Google Shape;112;p4"/>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 name="Google Shape;113;p4"/>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 name="Google Shape;114;p4"/>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5" name="Google Shape;115;p4"/>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 name="Google Shape;116;p4"/>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7" name="Google Shape;117;p4"/>
          <p:cNvGrpSpPr/>
          <p:nvPr/>
        </p:nvGrpSpPr>
        <p:grpSpPr>
          <a:xfrm>
            <a:off x="3021811" y="-661897"/>
            <a:ext cx="12244379" cy="2085254"/>
            <a:chOff x="-1" y="-350608"/>
            <a:chExt cx="12244377" cy="2085253"/>
          </a:xfrm>
        </p:grpSpPr>
        <p:sp>
          <p:nvSpPr>
            <p:cNvPr id="118" name="Google Shape;118;p4"/>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 name="Google Shape;119;p4"/>
            <p:cNvSpPr/>
            <p:nvPr/>
          </p:nvSpPr>
          <p:spPr>
            <a:xfrm>
              <a:off x="4918979" y="-350608"/>
              <a:ext cx="2243460" cy="2085253"/>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 name="Google Shape;120;p4"/>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1"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4700"/>
              <a:buFont typeface="Arial"/>
              <a:buNone/>
            </a:pPr>
            <a:r>
              <a:rPr b="1" i="0" lang="en-US" sz="5600" u="none" cap="none" strike="noStrike">
                <a:solidFill>
                  <a:srgbClr val="FDF9E0"/>
                </a:solidFill>
                <a:latin typeface="Arial"/>
                <a:ea typeface="Arial"/>
                <a:cs typeface="Arial"/>
                <a:sym typeface="Arial"/>
              </a:rPr>
              <a:t>Novelty</a:t>
            </a:r>
            <a:endParaRPr/>
          </a:p>
        </p:txBody>
      </p:sp>
      <p:sp>
        <p:nvSpPr>
          <p:cNvPr id="122" name="TextBox 121"/>
          <p:cNvSpPr txBox="1"/>
          <p:nvPr/>
        </p:nvSpPr>
        <p:spPr>
          <a:xfrm>
            <a:off x="1188720" y="2377440"/>
            <a:ext cx="7772400" cy="548640"/>
          </a:xfrm>
          <a:prstGeom prst="rect">
            <a:avLst/>
          </a:prstGeom>
          <a:noFill/>
        </p:spPr>
        <p:txBody>
          <a:bodyPr wrap="square" lIns="0" rIns="0" tIns="0" bIns="0" anchor="ctr">
            <a:noAutofit/>
          </a:bodyPr>
          <a:lstStyle/>
          <a:p>
            <a:pPr algn="l">
              <a:lnSpc>
                <a:spcPct val="100000"/>
              </a:lnSpc>
              <a:spcBef>
                <a:spcPts val="0"/>
              </a:spcBef>
              <a:spcAft>
                <a:spcPts val="0"/>
              </a:spcAft>
            </a:pPr>
            <a:r>
              <a:rPr sz="3000" b="1" i="0">
                <a:solidFill>
                  <a:srgbClr val="FF9A1F"/>
                </a:solidFill>
                <a:latin typeface="Arial"/>
              </a:rPr>
              <a:t>1  How it's different</a:t>
            </a:r>
          </a:p>
        </p:txBody>
      </p:sp>
      <p:sp>
        <p:nvSpPr>
          <p:cNvPr id="123" name="Difference 1"/>
          <p:cNvSpPr/>
          <p:nvPr/>
        </p:nvSpPr>
        <p:spPr>
          <a:xfrm>
            <a:off x="1188720" y="310896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4" name="Picture 123" descr="times-muted.png"/>
          <p:cNvPicPr>
            <a:picLocks noChangeAspect="1"/>
          </p:cNvPicPr>
          <p:nvPr/>
        </p:nvPicPr>
        <p:blipFill>
          <a:blip r:embed="rId10"/>
          <a:stretch>
            <a:fillRect/>
          </a:stretch>
        </p:blipFill>
        <p:spPr>
          <a:xfrm>
            <a:off x="1508760" y="3383280"/>
            <a:ext cx="292608" cy="292608"/>
          </a:xfrm>
          <a:prstGeom prst="rect">
            <a:avLst/>
          </a:prstGeom>
        </p:spPr>
      </p:pic>
      <p:sp>
        <p:nvSpPr>
          <p:cNvPr id="125" name="TextBox 124"/>
          <p:cNvSpPr txBox="1"/>
          <p:nvPr/>
        </p:nvSpPr>
        <p:spPr>
          <a:xfrm>
            <a:off x="2011680" y="3310128"/>
            <a:ext cx="6675120" cy="438912"/>
          </a:xfrm>
          <a:prstGeom prst="rect">
            <a:avLst/>
          </a:prstGeom>
          <a:noFill/>
        </p:spPr>
        <p:txBody>
          <a:bodyPr wrap="square" lIns="0" rIns="0" tIns="0" bIns="0" anchor="ctr">
            <a:noAutofit/>
          </a:bodyPr>
          <a:lstStyle/>
          <a:p>
            <a:pPr algn="l">
              <a:lnSpc>
                <a:spcPct val="100000"/>
              </a:lnSpc>
              <a:spcBef>
                <a:spcPts val="0"/>
              </a:spcBef>
              <a:spcAft>
                <a:spcPts val="0"/>
              </a:spcAft>
            </a:pPr>
            <a:r>
              <a:rPr sz="2200" b="0" i="0">
                <a:solidFill>
                  <a:srgbClr val="C9C4AC"/>
                </a:solidFill>
                <a:latin typeface="Arial"/>
              </a:rPr>
              <a:t>Today: guards watch CCTV and guess crowd size</a:t>
            </a:r>
          </a:p>
        </p:txBody>
      </p:sp>
      <p:pic>
        <p:nvPicPr>
          <p:cNvPr id="126" name="Picture 125" descr="check-orange.png"/>
          <p:cNvPicPr>
            <a:picLocks noChangeAspect="1"/>
          </p:cNvPicPr>
          <p:nvPr/>
        </p:nvPicPr>
        <p:blipFill>
          <a:blip r:embed="rId11"/>
          <a:stretch>
            <a:fillRect/>
          </a:stretch>
        </p:blipFill>
        <p:spPr>
          <a:xfrm>
            <a:off x="1490472" y="3895344"/>
            <a:ext cx="329184" cy="329184"/>
          </a:xfrm>
          <a:prstGeom prst="rect">
            <a:avLst/>
          </a:prstGeom>
        </p:spPr>
      </p:pic>
      <p:sp>
        <p:nvSpPr>
          <p:cNvPr id="127" name="TextBox 126"/>
          <p:cNvSpPr txBox="1"/>
          <p:nvPr/>
        </p:nvSpPr>
        <p:spPr>
          <a:xfrm>
            <a:off x="2011680" y="3803904"/>
            <a:ext cx="6675120" cy="731520"/>
          </a:xfrm>
          <a:prstGeom prst="rect">
            <a:avLst/>
          </a:prstGeom>
          <a:noFill/>
        </p:spPr>
        <p:txBody>
          <a:bodyPr wrap="square" lIns="0" rIns="0" tIns="0" bIns="0" anchor="t">
            <a:noAutofit/>
          </a:bodyPr>
          <a:lstStyle/>
          <a:p>
            <a:pPr algn="l">
              <a:lnSpc>
                <a:spcPct val="105000"/>
              </a:lnSpc>
              <a:spcBef>
                <a:spcPts val="0"/>
              </a:spcBef>
              <a:spcAft>
                <a:spcPts val="0"/>
              </a:spcAft>
            </a:pPr>
            <a:r>
              <a:rPr sz="2500" b="1" i="0">
                <a:solidFill>
                  <a:srgbClr val="FDF9E0"/>
                </a:solidFill>
                <a:latin typeface="Arial"/>
              </a:rPr>
              <a:t>Measures people per m² in every zone, every second</a:t>
            </a:r>
          </a:p>
        </p:txBody>
      </p:sp>
      <p:sp>
        <p:nvSpPr>
          <p:cNvPr id="128" name="Difference 2"/>
          <p:cNvSpPr/>
          <p:nvPr/>
        </p:nvSpPr>
        <p:spPr>
          <a:xfrm>
            <a:off x="1188720" y="480060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9" name="Picture 128" descr="times-muted.png"/>
          <p:cNvPicPr>
            <a:picLocks noChangeAspect="1"/>
          </p:cNvPicPr>
          <p:nvPr/>
        </p:nvPicPr>
        <p:blipFill>
          <a:blip r:embed="rId10"/>
          <a:stretch>
            <a:fillRect/>
          </a:stretch>
        </p:blipFill>
        <p:spPr>
          <a:xfrm>
            <a:off x="1508760" y="5074920"/>
            <a:ext cx="292608" cy="292608"/>
          </a:xfrm>
          <a:prstGeom prst="rect">
            <a:avLst/>
          </a:prstGeom>
        </p:spPr>
      </p:pic>
      <p:sp>
        <p:nvSpPr>
          <p:cNvPr id="130" name="TextBox 129"/>
          <p:cNvSpPr txBox="1"/>
          <p:nvPr/>
        </p:nvSpPr>
        <p:spPr>
          <a:xfrm>
            <a:off x="2011680" y="5001768"/>
            <a:ext cx="6675120" cy="438912"/>
          </a:xfrm>
          <a:prstGeom prst="rect">
            <a:avLst/>
          </a:prstGeom>
          <a:noFill/>
        </p:spPr>
        <p:txBody>
          <a:bodyPr wrap="square" lIns="0" rIns="0" tIns="0" bIns="0" anchor="ctr">
            <a:noAutofit/>
          </a:bodyPr>
          <a:lstStyle/>
          <a:p>
            <a:pPr algn="l">
              <a:lnSpc>
                <a:spcPct val="100000"/>
              </a:lnSpc>
              <a:spcBef>
                <a:spcPts val="0"/>
              </a:spcBef>
              <a:spcAft>
                <a:spcPts val="0"/>
              </a:spcAft>
            </a:pPr>
            <a:r>
              <a:rPr sz="2200" b="0" i="0">
                <a:solidFill>
                  <a:srgbClr val="C9C4AC"/>
                </a:solidFill>
                <a:latin typeface="Arial"/>
              </a:rPr>
              <a:t>Today: people-counters miss heads in packed crowds</a:t>
            </a:r>
          </a:p>
        </p:txBody>
      </p:sp>
      <p:pic>
        <p:nvPicPr>
          <p:cNvPr id="131" name="Picture 130" descr="check-orange.png"/>
          <p:cNvPicPr>
            <a:picLocks noChangeAspect="1"/>
          </p:cNvPicPr>
          <p:nvPr/>
        </p:nvPicPr>
        <p:blipFill>
          <a:blip r:embed="rId11"/>
          <a:stretch>
            <a:fillRect/>
          </a:stretch>
        </p:blipFill>
        <p:spPr>
          <a:xfrm>
            <a:off x="1490472" y="5586984"/>
            <a:ext cx="329184" cy="329184"/>
          </a:xfrm>
          <a:prstGeom prst="rect">
            <a:avLst/>
          </a:prstGeom>
        </p:spPr>
      </p:pic>
      <p:sp>
        <p:nvSpPr>
          <p:cNvPr id="132" name="TextBox 131"/>
          <p:cNvSpPr txBox="1"/>
          <p:nvPr/>
        </p:nvSpPr>
        <p:spPr>
          <a:xfrm>
            <a:off x="2011680" y="5495544"/>
            <a:ext cx="6675120" cy="731520"/>
          </a:xfrm>
          <a:prstGeom prst="rect">
            <a:avLst/>
          </a:prstGeom>
          <a:noFill/>
        </p:spPr>
        <p:txBody>
          <a:bodyPr wrap="square" lIns="0" rIns="0" tIns="0" bIns="0" anchor="t">
            <a:noAutofit/>
          </a:bodyPr>
          <a:lstStyle/>
          <a:p>
            <a:pPr algn="l">
              <a:lnSpc>
                <a:spcPct val="105000"/>
              </a:lnSpc>
              <a:spcBef>
                <a:spcPts val="0"/>
              </a:spcBef>
              <a:spcAft>
                <a:spcPts val="0"/>
              </a:spcAft>
            </a:pPr>
            <a:r>
              <a:rPr sz="2500" b="1" i="0">
                <a:solidFill>
                  <a:srgbClr val="FDF9E0"/>
                </a:solidFill>
                <a:latin typeface="Arial"/>
              </a:rPr>
              <a:t>Switches to a density-map model when the crowd gets dense</a:t>
            </a:r>
          </a:p>
        </p:txBody>
      </p:sp>
      <p:sp>
        <p:nvSpPr>
          <p:cNvPr id="133" name="Difference 3"/>
          <p:cNvSpPr/>
          <p:nvPr/>
        </p:nvSpPr>
        <p:spPr>
          <a:xfrm>
            <a:off x="1188720" y="649224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4" name="Picture 133" descr="times-muted.png"/>
          <p:cNvPicPr>
            <a:picLocks noChangeAspect="1"/>
          </p:cNvPicPr>
          <p:nvPr/>
        </p:nvPicPr>
        <p:blipFill>
          <a:blip r:embed="rId10"/>
          <a:stretch>
            <a:fillRect/>
          </a:stretch>
        </p:blipFill>
        <p:spPr>
          <a:xfrm>
            <a:off x="1508760" y="6766560"/>
            <a:ext cx="292608" cy="292608"/>
          </a:xfrm>
          <a:prstGeom prst="rect">
            <a:avLst/>
          </a:prstGeom>
        </p:spPr>
      </p:pic>
      <p:sp>
        <p:nvSpPr>
          <p:cNvPr id="135" name="TextBox 134"/>
          <p:cNvSpPr txBox="1"/>
          <p:nvPr/>
        </p:nvSpPr>
        <p:spPr>
          <a:xfrm>
            <a:off x="2011680" y="6693408"/>
            <a:ext cx="6675120" cy="438912"/>
          </a:xfrm>
          <a:prstGeom prst="rect">
            <a:avLst/>
          </a:prstGeom>
          <a:noFill/>
        </p:spPr>
        <p:txBody>
          <a:bodyPr wrap="square" lIns="0" rIns="0" tIns="0" bIns="0" anchor="ctr">
            <a:noAutofit/>
          </a:bodyPr>
          <a:lstStyle/>
          <a:p>
            <a:pPr algn="l">
              <a:lnSpc>
                <a:spcPct val="100000"/>
              </a:lnSpc>
              <a:spcBef>
                <a:spcPts val="0"/>
              </a:spcBef>
              <a:spcAft>
                <a:spcPts val="0"/>
              </a:spcAft>
            </a:pPr>
            <a:r>
              <a:rPr sz="2200" b="0" i="0">
                <a:solidFill>
                  <a:srgbClr val="C9C4AC"/>
                </a:solidFill>
                <a:latin typeface="Arial"/>
              </a:rPr>
              <a:t>Today: systems only count heads</a:t>
            </a:r>
          </a:p>
        </p:txBody>
      </p:sp>
      <p:pic>
        <p:nvPicPr>
          <p:cNvPr id="136" name="Picture 135" descr="check-orange.png"/>
          <p:cNvPicPr>
            <a:picLocks noChangeAspect="1"/>
          </p:cNvPicPr>
          <p:nvPr/>
        </p:nvPicPr>
        <p:blipFill>
          <a:blip r:embed="rId11"/>
          <a:stretch>
            <a:fillRect/>
          </a:stretch>
        </p:blipFill>
        <p:spPr>
          <a:xfrm>
            <a:off x="1490472" y="7278624"/>
            <a:ext cx="329184" cy="329184"/>
          </a:xfrm>
          <a:prstGeom prst="rect">
            <a:avLst/>
          </a:prstGeom>
        </p:spPr>
      </p:pic>
      <p:sp>
        <p:nvSpPr>
          <p:cNvPr id="137" name="TextBox 136"/>
          <p:cNvSpPr txBox="1"/>
          <p:nvPr/>
        </p:nvSpPr>
        <p:spPr>
          <a:xfrm>
            <a:off x="2011680" y="7187184"/>
            <a:ext cx="6675120" cy="731520"/>
          </a:xfrm>
          <a:prstGeom prst="rect">
            <a:avLst/>
          </a:prstGeom>
          <a:noFill/>
        </p:spPr>
        <p:txBody>
          <a:bodyPr wrap="square" lIns="0" rIns="0" tIns="0" bIns="0" anchor="t">
            <a:noAutofit/>
          </a:bodyPr>
          <a:lstStyle/>
          <a:p>
            <a:pPr algn="l">
              <a:lnSpc>
                <a:spcPct val="105000"/>
              </a:lnSpc>
              <a:spcBef>
                <a:spcPts val="0"/>
              </a:spcBef>
              <a:spcAft>
                <a:spcPts val="0"/>
              </a:spcAft>
            </a:pPr>
            <a:r>
              <a:rPr sz="2500" b="1" i="0">
                <a:solidFill>
                  <a:srgbClr val="FDF9E0"/>
                </a:solidFill>
                <a:latin typeface="Arial"/>
              </a:rPr>
              <a:t>Also reads motion: surges and pushing toward one exit</a:t>
            </a:r>
          </a:p>
        </p:txBody>
      </p:sp>
      <p:sp>
        <p:nvSpPr>
          <p:cNvPr id="138" name="TextBox 137"/>
          <p:cNvSpPr txBox="1"/>
          <p:nvPr/>
        </p:nvSpPr>
        <p:spPr>
          <a:xfrm>
            <a:off x="9326880" y="2377440"/>
            <a:ext cx="7772400" cy="548640"/>
          </a:xfrm>
          <a:prstGeom prst="rect">
            <a:avLst/>
          </a:prstGeom>
          <a:noFill/>
        </p:spPr>
        <p:txBody>
          <a:bodyPr wrap="square" lIns="0" rIns="0" tIns="0" bIns="0" anchor="ctr">
            <a:noAutofit/>
          </a:bodyPr>
          <a:lstStyle/>
          <a:p>
            <a:pPr algn="l">
              <a:lnSpc>
                <a:spcPct val="100000"/>
              </a:lnSpc>
              <a:spcBef>
                <a:spcPts val="0"/>
              </a:spcBef>
              <a:spcAft>
                <a:spcPts val="0"/>
              </a:spcAft>
            </a:pPr>
            <a:r>
              <a:rPr sz="3000" b="1" i="0">
                <a:solidFill>
                  <a:srgbClr val="FF9A1F"/>
                </a:solidFill>
                <a:latin typeface="Arial"/>
              </a:rPr>
              <a:t>2  How it solves the problem</a:t>
            </a:r>
          </a:p>
        </p:txBody>
      </p:sp>
      <p:sp>
        <p:nvSpPr>
          <p:cNvPr id="139" name="Solves 1"/>
          <p:cNvSpPr/>
          <p:nvPr/>
        </p:nvSpPr>
        <p:spPr>
          <a:xfrm>
            <a:off x="9326880" y="310896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Oval 139"/>
          <p:cNvSpPr/>
          <p:nvPr/>
        </p:nvSpPr>
        <p:spPr>
          <a:xfrm>
            <a:off x="9646920" y="342900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1" name="Picture 140" descr="clock-dark.png"/>
          <p:cNvPicPr>
            <a:picLocks noChangeAspect="1"/>
          </p:cNvPicPr>
          <p:nvPr/>
        </p:nvPicPr>
        <p:blipFill>
          <a:blip r:embed="rId12"/>
          <a:stretch>
            <a:fillRect/>
          </a:stretch>
        </p:blipFill>
        <p:spPr>
          <a:xfrm>
            <a:off x="9838030" y="3620110"/>
            <a:ext cx="486461" cy="486461"/>
          </a:xfrm>
          <a:prstGeom prst="rect">
            <a:avLst/>
          </a:prstGeom>
        </p:spPr>
      </p:pic>
      <p:sp>
        <p:nvSpPr>
          <p:cNvPr id="142" name="TextBox 141"/>
          <p:cNvSpPr txBox="1"/>
          <p:nvPr/>
        </p:nvSpPr>
        <p:spPr>
          <a:xfrm>
            <a:off x="10789920" y="3291840"/>
            <a:ext cx="6035040" cy="457200"/>
          </a:xfrm>
          <a:prstGeom prst="rect">
            <a:avLst/>
          </a:prstGeom>
          <a:noFill/>
        </p:spPr>
        <p:txBody>
          <a:bodyPr wrap="square" lIns="0" rIns="0" tIns="0" bIns="0" anchor="ctr">
            <a:noAutofit/>
          </a:bodyPr>
          <a:lstStyle/>
          <a:p>
            <a:pPr algn="l">
              <a:lnSpc>
                <a:spcPct val="100000"/>
              </a:lnSpc>
              <a:spcBef>
                <a:spcPts val="0"/>
              </a:spcBef>
              <a:spcAft>
                <a:spcPts val="0"/>
              </a:spcAft>
            </a:pPr>
            <a:r>
              <a:rPr sz="2700" b="1" i="0">
                <a:solidFill>
                  <a:srgbClr val="FDF9E0"/>
                </a:solidFill>
                <a:latin typeface="Arial"/>
              </a:rPr>
              <a:t>Warns early</a:t>
            </a:r>
          </a:p>
        </p:txBody>
      </p:sp>
      <p:sp>
        <p:nvSpPr>
          <p:cNvPr id="143" name="TextBox 142"/>
          <p:cNvSpPr txBox="1"/>
          <p:nvPr/>
        </p:nvSpPr>
        <p:spPr>
          <a:xfrm>
            <a:off x="10789920" y="3785616"/>
            <a:ext cx="6035040" cy="731520"/>
          </a:xfrm>
          <a:prstGeom prst="rect">
            <a:avLst/>
          </a:prstGeom>
          <a:noFill/>
        </p:spPr>
        <p:txBody>
          <a:bodyPr wrap="square" lIns="0" rIns="0" tIns="0" bIns="0" anchor="t">
            <a:noAutofit/>
          </a:bodyPr>
          <a:lstStyle/>
          <a:p>
            <a:pPr algn="l">
              <a:lnSpc>
                <a:spcPct val="105000"/>
              </a:lnSpc>
              <a:spcBef>
                <a:spcPts val="0"/>
              </a:spcBef>
              <a:spcAft>
                <a:spcPts val="0"/>
              </a:spcAft>
            </a:pPr>
            <a:r>
              <a:rPr sz="2300" b="0" i="0">
                <a:solidFill>
                  <a:srgbClr val="C9C4AC"/>
                </a:solidFill>
                <a:latin typeface="Arial"/>
              </a:rPr>
              <a:t>Alerts at Warning level, minutes before density turns critical</a:t>
            </a:r>
          </a:p>
        </p:txBody>
      </p:sp>
      <p:sp>
        <p:nvSpPr>
          <p:cNvPr id="144" name="Solves 2"/>
          <p:cNvSpPr/>
          <p:nvPr/>
        </p:nvSpPr>
        <p:spPr>
          <a:xfrm>
            <a:off x="9326880" y="480060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Oval 144"/>
          <p:cNvSpPr/>
          <p:nvPr/>
        </p:nvSpPr>
        <p:spPr>
          <a:xfrm>
            <a:off x="9646920" y="512064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6" name="Picture 145" descr="map-dark.png"/>
          <p:cNvPicPr>
            <a:picLocks noChangeAspect="1"/>
          </p:cNvPicPr>
          <p:nvPr/>
        </p:nvPicPr>
        <p:blipFill>
          <a:blip r:embed="rId13"/>
          <a:stretch>
            <a:fillRect/>
          </a:stretch>
        </p:blipFill>
        <p:spPr>
          <a:xfrm>
            <a:off x="9838030" y="5311750"/>
            <a:ext cx="486461" cy="486461"/>
          </a:xfrm>
          <a:prstGeom prst="rect">
            <a:avLst/>
          </a:prstGeom>
        </p:spPr>
      </p:pic>
      <p:sp>
        <p:nvSpPr>
          <p:cNvPr id="147" name="TextBox 146"/>
          <p:cNvSpPr txBox="1"/>
          <p:nvPr/>
        </p:nvSpPr>
        <p:spPr>
          <a:xfrm>
            <a:off x="10789920" y="4983480"/>
            <a:ext cx="6035040" cy="457200"/>
          </a:xfrm>
          <a:prstGeom prst="rect">
            <a:avLst/>
          </a:prstGeom>
          <a:noFill/>
        </p:spPr>
        <p:txBody>
          <a:bodyPr wrap="square" lIns="0" rIns="0" tIns="0" bIns="0" anchor="ctr">
            <a:noAutofit/>
          </a:bodyPr>
          <a:lstStyle/>
          <a:p>
            <a:pPr algn="l">
              <a:lnSpc>
                <a:spcPct val="100000"/>
              </a:lnSpc>
              <a:spcBef>
                <a:spcPts val="0"/>
              </a:spcBef>
              <a:spcAft>
                <a:spcPts val="0"/>
              </a:spcAft>
            </a:pPr>
            <a:r>
              <a:rPr sz="2700" b="1" i="0">
                <a:solidFill>
                  <a:srgbClr val="FDF9E0"/>
                </a:solidFill>
                <a:latin typeface="Arial"/>
              </a:rPr>
              <a:t>Points to the exact spot</a:t>
            </a:r>
          </a:p>
        </p:txBody>
      </p:sp>
      <p:sp>
        <p:nvSpPr>
          <p:cNvPr id="148" name="TextBox 147"/>
          <p:cNvSpPr txBox="1"/>
          <p:nvPr/>
        </p:nvSpPr>
        <p:spPr>
          <a:xfrm>
            <a:off x="10789920" y="5477256"/>
            <a:ext cx="6035040" cy="731520"/>
          </a:xfrm>
          <a:prstGeom prst="rect">
            <a:avLst/>
          </a:prstGeom>
          <a:noFill/>
        </p:spPr>
        <p:txBody>
          <a:bodyPr wrap="square" lIns="0" rIns="0" tIns="0" bIns="0" anchor="t">
            <a:noAutofit/>
          </a:bodyPr>
          <a:lstStyle/>
          <a:p>
            <a:pPr algn="l">
              <a:lnSpc>
                <a:spcPct val="105000"/>
              </a:lnSpc>
              <a:spcBef>
                <a:spcPts val="0"/>
              </a:spcBef>
              <a:spcAft>
                <a:spcPts val="0"/>
              </a:spcAft>
            </a:pPr>
            <a:r>
              <a:rPr sz="2300" b="0" i="0">
                <a:solidFill>
                  <a:srgbClr val="C9C4AC"/>
                </a:solidFill>
                <a:latin typeface="Arial"/>
              </a:rPr>
              <a:t>Names the gate or zone, so staff can stop entry or open exits</a:t>
            </a:r>
          </a:p>
        </p:txBody>
      </p:sp>
      <p:sp>
        <p:nvSpPr>
          <p:cNvPr id="149" name="Solves 3"/>
          <p:cNvSpPr/>
          <p:nvPr/>
        </p:nvSpPr>
        <p:spPr>
          <a:xfrm>
            <a:off x="9326880" y="649224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Oval 149"/>
          <p:cNvSpPr/>
          <p:nvPr/>
        </p:nvSpPr>
        <p:spPr>
          <a:xfrm>
            <a:off x="9646920" y="68122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1" name="Picture 150" descr="camera-dark.png"/>
          <p:cNvPicPr>
            <a:picLocks noChangeAspect="1"/>
          </p:cNvPicPr>
          <p:nvPr/>
        </p:nvPicPr>
        <p:blipFill>
          <a:blip r:embed="rId14"/>
          <a:stretch>
            <a:fillRect/>
          </a:stretch>
        </p:blipFill>
        <p:spPr>
          <a:xfrm>
            <a:off x="9838030" y="7003390"/>
            <a:ext cx="486461" cy="486461"/>
          </a:xfrm>
          <a:prstGeom prst="rect">
            <a:avLst/>
          </a:prstGeom>
        </p:spPr>
      </p:pic>
      <p:sp>
        <p:nvSpPr>
          <p:cNvPr id="152" name="TextBox 151"/>
          <p:cNvSpPr txBox="1"/>
          <p:nvPr/>
        </p:nvSpPr>
        <p:spPr>
          <a:xfrm>
            <a:off x="10789920" y="6675120"/>
            <a:ext cx="6035040" cy="457200"/>
          </a:xfrm>
          <a:prstGeom prst="rect">
            <a:avLst/>
          </a:prstGeom>
          <a:noFill/>
        </p:spPr>
        <p:txBody>
          <a:bodyPr wrap="square" lIns="0" rIns="0" tIns="0" bIns="0" anchor="ctr">
            <a:noAutofit/>
          </a:bodyPr>
          <a:lstStyle/>
          <a:p>
            <a:pPr algn="l">
              <a:lnSpc>
                <a:spcPct val="100000"/>
              </a:lnSpc>
              <a:spcBef>
                <a:spcPts val="0"/>
              </a:spcBef>
              <a:spcAft>
                <a:spcPts val="0"/>
              </a:spcAft>
            </a:pPr>
            <a:r>
              <a:rPr sz="2700" b="1" i="0">
                <a:solidFill>
                  <a:srgbClr val="FDF9E0"/>
                </a:solidFill>
                <a:latin typeface="Arial"/>
              </a:rPr>
              <a:t>No new hardware</a:t>
            </a:r>
          </a:p>
        </p:txBody>
      </p:sp>
      <p:sp>
        <p:nvSpPr>
          <p:cNvPr id="153" name="TextBox 152"/>
          <p:cNvSpPr txBox="1"/>
          <p:nvPr/>
        </p:nvSpPr>
        <p:spPr>
          <a:xfrm>
            <a:off x="10789920" y="7168896"/>
            <a:ext cx="6035040" cy="731520"/>
          </a:xfrm>
          <a:prstGeom prst="rect">
            <a:avLst/>
          </a:prstGeom>
          <a:noFill/>
        </p:spPr>
        <p:txBody>
          <a:bodyPr wrap="square" lIns="0" rIns="0" tIns="0" bIns="0" anchor="t">
            <a:noAutofit/>
          </a:bodyPr>
          <a:lstStyle/>
          <a:p>
            <a:pPr algn="l">
              <a:lnSpc>
                <a:spcPct val="105000"/>
              </a:lnSpc>
              <a:spcBef>
                <a:spcPts val="0"/>
              </a:spcBef>
              <a:spcAft>
                <a:spcPts val="0"/>
              </a:spcAft>
            </a:pPr>
            <a:r>
              <a:rPr sz="2300" b="0" i="0">
                <a:solidFill>
                  <a:srgbClr val="C9C4AC"/>
                </a:solidFill>
                <a:latin typeface="Arial"/>
              </a:rPr>
              <a:t>Runs on existing CCTV or a phone, from one laptop</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125" name="Shape 125"/>
        <p:cNvGrpSpPr/>
        <p:nvPr/>
      </p:nvGrpSpPr>
      <p:grpSpPr>
        <a:xfrm>
          <a:off x="0" y="0"/>
          <a:ext cx="0" cy="0"/>
          <a:chOff x="0" y="0"/>
          <a:chExt cx="0" cy="0"/>
        </a:xfrm>
      </p:grpSpPr>
      <p:sp>
        <p:nvSpPr>
          <p:cNvPr id="126" name="Google Shape;126;p5"/>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 name="Google Shape;127;p5"/>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8" name="Google Shape;128;p5"/>
          <p:cNvGrpSpPr/>
          <p:nvPr/>
        </p:nvGrpSpPr>
        <p:grpSpPr>
          <a:xfrm>
            <a:off x="2368788" y="8390623"/>
            <a:ext cx="13550424" cy="2179108"/>
            <a:chOff x="0" y="-1"/>
            <a:chExt cx="13550423" cy="2179107"/>
          </a:xfrm>
        </p:grpSpPr>
        <p:sp>
          <p:nvSpPr>
            <p:cNvPr id="129" name="Google Shape;129;p5"/>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 name="Google Shape;130;p5"/>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 name="Google Shape;131;p5"/>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2" name="Google Shape;132;p5"/>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 name="Google Shape;133;p5"/>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34" name="Google Shape;134;p5"/>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5" name="Google Shape;135;p5"/>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6" name="Google Shape;136;p5"/>
          <p:cNvGrpSpPr/>
          <p:nvPr/>
        </p:nvGrpSpPr>
        <p:grpSpPr>
          <a:xfrm>
            <a:off x="3166954" y="-775893"/>
            <a:ext cx="12244378" cy="2262447"/>
            <a:chOff x="-1" y="-439204"/>
            <a:chExt cx="12244377" cy="2262445"/>
          </a:xfrm>
        </p:grpSpPr>
        <p:sp>
          <p:nvSpPr>
            <p:cNvPr id="137" name="Google Shape;137;p5"/>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8" name="Google Shape;138;p5"/>
            <p:cNvSpPr/>
            <p:nvPr/>
          </p:nvSpPr>
          <p:spPr>
            <a:xfrm>
              <a:off x="4834508" y="-439204"/>
              <a:ext cx="2243460" cy="2262445"/>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9" name="Google Shape;139;p5"/>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40"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6200"/>
              <a:buFont typeface="Arial"/>
              <a:buNone/>
            </a:pPr>
            <a:r>
              <a:rPr b="1" i="0" lang="en-US" sz="5600" u="none" cap="none" strike="noStrike">
                <a:solidFill>
                  <a:srgbClr val="FDF9E0"/>
                </a:solidFill>
                <a:latin typeface="Arial"/>
                <a:ea typeface="Arial"/>
                <a:cs typeface="Arial"/>
                <a:sym typeface="Arial"/>
              </a:rPr>
              <a:t>Brief About the Idea</a:t>
            </a:r>
            <a:endParaRPr/>
          </a:p>
        </p:txBody>
      </p:sp>
      <p:sp>
        <p:nvSpPr>
          <p:cNvPr id="141" name="Pitch line"/>
          <p:cNvSpPr/>
          <p:nvPr/>
        </p:nvSpPr>
        <p:spPr>
          <a:xfrm>
            <a:off x="1188720" y="2377440"/>
            <a:ext cx="15910560" cy="1325880"/>
          </a:xfrm>
          <a:prstGeom prst="roundRect">
            <a:avLst>
              <a:gd name="adj" fmla="val 6000"/>
            </a:avLst>
          </a:prstGeom>
          <a:solidFill>
            <a:srgbClr val="2C2C2C"/>
          </a:solidFill>
          <a:ln w="31750">
            <a:solidFill>
              <a:srgbClr val="FF9A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Oval 141"/>
          <p:cNvSpPr/>
          <p:nvPr/>
        </p:nvSpPr>
        <p:spPr>
          <a:xfrm>
            <a:off x="155448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3" name="Picture 142" descr="ghost-dark.png"/>
          <p:cNvPicPr>
            <a:picLocks noChangeAspect="1"/>
          </p:cNvPicPr>
          <p:nvPr/>
        </p:nvPicPr>
        <p:blipFill>
          <a:blip r:embed="rId10"/>
          <a:stretch>
            <a:fillRect/>
          </a:stretch>
        </p:blipFill>
        <p:spPr>
          <a:xfrm>
            <a:off x="1725473" y="2822753"/>
            <a:ext cx="435254" cy="435254"/>
          </a:xfrm>
          <a:prstGeom prst="rect">
            <a:avLst/>
          </a:prstGeom>
        </p:spPr>
      </p:pic>
      <p:sp>
        <p:nvSpPr>
          <p:cNvPr id="144" name="TextBox 143"/>
          <p:cNvSpPr txBox="1"/>
          <p:nvPr/>
        </p:nvSpPr>
        <p:spPr>
          <a:xfrm>
            <a:off x="2651760" y="2514600"/>
            <a:ext cx="14081760" cy="1051560"/>
          </a:xfrm>
          <a:prstGeom prst="rect">
            <a:avLst/>
          </a:prstGeom>
          <a:noFill/>
        </p:spPr>
        <p:txBody>
          <a:bodyPr wrap="square" lIns="0" rIns="0" tIns="0" bIns="0" anchor="ctr">
            <a:noAutofit/>
          </a:bodyPr>
          <a:lstStyle/>
          <a:p>
            <a:pPr algn="l">
              <a:lnSpc>
                <a:spcPct val="105000"/>
              </a:lnSpc>
              <a:spcBef>
                <a:spcPts val="0"/>
              </a:spcBef>
              <a:spcAft>
                <a:spcPts val="0"/>
              </a:spcAft>
            </a:pPr>
            <a:r>
              <a:rPr sz="3000" b="1" i="0">
                <a:solidFill>
                  <a:srgbClr val="FF9A1F"/>
                </a:solidFill>
                <a:latin typeface="Arial"/>
              </a:rPr>
              <a:t>Poltergeist</a:t>
            </a:r>
            <a:r>
              <a:rPr sz="3000" b="0" i="0">
                <a:solidFill>
                  <a:srgbClr val="FDF9E0"/>
                </a:solidFill>
                <a:latin typeface="Arial"/>
              </a:rPr>
              <a:t> turns any CCTV or phone camera into a live early-warning system for crowd crushes.</a:t>
            </a:r>
          </a:p>
        </p:txBody>
      </p:sp>
      <p:sp>
        <p:nvSpPr>
          <p:cNvPr id="145" name="Feature Count"/>
          <p:cNvSpPr/>
          <p:nvPr/>
        </p:nvSpPr>
        <p:spPr>
          <a:xfrm>
            <a:off x="118872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Oval 145"/>
          <p:cNvSpPr/>
          <p:nvPr/>
        </p:nvSpPr>
        <p:spPr>
          <a:xfrm>
            <a:off x="150876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7" name="Picture 146" descr="users-dark.png"/>
          <p:cNvPicPr>
            <a:picLocks noChangeAspect="1"/>
          </p:cNvPicPr>
          <p:nvPr/>
        </p:nvPicPr>
        <p:blipFill>
          <a:blip r:embed="rId11"/>
          <a:stretch>
            <a:fillRect/>
          </a:stretch>
        </p:blipFill>
        <p:spPr>
          <a:xfrm>
            <a:off x="1699870" y="4488790"/>
            <a:ext cx="486461" cy="486461"/>
          </a:xfrm>
          <a:prstGeom prst="rect">
            <a:avLst/>
          </a:prstGeom>
        </p:spPr>
      </p:pic>
      <p:sp>
        <p:nvSpPr>
          <p:cNvPr id="148" name="TextBox 147"/>
          <p:cNvSpPr txBox="1"/>
          <p:nvPr/>
        </p:nvSpPr>
        <p:spPr>
          <a:xfrm>
            <a:off x="2560320" y="4297680"/>
            <a:ext cx="2217420" cy="868680"/>
          </a:xfrm>
          <a:prstGeom prst="rect">
            <a:avLst/>
          </a:prstGeom>
          <a:noFill/>
        </p:spPr>
        <p:txBody>
          <a:bodyPr wrap="square" lIns="0" rIns="0" tIns="0" bIns="0" anchor="ctr">
            <a:noAutofit/>
          </a:bodyPr>
          <a:lstStyle/>
          <a:p>
            <a:pPr algn="l">
              <a:lnSpc>
                <a:spcPct val="100000"/>
              </a:lnSpc>
              <a:spcBef>
                <a:spcPts val="0"/>
              </a:spcBef>
              <a:spcAft>
                <a:spcPts val="0"/>
              </a:spcAft>
            </a:pPr>
            <a:r>
              <a:rPr sz="3200" b="1" i="0">
                <a:solidFill>
                  <a:srgbClr val="FDF9E0"/>
                </a:solidFill>
                <a:latin typeface="Arial"/>
              </a:rPr>
              <a:t>Count</a:t>
            </a:r>
          </a:p>
        </p:txBody>
      </p:sp>
      <p:sp>
        <p:nvSpPr>
          <p:cNvPr id="149" name="TextBox 148"/>
          <p:cNvSpPr txBox="1"/>
          <p:nvPr/>
        </p:nvSpPr>
        <p:spPr>
          <a:xfrm>
            <a:off x="1508760" y="5349240"/>
            <a:ext cx="3131820" cy="1325880"/>
          </a:xfrm>
          <a:prstGeom prst="rect">
            <a:avLst/>
          </a:prstGeom>
          <a:noFill/>
        </p:spPr>
        <p:txBody>
          <a:bodyPr wrap="square" lIns="0" rIns="0" tIns="0" bIns="0" anchor="t">
            <a:noAutofit/>
          </a:bodyPr>
          <a:lstStyle/>
          <a:p>
            <a:pPr algn="l">
              <a:lnSpc>
                <a:spcPct val="110000"/>
              </a:lnSpc>
              <a:spcBef>
                <a:spcPts val="0"/>
              </a:spcBef>
              <a:spcAft>
                <a:spcPts val="0"/>
              </a:spcAft>
            </a:pPr>
            <a:r>
              <a:rPr sz="2400" b="0" i="0">
                <a:solidFill>
                  <a:srgbClr val="C9C4AC"/>
                </a:solidFill>
                <a:latin typeface="Arial"/>
              </a:rPr>
              <a:t>Counts every person, even in a packed crowd</a:t>
            </a:r>
          </a:p>
        </p:txBody>
      </p:sp>
      <p:sp>
        <p:nvSpPr>
          <p:cNvPr id="150" name="Feature Map"/>
          <p:cNvSpPr/>
          <p:nvPr/>
        </p:nvSpPr>
        <p:spPr>
          <a:xfrm>
            <a:off x="523494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Oval 150"/>
          <p:cNvSpPr/>
          <p:nvPr/>
        </p:nvSpPr>
        <p:spPr>
          <a:xfrm>
            <a:off x="555498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fire-dark.png"/>
          <p:cNvPicPr>
            <a:picLocks noChangeAspect="1"/>
          </p:cNvPicPr>
          <p:nvPr/>
        </p:nvPicPr>
        <p:blipFill>
          <a:blip r:embed="rId12"/>
          <a:stretch>
            <a:fillRect/>
          </a:stretch>
        </p:blipFill>
        <p:spPr>
          <a:xfrm>
            <a:off x="5746090" y="4488790"/>
            <a:ext cx="486461" cy="486461"/>
          </a:xfrm>
          <a:prstGeom prst="rect">
            <a:avLst/>
          </a:prstGeom>
        </p:spPr>
      </p:pic>
      <p:sp>
        <p:nvSpPr>
          <p:cNvPr id="153" name="TextBox 152"/>
          <p:cNvSpPr txBox="1"/>
          <p:nvPr/>
        </p:nvSpPr>
        <p:spPr>
          <a:xfrm>
            <a:off x="6606540" y="4297680"/>
            <a:ext cx="2217420" cy="868680"/>
          </a:xfrm>
          <a:prstGeom prst="rect">
            <a:avLst/>
          </a:prstGeom>
          <a:noFill/>
        </p:spPr>
        <p:txBody>
          <a:bodyPr wrap="square" lIns="0" rIns="0" tIns="0" bIns="0" anchor="ctr">
            <a:noAutofit/>
          </a:bodyPr>
          <a:lstStyle/>
          <a:p>
            <a:pPr algn="l">
              <a:lnSpc>
                <a:spcPct val="100000"/>
              </a:lnSpc>
              <a:spcBef>
                <a:spcPts val="0"/>
              </a:spcBef>
              <a:spcAft>
                <a:spcPts val="0"/>
              </a:spcAft>
            </a:pPr>
            <a:r>
              <a:rPr sz="3200" b="1" i="0">
                <a:solidFill>
                  <a:srgbClr val="FDF9E0"/>
                </a:solidFill>
                <a:latin typeface="Arial"/>
              </a:rPr>
              <a:t>Map</a:t>
            </a:r>
          </a:p>
        </p:txBody>
      </p:sp>
      <p:sp>
        <p:nvSpPr>
          <p:cNvPr id="154" name="TextBox 153"/>
          <p:cNvSpPr txBox="1"/>
          <p:nvPr/>
        </p:nvSpPr>
        <p:spPr>
          <a:xfrm>
            <a:off x="5554980" y="5349240"/>
            <a:ext cx="3131820" cy="1325880"/>
          </a:xfrm>
          <a:prstGeom prst="rect">
            <a:avLst/>
          </a:prstGeom>
          <a:noFill/>
        </p:spPr>
        <p:txBody>
          <a:bodyPr wrap="square" lIns="0" rIns="0" tIns="0" bIns="0" anchor="t">
            <a:noAutofit/>
          </a:bodyPr>
          <a:lstStyle/>
          <a:p>
            <a:pPr algn="l">
              <a:lnSpc>
                <a:spcPct val="110000"/>
              </a:lnSpc>
              <a:spcBef>
                <a:spcPts val="0"/>
              </a:spcBef>
              <a:spcAft>
                <a:spcPts val="0"/>
              </a:spcAft>
            </a:pPr>
            <a:r>
              <a:rPr sz="2400" b="0" i="0">
                <a:solidFill>
                  <a:srgbClr val="C9C4AC"/>
                </a:solidFill>
                <a:latin typeface="Arial"/>
              </a:rPr>
              <a:t>Live heatmap of people per m² for each zone</a:t>
            </a:r>
          </a:p>
        </p:txBody>
      </p:sp>
      <p:sp>
        <p:nvSpPr>
          <p:cNvPr id="155" name="Feature Sense"/>
          <p:cNvSpPr/>
          <p:nvPr/>
        </p:nvSpPr>
        <p:spPr>
          <a:xfrm>
            <a:off x="928116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Oval 155"/>
          <p:cNvSpPr/>
          <p:nvPr/>
        </p:nvSpPr>
        <p:spPr>
          <a:xfrm>
            <a:off x="960120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7" name="Picture 156" descr="wave-dark.png"/>
          <p:cNvPicPr>
            <a:picLocks noChangeAspect="1"/>
          </p:cNvPicPr>
          <p:nvPr/>
        </p:nvPicPr>
        <p:blipFill>
          <a:blip r:embed="rId13"/>
          <a:stretch>
            <a:fillRect/>
          </a:stretch>
        </p:blipFill>
        <p:spPr>
          <a:xfrm>
            <a:off x="9792310" y="4488790"/>
            <a:ext cx="486461" cy="486461"/>
          </a:xfrm>
          <a:prstGeom prst="rect">
            <a:avLst/>
          </a:prstGeom>
        </p:spPr>
      </p:pic>
      <p:sp>
        <p:nvSpPr>
          <p:cNvPr id="158" name="TextBox 157"/>
          <p:cNvSpPr txBox="1"/>
          <p:nvPr/>
        </p:nvSpPr>
        <p:spPr>
          <a:xfrm>
            <a:off x="10652760" y="4297680"/>
            <a:ext cx="2217420" cy="868680"/>
          </a:xfrm>
          <a:prstGeom prst="rect">
            <a:avLst/>
          </a:prstGeom>
          <a:noFill/>
        </p:spPr>
        <p:txBody>
          <a:bodyPr wrap="square" lIns="0" rIns="0" tIns="0" bIns="0" anchor="ctr">
            <a:noAutofit/>
          </a:bodyPr>
          <a:lstStyle/>
          <a:p>
            <a:pPr algn="l">
              <a:lnSpc>
                <a:spcPct val="100000"/>
              </a:lnSpc>
              <a:spcBef>
                <a:spcPts val="0"/>
              </a:spcBef>
              <a:spcAft>
                <a:spcPts val="0"/>
              </a:spcAft>
            </a:pPr>
            <a:r>
              <a:rPr sz="3200" b="1" i="0">
                <a:solidFill>
                  <a:srgbClr val="FDF9E0"/>
                </a:solidFill>
                <a:latin typeface="Arial"/>
              </a:rPr>
              <a:t>Sense</a:t>
            </a:r>
          </a:p>
        </p:txBody>
      </p:sp>
      <p:sp>
        <p:nvSpPr>
          <p:cNvPr id="159" name="TextBox 158"/>
          <p:cNvSpPr txBox="1"/>
          <p:nvPr/>
        </p:nvSpPr>
        <p:spPr>
          <a:xfrm>
            <a:off x="9601200" y="5349240"/>
            <a:ext cx="3131820" cy="1325880"/>
          </a:xfrm>
          <a:prstGeom prst="rect">
            <a:avLst/>
          </a:prstGeom>
          <a:noFill/>
        </p:spPr>
        <p:txBody>
          <a:bodyPr wrap="square" lIns="0" rIns="0" tIns="0" bIns="0" anchor="t">
            <a:noAutofit/>
          </a:bodyPr>
          <a:lstStyle/>
          <a:p>
            <a:pPr algn="l">
              <a:lnSpc>
                <a:spcPct val="110000"/>
              </a:lnSpc>
              <a:spcBef>
                <a:spcPts val="0"/>
              </a:spcBef>
              <a:spcAft>
                <a:spcPts val="0"/>
              </a:spcAft>
            </a:pPr>
            <a:r>
              <a:rPr sz="2400" b="0" i="0">
                <a:solidFill>
                  <a:srgbClr val="C9C4AC"/>
                </a:solidFill>
                <a:latin typeface="Arial"/>
              </a:rPr>
              <a:t>Optical flow spots sudden surges and pushing</a:t>
            </a:r>
          </a:p>
        </p:txBody>
      </p:sp>
      <p:sp>
        <p:nvSpPr>
          <p:cNvPr id="160" name="Feature Warn"/>
          <p:cNvSpPr/>
          <p:nvPr/>
        </p:nvSpPr>
        <p:spPr>
          <a:xfrm>
            <a:off x="1332738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Oval 160"/>
          <p:cNvSpPr/>
          <p:nvPr/>
        </p:nvSpPr>
        <p:spPr>
          <a:xfrm>
            <a:off x="1364742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bell-dark.png"/>
          <p:cNvPicPr>
            <a:picLocks noChangeAspect="1"/>
          </p:cNvPicPr>
          <p:nvPr/>
        </p:nvPicPr>
        <p:blipFill>
          <a:blip r:embed="rId14"/>
          <a:stretch>
            <a:fillRect/>
          </a:stretch>
        </p:blipFill>
        <p:spPr>
          <a:xfrm>
            <a:off x="13838530" y="4488790"/>
            <a:ext cx="486461" cy="486461"/>
          </a:xfrm>
          <a:prstGeom prst="rect">
            <a:avLst/>
          </a:prstGeom>
        </p:spPr>
      </p:pic>
      <p:sp>
        <p:nvSpPr>
          <p:cNvPr id="163" name="TextBox 162"/>
          <p:cNvSpPr txBox="1"/>
          <p:nvPr/>
        </p:nvSpPr>
        <p:spPr>
          <a:xfrm>
            <a:off x="14698980" y="4297680"/>
            <a:ext cx="2217420" cy="868680"/>
          </a:xfrm>
          <a:prstGeom prst="rect">
            <a:avLst/>
          </a:prstGeom>
          <a:noFill/>
        </p:spPr>
        <p:txBody>
          <a:bodyPr wrap="square" lIns="0" rIns="0" tIns="0" bIns="0" anchor="ctr">
            <a:noAutofit/>
          </a:bodyPr>
          <a:lstStyle/>
          <a:p>
            <a:pPr algn="l">
              <a:lnSpc>
                <a:spcPct val="100000"/>
              </a:lnSpc>
              <a:spcBef>
                <a:spcPts val="0"/>
              </a:spcBef>
              <a:spcAft>
                <a:spcPts val="0"/>
              </a:spcAft>
            </a:pPr>
            <a:r>
              <a:rPr sz="3200" b="1" i="0">
                <a:solidFill>
                  <a:srgbClr val="FDF9E0"/>
                </a:solidFill>
                <a:latin typeface="Arial"/>
              </a:rPr>
              <a:t>Warn</a:t>
            </a:r>
          </a:p>
        </p:txBody>
      </p:sp>
      <p:sp>
        <p:nvSpPr>
          <p:cNvPr id="164" name="TextBox 163"/>
          <p:cNvSpPr txBox="1"/>
          <p:nvPr/>
        </p:nvSpPr>
        <p:spPr>
          <a:xfrm>
            <a:off x="13647420" y="5349240"/>
            <a:ext cx="3131820" cy="1325880"/>
          </a:xfrm>
          <a:prstGeom prst="rect">
            <a:avLst/>
          </a:prstGeom>
          <a:noFill/>
        </p:spPr>
        <p:txBody>
          <a:bodyPr wrap="square" lIns="0" rIns="0" tIns="0" bIns="0" anchor="t">
            <a:noAutofit/>
          </a:bodyPr>
          <a:lstStyle/>
          <a:p>
            <a:pPr algn="l">
              <a:lnSpc>
                <a:spcPct val="110000"/>
              </a:lnSpc>
              <a:spcBef>
                <a:spcPts val="0"/>
              </a:spcBef>
              <a:spcAft>
                <a:spcPts val="0"/>
              </a:spcAft>
            </a:pPr>
            <a:r>
              <a:rPr sz="2400" b="0" i="0">
                <a:solidFill>
                  <a:srgbClr val="C9C4AC"/>
                </a:solidFill>
                <a:latin typeface="Arial"/>
              </a:rPr>
              <a:t>Safe, Warning or Critical alerts on organisers' phones</a:t>
            </a:r>
          </a:p>
        </p:txBody>
      </p:sp>
      <p:sp>
        <p:nvSpPr>
          <p:cNvPr id="165" name="TextBox 164"/>
          <p:cNvSpPr txBox="1"/>
          <p:nvPr/>
        </p:nvSpPr>
        <p:spPr>
          <a:xfrm>
            <a:off x="1188720" y="7086600"/>
            <a:ext cx="15910560" cy="1051560"/>
          </a:xfrm>
          <a:prstGeom prst="rect">
            <a:avLst/>
          </a:prstGeom>
          <a:noFill/>
        </p:spPr>
        <p:txBody>
          <a:bodyPr wrap="square" lIns="0" rIns="0" tIns="0" bIns="0" anchor="ctr">
            <a:noAutofit/>
          </a:bodyPr>
          <a:lstStyle/>
          <a:p>
            <a:pPr algn="l">
              <a:lnSpc>
                <a:spcPct val="100000"/>
              </a:lnSpc>
              <a:spcBef>
                <a:spcPts val="0"/>
              </a:spcBef>
              <a:spcAft>
                <a:spcPts val="0"/>
              </a:spcAft>
            </a:pPr>
            <a:r>
              <a:rPr sz="2600" b="1" i="0">
                <a:solidFill>
                  <a:srgbClr val="FF9A1F"/>
                </a:solidFill>
                <a:latin typeface="Arial"/>
              </a:rPr>
              <a:t>Built for:  </a:t>
            </a:r>
            <a:r>
              <a:rPr sz="2600" b="0" i="0">
                <a:solidFill>
                  <a:srgbClr val="FDF9E0"/>
                </a:solidFill>
                <a:latin typeface="Arial"/>
              </a:rPr>
              <a:t>stadiums  ·  concerts  ·  temples and festivals  ·  railway stations  ·  college fests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144" name="Shape 144"/>
        <p:cNvGrpSpPr/>
        <p:nvPr/>
      </p:nvGrpSpPr>
      <p:grpSpPr>
        <a:xfrm>
          <a:off x="0" y="0"/>
          <a:ext cx="0" cy="0"/>
          <a:chOff x="0" y="0"/>
          <a:chExt cx="0" cy="0"/>
        </a:xfrm>
      </p:grpSpPr>
      <p:sp>
        <p:nvSpPr>
          <p:cNvPr id="145" name="Google Shape;145;p6"/>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6" name="Google Shape;146;p6"/>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47" name="Google Shape;147;p6"/>
          <p:cNvGrpSpPr/>
          <p:nvPr/>
        </p:nvGrpSpPr>
        <p:grpSpPr>
          <a:xfrm>
            <a:off x="2368788" y="8390623"/>
            <a:ext cx="13550424" cy="2179108"/>
            <a:chOff x="0" y="-1"/>
            <a:chExt cx="13550423" cy="2179107"/>
          </a:xfrm>
        </p:grpSpPr>
        <p:sp>
          <p:nvSpPr>
            <p:cNvPr id="148" name="Google Shape;148;p6"/>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9" name="Google Shape;149;p6"/>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0" name="Google Shape;150;p6"/>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1" name="Google Shape;151;p6"/>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2" name="Google Shape;152;p6"/>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53" name="Google Shape;153;p6"/>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4" name="Google Shape;154;p6"/>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55" name="Google Shape;155;p6"/>
          <p:cNvGrpSpPr/>
          <p:nvPr/>
        </p:nvGrpSpPr>
        <p:grpSpPr>
          <a:xfrm>
            <a:off x="3021811" y="-721025"/>
            <a:ext cx="12244379" cy="2314415"/>
            <a:chOff x="-1" y="-409736"/>
            <a:chExt cx="12244377" cy="2314414"/>
          </a:xfrm>
        </p:grpSpPr>
        <p:sp>
          <p:nvSpPr>
            <p:cNvPr id="156" name="Google Shape;156;p6"/>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7" name="Google Shape;157;p6"/>
            <p:cNvSpPr/>
            <p:nvPr/>
          </p:nvSpPr>
          <p:spPr>
            <a:xfrm>
              <a:off x="4961215" y="-409736"/>
              <a:ext cx="2243459" cy="2314414"/>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8" name="Google Shape;158;p6"/>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59"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5000"/>
              <a:buFont typeface="Arial"/>
              <a:buNone/>
            </a:pPr>
            <a:r>
              <a:rPr b="1" i="0" lang="en-US" sz="5600" u="none" cap="none" strike="noStrike">
                <a:solidFill>
                  <a:srgbClr val="FDF9E0"/>
                </a:solidFill>
                <a:latin typeface="Arial"/>
                <a:ea typeface="Arial"/>
                <a:cs typeface="Arial"/>
                <a:sym typeface="Arial"/>
              </a:rPr>
              <a:t>Proposed Solution</a:t>
            </a:r>
            <a:endParaRPr/>
          </a:p>
        </p:txBody>
      </p:sp>
      <p:sp>
        <p:nvSpPr>
          <p:cNvPr id="160" name="Step 1"/>
          <p:cNvSpPr/>
          <p:nvPr/>
        </p:nvSpPr>
        <p:spPr>
          <a:xfrm>
            <a:off x="1188720"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Oval 160"/>
          <p:cNvSpPr/>
          <p:nvPr/>
        </p:nvSpPr>
        <p:spPr>
          <a:xfrm>
            <a:off x="2144268"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video-dark.png"/>
          <p:cNvPicPr>
            <a:picLocks noChangeAspect="1"/>
          </p:cNvPicPr>
          <p:nvPr/>
        </p:nvPicPr>
        <p:blipFill>
          <a:blip r:embed="rId10"/>
          <a:stretch>
            <a:fillRect/>
          </a:stretch>
        </p:blipFill>
        <p:spPr>
          <a:xfrm>
            <a:off x="2335378" y="2824582"/>
            <a:ext cx="486461" cy="486461"/>
          </a:xfrm>
          <a:prstGeom prst="rect">
            <a:avLst/>
          </a:prstGeom>
        </p:spPr>
      </p:pic>
      <p:sp>
        <p:nvSpPr>
          <p:cNvPr id="163" name="TextBox 162"/>
          <p:cNvSpPr txBox="1"/>
          <p:nvPr/>
        </p:nvSpPr>
        <p:spPr>
          <a:xfrm>
            <a:off x="1371600" y="3611880"/>
            <a:ext cx="2414016" cy="45720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FDF9E0"/>
                </a:solidFill>
                <a:latin typeface="Arial"/>
              </a:rPr>
              <a:t>1  Capture</a:t>
            </a:r>
          </a:p>
        </p:txBody>
      </p:sp>
      <p:sp>
        <p:nvSpPr>
          <p:cNvPr id="164" name="TextBox 163"/>
          <p:cNvSpPr txBox="1"/>
          <p:nvPr/>
        </p:nvSpPr>
        <p:spPr>
          <a:xfrm>
            <a:off x="1417320" y="4160520"/>
            <a:ext cx="2322576" cy="1143000"/>
          </a:xfrm>
          <a:prstGeom prst="rect">
            <a:avLst/>
          </a:prstGeom>
          <a:noFill/>
        </p:spPr>
        <p:txBody>
          <a:bodyPr wrap="square" lIns="0" rIns="0" tIns="0" bIns="0" anchor="t">
            <a:noAutofit/>
          </a:bodyPr>
          <a:lstStyle/>
          <a:p>
            <a:pPr algn="ctr">
              <a:lnSpc>
                <a:spcPct val="108000"/>
              </a:lnSpc>
              <a:spcBef>
                <a:spcPts val="0"/>
              </a:spcBef>
              <a:spcAft>
                <a:spcPts val="0"/>
              </a:spcAft>
            </a:pPr>
            <a:r>
              <a:rPr sz="2100" b="0" i="0">
                <a:solidFill>
                  <a:srgbClr val="C9C4AC"/>
                </a:solidFill>
                <a:latin typeface="Arial"/>
              </a:rPr>
              <a:t>Live CCTV or phone video</a:t>
            </a:r>
          </a:p>
        </p:txBody>
      </p:sp>
      <p:cxnSp>
        <p:nvCxnSpPr>
          <p:cNvPr id="165" name="Connector 164"/>
          <p:cNvCxnSpPr/>
          <p:nvPr/>
        </p:nvCxnSpPr>
        <p:spPr>
          <a:xfrm>
            <a:off x="4041648"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6" name="Step 2"/>
          <p:cNvSpPr/>
          <p:nvPr/>
        </p:nvSpPr>
        <p:spPr>
          <a:xfrm>
            <a:off x="4471416"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Oval 166"/>
          <p:cNvSpPr/>
          <p:nvPr/>
        </p:nvSpPr>
        <p:spPr>
          <a:xfrm>
            <a:off x="5426964"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brain-dark.png"/>
          <p:cNvPicPr>
            <a:picLocks noChangeAspect="1"/>
          </p:cNvPicPr>
          <p:nvPr/>
        </p:nvPicPr>
        <p:blipFill>
          <a:blip r:embed="rId11"/>
          <a:stretch>
            <a:fillRect/>
          </a:stretch>
        </p:blipFill>
        <p:spPr>
          <a:xfrm>
            <a:off x="5618074" y="2824582"/>
            <a:ext cx="486461" cy="486461"/>
          </a:xfrm>
          <a:prstGeom prst="rect">
            <a:avLst/>
          </a:prstGeom>
        </p:spPr>
      </p:pic>
      <p:sp>
        <p:nvSpPr>
          <p:cNvPr id="169" name="TextBox 168"/>
          <p:cNvSpPr txBox="1"/>
          <p:nvPr/>
        </p:nvSpPr>
        <p:spPr>
          <a:xfrm>
            <a:off x="4654296" y="3611880"/>
            <a:ext cx="2414016" cy="45720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FDF9E0"/>
                </a:solidFill>
                <a:latin typeface="Arial"/>
              </a:rPr>
              <a:t>2  Count</a:t>
            </a:r>
          </a:p>
        </p:txBody>
      </p:sp>
      <p:sp>
        <p:nvSpPr>
          <p:cNvPr id="170" name="TextBox 169"/>
          <p:cNvSpPr txBox="1"/>
          <p:nvPr/>
        </p:nvSpPr>
        <p:spPr>
          <a:xfrm>
            <a:off x="4700016" y="4160520"/>
            <a:ext cx="2322576" cy="1143000"/>
          </a:xfrm>
          <a:prstGeom prst="rect">
            <a:avLst/>
          </a:prstGeom>
          <a:noFill/>
        </p:spPr>
        <p:txBody>
          <a:bodyPr wrap="square" lIns="0" rIns="0" tIns="0" bIns="0" anchor="t">
            <a:noAutofit/>
          </a:bodyPr>
          <a:lstStyle/>
          <a:p>
            <a:pPr algn="ctr">
              <a:lnSpc>
                <a:spcPct val="108000"/>
              </a:lnSpc>
              <a:spcBef>
                <a:spcPts val="0"/>
              </a:spcBef>
              <a:spcAft>
                <a:spcPts val="0"/>
              </a:spcAft>
            </a:pPr>
            <a:r>
              <a:rPr sz="2100" b="0" i="0">
                <a:solidFill>
                  <a:srgbClr val="C9C4AC"/>
                </a:solidFill>
                <a:latin typeface="Arial"/>
              </a:rPr>
              <a:t>YOLO if sparse, CSRNet if packed</a:t>
            </a:r>
          </a:p>
        </p:txBody>
      </p:sp>
      <p:cxnSp>
        <p:nvCxnSpPr>
          <p:cNvPr id="171" name="Connector 170"/>
          <p:cNvCxnSpPr/>
          <p:nvPr/>
        </p:nvCxnSpPr>
        <p:spPr>
          <a:xfrm>
            <a:off x="7324344"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2" name="Step 3"/>
          <p:cNvSpPr/>
          <p:nvPr/>
        </p:nvSpPr>
        <p:spPr>
          <a:xfrm>
            <a:off x="7754112"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Oval 172"/>
          <p:cNvSpPr/>
          <p:nvPr/>
        </p:nvSpPr>
        <p:spPr>
          <a:xfrm>
            <a:off x="8709660"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grid-dark.png"/>
          <p:cNvPicPr>
            <a:picLocks noChangeAspect="1"/>
          </p:cNvPicPr>
          <p:nvPr/>
        </p:nvPicPr>
        <p:blipFill>
          <a:blip r:embed="rId12"/>
          <a:stretch>
            <a:fillRect/>
          </a:stretch>
        </p:blipFill>
        <p:spPr>
          <a:xfrm>
            <a:off x="8900770" y="2824582"/>
            <a:ext cx="486461" cy="486461"/>
          </a:xfrm>
          <a:prstGeom prst="rect">
            <a:avLst/>
          </a:prstGeom>
        </p:spPr>
      </p:pic>
      <p:sp>
        <p:nvSpPr>
          <p:cNvPr id="175" name="TextBox 174"/>
          <p:cNvSpPr txBox="1"/>
          <p:nvPr/>
        </p:nvSpPr>
        <p:spPr>
          <a:xfrm>
            <a:off x="7936992" y="3611880"/>
            <a:ext cx="2414016" cy="45720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FDF9E0"/>
                </a:solidFill>
                <a:latin typeface="Arial"/>
              </a:rPr>
              <a:t>3  Measure</a:t>
            </a:r>
          </a:p>
        </p:txBody>
      </p:sp>
      <p:sp>
        <p:nvSpPr>
          <p:cNvPr id="176" name="TextBox 175"/>
          <p:cNvSpPr txBox="1"/>
          <p:nvPr/>
        </p:nvSpPr>
        <p:spPr>
          <a:xfrm>
            <a:off x="7982712" y="4160520"/>
            <a:ext cx="2322576" cy="1143000"/>
          </a:xfrm>
          <a:prstGeom prst="rect">
            <a:avLst/>
          </a:prstGeom>
          <a:noFill/>
        </p:spPr>
        <p:txBody>
          <a:bodyPr wrap="square" lIns="0" rIns="0" tIns="0" bIns="0" anchor="t">
            <a:noAutofit/>
          </a:bodyPr>
          <a:lstStyle/>
          <a:p>
            <a:pPr algn="ctr">
              <a:lnSpc>
                <a:spcPct val="108000"/>
              </a:lnSpc>
              <a:spcBef>
                <a:spcPts val="0"/>
              </a:spcBef>
              <a:spcAft>
                <a:spcPts val="0"/>
              </a:spcAft>
            </a:pPr>
            <a:r>
              <a:rPr sz="2100" b="0" i="0">
                <a:solidFill>
                  <a:srgbClr val="C9C4AC"/>
                </a:solidFill>
                <a:latin typeface="Arial"/>
              </a:rPr>
              <a:t>People ÷ zone area = people per m²</a:t>
            </a:r>
          </a:p>
        </p:txBody>
      </p:sp>
      <p:cxnSp>
        <p:nvCxnSpPr>
          <p:cNvPr id="177" name="Connector 176"/>
          <p:cNvCxnSpPr/>
          <p:nvPr/>
        </p:nvCxnSpPr>
        <p:spPr>
          <a:xfrm>
            <a:off x="10607040"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8" name="Step 4"/>
          <p:cNvSpPr/>
          <p:nvPr/>
        </p:nvSpPr>
        <p:spPr>
          <a:xfrm>
            <a:off x="11036808"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Oval 178"/>
          <p:cNvSpPr/>
          <p:nvPr/>
        </p:nvSpPr>
        <p:spPr>
          <a:xfrm>
            <a:off x="11992356"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0" name="Picture 179" descr="wind-dark.png"/>
          <p:cNvPicPr>
            <a:picLocks noChangeAspect="1"/>
          </p:cNvPicPr>
          <p:nvPr/>
        </p:nvPicPr>
        <p:blipFill>
          <a:blip r:embed="rId13"/>
          <a:stretch>
            <a:fillRect/>
          </a:stretch>
        </p:blipFill>
        <p:spPr>
          <a:xfrm>
            <a:off x="12183466" y="2824582"/>
            <a:ext cx="486461" cy="486461"/>
          </a:xfrm>
          <a:prstGeom prst="rect">
            <a:avLst/>
          </a:prstGeom>
        </p:spPr>
      </p:pic>
      <p:sp>
        <p:nvSpPr>
          <p:cNvPr id="181" name="TextBox 180"/>
          <p:cNvSpPr txBox="1"/>
          <p:nvPr/>
        </p:nvSpPr>
        <p:spPr>
          <a:xfrm>
            <a:off x="11219688" y="3611880"/>
            <a:ext cx="2414016" cy="45720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FDF9E0"/>
                </a:solidFill>
                <a:latin typeface="Arial"/>
              </a:rPr>
              <a:t>4  Sense</a:t>
            </a:r>
          </a:p>
        </p:txBody>
      </p:sp>
      <p:sp>
        <p:nvSpPr>
          <p:cNvPr id="182" name="TextBox 181"/>
          <p:cNvSpPr txBox="1"/>
          <p:nvPr/>
        </p:nvSpPr>
        <p:spPr>
          <a:xfrm>
            <a:off x="11265408" y="4160520"/>
            <a:ext cx="2322576" cy="1143000"/>
          </a:xfrm>
          <a:prstGeom prst="rect">
            <a:avLst/>
          </a:prstGeom>
          <a:noFill/>
        </p:spPr>
        <p:txBody>
          <a:bodyPr wrap="square" lIns="0" rIns="0" tIns="0" bIns="0" anchor="t">
            <a:noAutofit/>
          </a:bodyPr>
          <a:lstStyle/>
          <a:p>
            <a:pPr algn="ctr">
              <a:lnSpc>
                <a:spcPct val="108000"/>
              </a:lnSpc>
              <a:spcBef>
                <a:spcPts val="0"/>
              </a:spcBef>
              <a:spcAft>
                <a:spcPts val="0"/>
              </a:spcAft>
            </a:pPr>
            <a:r>
              <a:rPr sz="2100" b="0" i="0">
                <a:solidFill>
                  <a:srgbClr val="C9C4AC"/>
                </a:solidFill>
                <a:latin typeface="Arial"/>
              </a:rPr>
              <a:t>Optical flow flags surges and crowds converging</a:t>
            </a:r>
          </a:p>
        </p:txBody>
      </p:sp>
      <p:cxnSp>
        <p:nvCxnSpPr>
          <p:cNvPr id="183" name="Connector 182"/>
          <p:cNvCxnSpPr/>
          <p:nvPr/>
        </p:nvCxnSpPr>
        <p:spPr>
          <a:xfrm>
            <a:off x="13889736"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4" name="Step 5"/>
          <p:cNvSpPr/>
          <p:nvPr/>
        </p:nvSpPr>
        <p:spPr>
          <a:xfrm>
            <a:off x="14319504"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Oval 184"/>
          <p:cNvSpPr/>
          <p:nvPr/>
        </p:nvSpPr>
        <p:spPr>
          <a:xfrm>
            <a:off x="15275052"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6" name="Picture 185" descr="bell-dark.png"/>
          <p:cNvPicPr>
            <a:picLocks noChangeAspect="1"/>
          </p:cNvPicPr>
          <p:nvPr/>
        </p:nvPicPr>
        <p:blipFill>
          <a:blip r:embed="rId14"/>
          <a:stretch>
            <a:fillRect/>
          </a:stretch>
        </p:blipFill>
        <p:spPr>
          <a:xfrm>
            <a:off x="15466162" y="2824582"/>
            <a:ext cx="486461" cy="486461"/>
          </a:xfrm>
          <a:prstGeom prst="rect">
            <a:avLst/>
          </a:prstGeom>
        </p:spPr>
      </p:pic>
      <p:sp>
        <p:nvSpPr>
          <p:cNvPr id="187" name="TextBox 186"/>
          <p:cNvSpPr txBox="1"/>
          <p:nvPr/>
        </p:nvSpPr>
        <p:spPr>
          <a:xfrm>
            <a:off x="14502384" y="3611880"/>
            <a:ext cx="2414016" cy="45720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FDF9E0"/>
                </a:solidFill>
                <a:latin typeface="Arial"/>
              </a:rPr>
              <a:t>5  Score + alert</a:t>
            </a:r>
          </a:p>
        </p:txBody>
      </p:sp>
      <p:sp>
        <p:nvSpPr>
          <p:cNvPr id="188" name="TextBox 187"/>
          <p:cNvSpPr txBox="1"/>
          <p:nvPr/>
        </p:nvSpPr>
        <p:spPr>
          <a:xfrm>
            <a:off x="14548104" y="4160520"/>
            <a:ext cx="2322576" cy="1143000"/>
          </a:xfrm>
          <a:prstGeom prst="rect">
            <a:avLst/>
          </a:prstGeom>
          <a:noFill/>
        </p:spPr>
        <p:txBody>
          <a:bodyPr wrap="square" lIns="0" rIns="0" tIns="0" bIns="0" anchor="t">
            <a:noAutofit/>
          </a:bodyPr>
          <a:lstStyle/>
          <a:p>
            <a:pPr algn="ctr">
              <a:lnSpc>
                <a:spcPct val="108000"/>
              </a:lnSpc>
              <a:spcBef>
                <a:spcPts val="0"/>
              </a:spcBef>
              <a:spcAft>
                <a:spcPts val="0"/>
              </a:spcAft>
            </a:pPr>
            <a:r>
              <a:rPr sz="2100" b="0" i="0">
                <a:solidFill>
                  <a:srgbClr val="C9C4AC"/>
                </a:solidFill>
                <a:latin typeface="Arial"/>
              </a:rPr>
              <a:t>Dashboard + Telegram alerts</a:t>
            </a:r>
          </a:p>
        </p:txBody>
      </p:sp>
      <p:sp>
        <p:nvSpPr>
          <p:cNvPr id="189" name="Risk levels"/>
          <p:cNvSpPr/>
          <p:nvPr/>
        </p:nvSpPr>
        <p:spPr>
          <a:xfrm>
            <a:off x="1188720" y="5669280"/>
            <a:ext cx="9326880" cy="24688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TextBox 189"/>
          <p:cNvSpPr txBox="1"/>
          <p:nvPr/>
        </p:nvSpPr>
        <p:spPr>
          <a:xfrm>
            <a:off x="1508760" y="5870448"/>
            <a:ext cx="8686800" cy="457200"/>
          </a:xfrm>
          <a:prstGeom prst="rect">
            <a:avLst/>
          </a:prstGeom>
          <a:noFill/>
        </p:spPr>
        <p:txBody>
          <a:bodyPr wrap="square" lIns="0" rIns="0" tIns="0" bIns="0" anchor="ctr">
            <a:noAutofit/>
          </a:bodyPr>
          <a:lstStyle/>
          <a:p>
            <a:pPr algn="l">
              <a:lnSpc>
                <a:spcPct val="100000"/>
              </a:lnSpc>
              <a:spcBef>
                <a:spcPts val="0"/>
              </a:spcBef>
              <a:spcAft>
                <a:spcPts val="0"/>
              </a:spcAft>
            </a:pPr>
            <a:r>
              <a:rPr sz="2700" b="1" i="0">
                <a:solidFill>
                  <a:srgbClr val="FF9A1F"/>
                </a:solidFill>
                <a:latin typeface="Arial"/>
              </a:rPr>
              <a:t>Risk levels per zone</a:t>
            </a:r>
          </a:p>
        </p:txBody>
      </p:sp>
      <p:sp>
        <p:nvSpPr>
          <p:cNvPr id="191" name="Level SAFE"/>
          <p:cNvSpPr/>
          <p:nvPr/>
        </p:nvSpPr>
        <p:spPr>
          <a:xfrm>
            <a:off x="1508760" y="6446520"/>
            <a:ext cx="2773680" cy="960120"/>
          </a:xfrm>
          <a:prstGeom prst="roundRect">
            <a:avLst>
              <a:gd name="adj" fmla="val 6000"/>
            </a:avLst>
          </a:prstGeom>
          <a:solidFill>
            <a:srgbClr val="2C2C2C"/>
          </a:solidFill>
          <a:ln w="31750">
            <a:solidFill>
              <a:srgbClr val="5BD1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Box 191"/>
          <p:cNvSpPr txBox="1"/>
          <p:nvPr/>
        </p:nvSpPr>
        <p:spPr>
          <a:xfrm>
            <a:off x="1691640" y="651967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300" b="1" i="0">
                <a:solidFill>
                  <a:srgbClr val="5BD18B"/>
                </a:solidFill>
                <a:latin typeface="Arial"/>
              </a:rPr>
              <a:t>SAFE</a:t>
            </a:r>
          </a:p>
        </p:txBody>
      </p:sp>
      <p:sp>
        <p:nvSpPr>
          <p:cNvPr id="193" name="TextBox 192"/>
          <p:cNvSpPr txBox="1"/>
          <p:nvPr/>
        </p:nvSpPr>
        <p:spPr>
          <a:xfrm>
            <a:off x="1691640" y="693115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under 4 /m²</a:t>
            </a:r>
          </a:p>
        </p:txBody>
      </p:sp>
      <p:sp>
        <p:nvSpPr>
          <p:cNvPr id="194" name="Level WARNING"/>
          <p:cNvSpPr/>
          <p:nvPr/>
        </p:nvSpPr>
        <p:spPr>
          <a:xfrm>
            <a:off x="4465320" y="6446520"/>
            <a:ext cx="2773680" cy="960120"/>
          </a:xfrm>
          <a:prstGeom prst="roundRect">
            <a:avLst>
              <a:gd name="adj" fmla="val 6000"/>
            </a:avLst>
          </a:prstGeom>
          <a:solidFill>
            <a:srgbClr val="2C2C2C"/>
          </a:solidFill>
          <a:ln w="31750">
            <a:solidFill>
              <a:srgbClr val="FFC2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TextBox 194"/>
          <p:cNvSpPr txBox="1"/>
          <p:nvPr/>
        </p:nvSpPr>
        <p:spPr>
          <a:xfrm>
            <a:off x="4648200" y="651967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300" b="1" i="0">
                <a:solidFill>
                  <a:srgbClr val="FFC23D"/>
                </a:solidFill>
                <a:latin typeface="Arial"/>
              </a:rPr>
              <a:t>WARNING</a:t>
            </a:r>
          </a:p>
        </p:txBody>
      </p:sp>
      <p:sp>
        <p:nvSpPr>
          <p:cNvPr id="196" name="TextBox 195"/>
          <p:cNvSpPr txBox="1"/>
          <p:nvPr/>
        </p:nvSpPr>
        <p:spPr>
          <a:xfrm>
            <a:off x="4648200" y="693115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4 to 6 /m²</a:t>
            </a:r>
          </a:p>
        </p:txBody>
      </p:sp>
      <p:sp>
        <p:nvSpPr>
          <p:cNvPr id="197" name="Level CRITICAL"/>
          <p:cNvSpPr/>
          <p:nvPr/>
        </p:nvSpPr>
        <p:spPr>
          <a:xfrm>
            <a:off x="7421880" y="6446520"/>
            <a:ext cx="2773680" cy="960120"/>
          </a:xfrm>
          <a:prstGeom prst="roundRect">
            <a:avLst>
              <a:gd name="adj" fmla="val 6000"/>
            </a:avLst>
          </a:prstGeom>
          <a:solidFill>
            <a:srgbClr val="2C2C2C"/>
          </a:solidFill>
          <a:ln w="31750">
            <a:solidFill>
              <a:srgbClr val="FF5A4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Box 197"/>
          <p:cNvSpPr txBox="1"/>
          <p:nvPr/>
        </p:nvSpPr>
        <p:spPr>
          <a:xfrm>
            <a:off x="7604760" y="651967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300" b="1" i="0">
                <a:solidFill>
                  <a:srgbClr val="FF5A4E"/>
                </a:solidFill>
                <a:latin typeface="Arial"/>
              </a:rPr>
              <a:t>CRITICAL</a:t>
            </a:r>
          </a:p>
        </p:txBody>
      </p:sp>
      <p:sp>
        <p:nvSpPr>
          <p:cNvPr id="199" name="TextBox 198"/>
          <p:cNvSpPr txBox="1"/>
          <p:nvPr/>
        </p:nvSpPr>
        <p:spPr>
          <a:xfrm>
            <a:off x="7604760" y="693115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6+ /m² or a surge</a:t>
            </a:r>
          </a:p>
        </p:txBody>
      </p:sp>
      <p:sp>
        <p:nvSpPr>
          <p:cNvPr id="200" name="TextBox 199"/>
          <p:cNvSpPr txBox="1"/>
          <p:nvPr/>
        </p:nvSpPr>
        <p:spPr>
          <a:xfrm>
            <a:off x="1508760" y="7516368"/>
            <a:ext cx="8686800" cy="548640"/>
          </a:xfrm>
          <a:prstGeom prst="rect">
            <a:avLst/>
          </a:prstGeom>
          <a:noFill/>
        </p:spPr>
        <p:txBody>
          <a:bodyPr wrap="square" lIns="0" rIns="0" tIns="0" bIns="0" anchor="t">
            <a:noAutofit/>
          </a:bodyPr>
          <a:lstStyle/>
          <a:p>
            <a:pPr algn="l">
              <a:lnSpc>
                <a:spcPct val="105000"/>
              </a:lnSpc>
              <a:spcBef>
                <a:spcPts val="0"/>
              </a:spcBef>
              <a:spcAft>
                <a:spcPts val="0"/>
              </a:spcAft>
            </a:pPr>
            <a:r>
              <a:rPr sz="1800" b="0" i="0">
                <a:solidFill>
                  <a:srgbClr val="C9C4AC"/>
                </a:solidFill>
                <a:latin typeface="Arial"/>
              </a:rPr>
              <a:t>Based on crowd scientist Prof. G. Keith Still's guidance; tunable per venue.</a:t>
            </a:r>
          </a:p>
        </p:txBody>
      </p:sp>
      <p:sp>
        <p:nvSpPr>
          <p:cNvPr id="201" name="Build plan"/>
          <p:cNvSpPr/>
          <p:nvPr/>
        </p:nvSpPr>
        <p:spPr>
          <a:xfrm>
            <a:off x="10789920" y="5669280"/>
            <a:ext cx="6309360" cy="24688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TextBox 201"/>
          <p:cNvSpPr txBox="1"/>
          <p:nvPr/>
        </p:nvSpPr>
        <p:spPr>
          <a:xfrm>
            <a:off x="11109960" y="5870448"/>
            <a:ext cx="5669280" cy="457200"/>
          </a:xfrm>
          <a:prstGeom prst="rect">
            <a:avLst/>
          </a:prstGeom>
          <a:noFill/>
        </p:spPr>
        <p:txBody>
          <a:bodyPr wrap="square" lIns="0" rIns="0" tIns="0" bIns="0" anchor="ctr">
            <a:noAutofit/>
          </a:bodyPr>
          <a:lstStyle/>
          <a:p>
            <a:pPr algn="l">
              <a:lnSpc>
                <a:spcPct val="100000"/>
              </a:lnSpc>
              <a:spcBef>
                <a:spcPts val="0"/>
              </a:spcBef>
              <a:spcAft>
                <a:spcPts val="0"/>
              </a:spcAft>
            </a:pPr>
            <a:r>
              <a:rPr sz="2700" b="1" i="0">
                <a:solidFill>
                  <a:srgbClr val="FF9A1F"/>
                </a:solidFill>
                <a:latin typeface="Arial"/>
              </a:rPr>
              <a:t>Our 10-hour build, 4 people</a:t>
            </a:r>
          </a:p>
        </p:txBody>
      </p:sp>
      <p:sp>
        <p:nvSpPr>
          <p:cNvPr id="203" name="TextBox 202"/>
          <p:cNvSpPr txBox="1"/>
          <p:nvPr/>
        </p:nvSpPr>
        <p:spPr>
          <a:xfrm>
            <a:off x="11109960" y="6492240"/>
            <a:ext cx="5669280" cy="1554480"/>
          </a:xfrm>
          <a:prstGeom prst="rect">
            <a:avLst/>
          </a:prstGeom>
          <a:noFill/>
        </p:spPr>
        <p:txBody>
          <a:bodyPr wrap="square" lIns="0" rIns="0" tIns="0" bIns="0" anchor="t">
            <a:noAutofit/>
          </a:bodyPr>
          <a:lstStyle/>
          <a:p>
            <a:pPr algn="l" marL="347472" indent="-347472">
              <a:lnSpc>
                <a:spcPct val="105000"/>
              </a:lnSpc>
              <a:spcBef>
                <a:spcPts val="0"/>
              </a:spcBef>
              <a:spcAft>
                <a:spcPts val="400"/>
              </a:spcAft>
              <a:buClr>
                <a:srgbClr val="FF9A1F"/>
              </a:buClr>
              <a:buSzPct val="100000"/>
              <a:buFont typeface="Arial"/>
              <a:buChar char="•"/>
            </a:pPr>
            <a:r>
              <a:rPr sz="2200" b="1" i="0">
                <a:solidFill>
                  <a:srgbClr val="FDF9E0"/>
                </a:solidFill>
                <a:latin typeface="Arial"/>
              </a:rPr>
              <a:t>P1 </a:t>
            </a:r>
            <a:r>
              <a:rPr sz="2200" b="0" i="0">
                <a:solidFill>
                  <a:srgbClr val="FDF9E0"/>
                </a:solidFill>
                <a:latin typeface="Arial"/>
              </a:rPr>
              <a:t>Video pipeline + YOLO counts</a:t>
            </a:r>
          </a:p>
          <a:p>
            <a:pPr algn="l" marL="347472" indent="-347472">
              <a:lnSpc>
                <a:spcPct val="105000"/>
              </a:lnSpc>
              <a:spcBef>
                <a:spcPts val="0"/>
              </a:spcBef>
              <a:spcAft>
                <a:spcPts val="400"/>
              </a:spcAft>
              <a:buClr>
                <a:srgbClr val="FF9A1F"/>
              </a:buClr>
              <a:buSzPct val="100000"/>
              <a:buFont typeface="Arial"/>
              <a:buChar char="•"/>
            </a:pPr>
            <a:r>
              <a:rPr sz="2200" b="1" i="0">
                <a:solidFill>
                  <a:srgbClr val="FDF9E0"/>
                </a:solidFill>
                <a:latin typeface="Arial"/>
              </a:rPr>
              <a:t>P2 </a:t>
            </a:r>
            <a:r>
              <a:rPr sz="2200" b="0" i="0">
                <a:solidFill>
                  <a:srgbClr val="FDF9E0"/>
                </a:solidFill>
                <a:latin typeface="Arial"/>
              </a:rPr>
              <a:t>Density model + heatmap</a:t>
            </a:r>
          </a:p>
          <a:p>
            <a:pPr algn="l" marL="347472" indent="-347472">
              <a:lnSpc>
                <a:spcPct val="105000"/>
              </a:lnSpc>
              <a:spcBef>
                <a:spcPts val="0"/>
              </a:spcBef>
              <a:spcAft>
                <a:spcPts val="400"/>
              </a:spcAft>
              <a:buClr>
                <a:srgbClr val="FF9A1F"/>
              </a:buClr>
              <a:buSzPct val="100000"/>
              <a:buFont typeface="Arial"/>
              <a:buChar char="•"/>
            </a:pPr>
            <a:r>
              <a:rPr sz="2200" b="1" i="0">
                <a:solidFill>
                  <a:srgbClr val="FDF9E0"/>
                </a:solidFill>
                <a:latin typeface="Arial"/>
              </a:rPr>
              <a:t>P3 </a:t>
            </a:r>
            <a:r>
              <a:rPr sz="2200" b="0" i="0">
                <a:solidFill>
                  <a:srgbClr val="FDF9E0"/>
                </a:solidFill>
                <a:latin typeface="Arial"/>
              </a:rPr>
              <a:t>Optical flow + risk engine</a:t>
            </a:r>
          </a:p>
          <a:p>
            <a:pPr algn="l" marL="347472" indent="-347472">
              <a:lnSpc>
                <a:spcPct val="105000"/>
              </a:lnSpc>
              <a:spcBef>
                <a:spcPts val="0"/>
              </a:spcBef>
              <a:spcAft>
                <a:spcPts val="0"/>
              </a:spcAft>
              <a:buClr>
                <a:srgbClr val="FF9A1F"/>
              </a:buClr>
              <a:buSzPct val="100000"/>
              <a:buFont typeface="Arial"/>
              <a:buChar char="•"/>
            </a:pPr>
            <a:r>
              <a:rPr sz="2200" b="1" i="0">
                <a:solidFill>
                  <a:srgbClr val="FDF9E0"/>
                </a:solidFill>
                <a:latin typeface="Arial"/>
              </a:rPr>
              <a:t>P4 </a:t>
            </a:r>
            <a:r>
              <a:rPr sz="2200" b="0" i="0">
                <a:solidFill>
                  <a:srgbClr val="FDF9E0"/>
                </a:solidFill>
                <a:latin typeface="Arial"/>
              </a:rPr>
              <a:t>Dashboard + Telegram alerts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163" name="Shape 163"/>
        <p:cNvGrpSpPr/>
        <p:nvPr/>
      </p:nvGrpSpPr>
      <p:grpSpPr>
        <a:xfrm>
          <a:off x="0" y="0"/>
          <a:ext cx="0" cy="0"/>
          <a:chOff x="0" y="0"/>
          <a:chExt cx="0" cy="0"/>
        </a:xfrm>
      </p:grpSpPr>
      <p:sp>
        <p:nvSpPr>
          <p:cNvPr id="164" name="Google Shape;164;p7"/>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5" name="Google Shape;165;p7"/>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66" name="Google Shape;166;p7"/>
          <p:cNvGrpSpPr/>
          <p:nvPr/>
        </p:nvGrpSpPr>
        <p:grpSpPr>
          <a:xfrm>
            <a:off x="2368788" y="8390623"/>
            <a:ext cx="13550424" cy="2179108"/>
            <a:chOff x="0" y="-1"/>
            <a:chExt cx="13550423" cy="2179107"/>
          </a:xfrm>
        </p:grpSpPr>
        <p:sp>
          <p:nvSpPr>
            <p:cNvPr id="167" name="Google Shape;167;p7"/>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8" name="Google Shape;168;p7"/>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9" name="Google Shape;169;p7"/>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0" name="Google Shape;170;p7"/>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1" name="Google Shape;171;p7"/>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72" name="Google Shape;172;p7"/>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3" name="Google Shape;173;p7"/>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74" name="Google Shape;174;p7"/>
          <p:cNvGrpSpPr/>
          <p:nvPr/>
        </p:nvGrpSpPr>
        <p:grpSpPr>
          <a:xfrm>
            <a:off x="3021811" y="-578343"/>
            <a:ext cx="12244379" cy="2029052"/>
            <a:chOff x="-1" y="-267054"/>
            <a:chExt cx="12244377" cy="2029050"/>
          </a:xfrm>
        </p:grpSpPr>
        <p:sp>
          <p:nvSpPr>
            <p:cNvPr id="175" name="Google Shape;175;p7"/>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6" name="Google Shape;176;p7"/>
            <p:cNvSpPr/>
            <p:nvPr/>
          </p:nvSpPr>
          <p:spPr>
            <a:xfrm>
              <a:off x="4947136" y="-267054"/>
              <a:ext cx="2243460" cy="2029050"/>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7" name="Google Shape;177;p7"/>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78"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5000"/>
              <a:buFont typeface="Arial"/>
              <a:buNone/>
            </a:pPr>
            <a:r>
              <a:rPr b="1" i="0" lang="en-US" sz="5600" u="none" cap="none" strike="noStrike">
                <a:solidFill>
                  <a:srgbClr val="FDF9E0"/>
                </a:solidFill>
                <a:latin typeface="Arial"/>
                <a:ea typeface="Arial"/>
                <a:cs typeface="Arial"/>
                <a:sym typeface="Arial"/>
              </a:rPr>
              <a:t>Technologies Used</a:t>
            </a:r>
            <a:endParaRPr/>
          </a:p>
        </p:txBody>
      </p:sp>
      <p:sp>
        <p:nvSpPr>
          <p:cNvPr id="179" name="Tech Vision models"/>
          <p:cNvSpPr/>
          <p:nvPr/>
        </p:nvSpPr>
        <p:spPr>
          <a:xfrm>
            <a:off x="118872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Oval 179"/>
          <p:cNvSpPr/>
          <p:nvPr/>
        </p:nvSpPr>
        <p:spPr>
          <a:xfrm>
            <a:off x="150876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1" name="Picture 180" descr="eye-dark.png"/>
          <p:cNvPicPr>
            <a:picLocks noChangeAspect="1"/>
          </p:cNvPicPr>
          <p:nvPr/>
        </p:nvPicPr>
        <p:blipFill>
          <a:blip r:embed="rId10"/>
          <a:stretch>
            <a:fillRect/>
          </a:stretch>
        </p:blipFill>
        <p:spPr>
          <a:xfrm>
            <a:off x="1679753" y="2822753"/>
            <a:ext cx="435254" cy="435254"/>
          </a:xfrm>
          <a:prstGeom prst="rect">
            <a:avLst/>
          </a:prstGeom>
        </p:spPr>
      </p:pic>
      <p:sp>
        <p:nvSpPr>
          <p:cNvPr id="182" name="TextBox 181"/>
          <p:cNvSpPr txBox="1"/>
          <p:nvPr/>
        </p:nvSpPr>
        <p:spPr>
          <a:xfrm>
            <a:off x="2514600" y="265176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Vision models</a:t>
            </a:r>
          </a:p>
        </p:txBody>
      </p:sp>
      <p:sp>
        <p:nvSpPr>
          <p:cNvPr id="183" name="TextBox 182"/>
          <p:cNvSpPr txBox="1"/>
          <p:nvPr/>
        </p:nvSpPr>
        <p:spPr>
          <a:xfrm>
            <a:off x="1508760" y="370332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YOLOv8 for people detection</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CSRNet for dense crowds</a:t>
            </a:r>
          </a:p>
        </p:txBody>
      </p:sp>
      <p:sp>
        <p:nvSpPr>
          <p:cNvPr id="184" name="Tech Video and motion"/>
          <p:cNvSpPr/>
          <p:nvPr/>
        </p:nvSpPr>
        <p:spPr>
          <a:xfrm>
            <a:off x="658368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Oval 184"/>
          <p:cNvSpPr/>
          <p:nvPr/>
        </p:nvSpPr>
        <p:spPr>
          <a:xfrm>
            <a:off x="690372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6" name="Picture 185" descr="video-dark.png"/>
          <p:cNvPicPr>
            <a:picLocks noChangeAspect="1"/>
          </p:cNvPicPr>
          <p:nvPr/>
        </p:nvPicPr>
        <p:blipFill>
          <a:blip r:embed="rId11"/>
          <a:stretch>
            <a:fillRect/>
          </a:stretch>
        </p:blipFill>
        <p:spPr>
          <a:xfrm>
            <a:off x="7074713" y="2822753"/>
            <a:ext cx="435254" cy="435254"/>
          </a:xfrm>
          <a:prstGeom prst="rect">
            <a:avLst/>
          </a:prstGeom>
        </p:spPr>
      </p:pic>
      <p:sp>
        <p:nvSpPr>
          <p:cNvPr id="187" name="TextBox 186"/>
          <p:cNvSpPr txBox="1"/>
          <p:nvPr/>
        </p:nvSpPr>
        <p:spPr>
          <a:xfrm>
            <a:off x="7909560" y="265176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Video and motion</a:t>
            </a:r>
          </a:p>
        </p:txBody>
      </p:sp>
      <p:sp>
        <p:nvSpPr>
          <p:cNvPr id="188" name="TextBox 187"/>
          <p:cNvSpPr txBox="1"/>
          <p:nvPr/>
        </p:nvSpPr>
        <p:spPr>
          <a:xfrm>
            <a:off x="6903720" y="370332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OpenCV for frames and zones</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Farneback optical flow</a:t>
            </a:r>
          </a:p>
        </p:txBody>
      </p:sp>
      <p:sp>
        <p:nvSpPr>
          <p:cNvPr id="189" name="Tech Core"/>
          <p:cNvSpPr/>
          <p:nvPr/>
        </p:nvSpPr>
        <p:spPr>
          <a:xfrm>
            <a:off x="1197864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Oval 189"/>
          <p:cNvSpPr/>
          <p:nvPr/>
        </p:nvSpPr>
        <p:spPr>
          <a:xfrm>
            <a:off x="1229868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1" name="Picture 190" descr="python-dark.png"/>
          <p:cNvPicPr>
            <a:picLocks noChangeAspect="1"/>
          </p:cNvPicPr>
          <p:nvPr/>
        </p:nvPicPr>
        <p:blipFill>
          <a:blip r:embed="rId12"/>
          <a:stretch>
            <a:fillRect/>
          </a:stretch>
        </p:blipFill>
        <p:spPr>
          <a:xfrm>
            <a:off x="12469673" y="2822753"/>
            <a:ext cx="435254" cy="435254"/>
          </a:xfrm>
          <a:prstGeom prst="rect">
            <a:avLst/>
          </a:prstGeom>
        </p:spPr>
      </p:pic>
      <p:sp>
        <p:nvSpPr>
          <p:cNvPr id="192" name="TextBox 191"/>
          <p:cNvSpPr txBox="1"/>
          <p:nvPr/>
        </p:nvSpPr>
        <p:spPr>
          <a:xfrm>
            <a:off x="13304520" y="265176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Core</a:t>
            </a:r>
          </a:p>
        </p:txBody>
      </p:sp>
      <p:sp>
        <p:nvSpPr>
          <p:cNvPr id="193" name="TextBox 192"/>
          <p:cNvSpPr txBox="1"/>
          <p:nvPr/>
        </p:nvSpPr>
        <p:spPr>
          <a:xfrm>
            <a:off x="12298680" y="370332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Python, PyTorch, NumPy</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Runs on one GPU laptop</a:t>
            </a:r>
          </a:p>
        </p:txBody>
      </p:sp>
      <p:sp>
        <p:nvSpPr>
          <p:cNvPr id="194" name="Tech Dashboard"/>
          <p:cNvSpPr/>
          <p:nvPr/>
        </p:nvSpPr>
        <p:spPr>
          <a:xfrm>
            <a:off x="118872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Oval 194"/>
          <p:cNvSpPr/>
          <p:nvPr/>
        </p:nvSpPr>
        <p:spPr>
          <a:xfrm>
            <a:off x="150876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6" name="Picture 195" descr="dash-dark.png"/>
          <p:cNvPicPr>
            <a:picLocks noChangeAspect="1"/>
          </p:cNvPicPr>
          <p:nvPr/>
        </p:nvPicPr>
        <p:blipFill>
          <a:blip r:embed="rId13"/>
          <a:stretch>
            <a:fillRect/>
          </a:stretch>
        </p:blipFill>
        <p:spPr>
          <a:xfrm>
            <a:off x="1679753" y="5840273"/>
            <a:ext cx="435254" cy="435254"/>
          </a:xfrm>
          <a:prstGeom prst="rect">
            <a:avLst/>
          </a:prstGeom>
        </p:spPr>
      </p:pic>
      <p:sp>
        <p:nvSpPr>
          <p:cNvPr id="197" name="TextBox 196"/>
          <p:cNvSpPr txBox="1"/>
          <p:nvPr/>
        </p:nvSpPr>
        <p:spPr>
          <a:xfrm>
            <a:off x="2514600" y="566928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Dashboard</a:t>
            </a:r>
          </a:p>
        </p:txBody>
      </p:sp>
      <p:sp>
        <p:nvSpPr>
          <p:cNvPr id="198" name="TextBox 197"/>
          <p:cNvSpPr txBox="1"/>
          <p:nvPr/>
        </p:nvSpPr>
        <p:spPr>
          <a:xfrm>
            <a:off x="1508760" y="672084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Streamlit live control room</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Plotly heatmaps and trends</a:t>
            </a:r>
          </a:p>
        </p:txBody>
      </p:sp>
      <p:sp>
        <p:nvSpPr>
          <p:cNvPr id="199" name="Tech Alerts"/>
          <p:cNvSpPr/>
          <p:nvPr/>
        </p:nvSpPr>
        <p:spPr>
          <a:xfrm>
            <a:off x="658368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Oval 199"/>
          <p:cNvSpPr/>
          <p:nvPr/>
        </p:nvSpPr>
        <p:spPr>
          <a:xfrm>
            <a:off x="690372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1" name="Picture 200" descr="telegram-dark.png"/>
          <p:cNvPicPr>
            <a:picLocks noChangeAspect="1"/>
          </p:cNvPicPr>
          <p:nvPr/>
        </p:nvPicPr>
        <p:blipFill>
          <a:blip r:embed="rId14"/>
          <a:stretch>
            <a:fillRect/>
          </a:stretch>
        </p:blipFill>
        <p:spPr>
          <a:xfrm>
            <a:off x="7074713" y="5840273"/>
            <a:ext cx="435254" cy="435254"/>
          </a:xfrm>
          <a:prstGeom prst="rect">
            <a:avLst/>
          </a:prstGeom>
        </p:spPr>
      </p:pic>
      <p:sp>
        <p:nvSpPr>
          <p:cNvPr id="202" name="TextBox 201"/>
          <p:cNvSpPr txBox="1"/>
          <p:nvPr/>
        </p:nvSpPr>
        <p:spPr>
          <a:xfrm>
            <a:off x="7909560" y="566928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Alerts</a:t>
            </a:r>
          </a:p>
        </p:txBody>
      </p:sp>
      <p:sp>
        <p:nvSpPr>
          <p:cNvPr id="203" name="TextBox 202"/>
          <p:cNvSpPr txBox="1"/>
          <p:nvPr/>
        </p:nvSpPr>
        <p:spPr>
          <a:xfrm>
            <a:off x="6903720" y="672084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Telegram bot, free and instant</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Twilio SMS as a backup</a:t>
            </a:r>
          </a:p>
        </p:txBody>
      </p:sp>
      <p:sp>
        <p:nvSpPr>
          <p:cNvPr id="204" name="Tech Data and testing"/>
          <p:cNvSpPr/>
          <p:nvPr/>
        </p:nvSpPr>
        <p:spPr>
          <a:xfrm>
            <a:off x="1197864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Oval 204"/>
          <p:cNvSpPr/>
          <p:nvPr/>
        </p:nvSpPr>
        <p:spPr>
          <a:xfrm>
            <a:off x="1229868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6" name="Picture 205" descr="db-dark.png"/>
          <p:cNvPicPr>
            <a:picLocks noChangeAspect="1"/>
          </p:cNvPicPr>
          <p:nvPr/>
        </p:nvPicPr>
        <p:blipFill>
          <a:blip r:embed="rId15"/>
          <a:stretch>
            <a:fillRect/>
          </a:stretch>
        </p:blipFill>
        <p:spPr>
          <a:xfrm>
            <a:off x="12469673" y="5840273"/>
            <a:ext cx="435254" cy="435254"/>
          </a:xfrm>
          <a:prstGeom prst="rect">
            <a:avLst/>
          </a:prstGeom>
        </p:spPr>
      </p:pic>
      <p:sp>
        <p:nvSpPr>
          <p:cNvPr id="207" name="TextBox 206"/>
          <p:cNvSpPr txBox="1"/>
          <p:nvPr/>
        </p:nvSpPr>
        <p:spPr>
          <a:xfrm>
            <a:off x="13304520" y="566928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Data and testing</a:t>
            </a:r>
          </a:p>
        </p:txBody>
      </p:sp>
      <p:sp>
        <p:nvSpPr>
          <p:cNvPr id="208" name="TextBox 207"/>
          <p:cNvSpPr txBox="1"/>
          <p:nvPr/>
        </p:nvSpPr>
        <p:spPr>
          <a:xfrm>
            <a:off x="12298680" y="672084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ShanghaiTech for accuracy</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UMN + our clips for surges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182" name="Shape 182"/>
        <p:cNvGrpSpPr/>
        <p:nvPr/>
      </p:nvGrpSpPr>
      <p:grpSpPr>
        <a:xfrm>
          <a:off x="0" y="0"/>
          <a:ext cx="0" cy="0"/>
          <a:chOff x="0" y="0"/>
          <a:chExt cx="0" cy="0"/>
        </a:xfrm>
      </p:grpSpPr>
      <p:sp>
        <p:nvSpPr>
          <p:cNvPr id="183" name="Google Shape;183;p8"/>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4" name="Google Shape;184;p8"/>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5" name="Google Shape;185;p8"/>
          <p:cNvGrpSpPr/>
          <p:nvPr/>
        </p:nvGrpSpPr>
        <p:grpSpPr>
          <a:xfrm>
            <a:off x="2368788" y="8390623"/>
            <a:ext cx="13550424" cy="2179108"/>
            <a:chOff x="0" y="-1"/>
            <a:chExt cx="13550423" cy="2179107"/>
          </a:xfrm>
        </p:grpSpPr>
        <p:sp>
          <p:nvSpPr>
            <p:cNvPr id="186" name="Google Shape;186;p8"/>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7" name="Google Shape;187;p8"/>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8" name="Google Shape;188;p8"/>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9" name="Google Shape;189;p8"/>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0" name="Google Shape;190;p8"/>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91" name="Google Shape;191;p8"/>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2" name="Google Shape;192;p8"/>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93" name="Google Shape;193;p8"/>
          <p:cNvGrpSpPr/>
          <p:nvPr/>
        </p:nvGrpSpPr>
        <p:grpSpPr>
          <a:xfrm>
            <a:off x="3021811" y="-598718"/>
            <a:ext cx="12244379" cy="2069801"/>
            <a:chOff x="-1" y="-287429"/>
            <a:chExt cx="12244377" cy="2069800"/>
          </a:xfrm>
        </p:grpSpPr>
        <p:sp>
          <p:nvSpPr>
            <p:cNvPr id="194" name="Google Shape;194;p8"/>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5" name="Google Shape;195;p8"/>
            <p:cNvSpPr/>
            <p:nvPr/>
          </p:nvSpPr>
          <p:spPr>
            <a:xfrm>
              <a:off x="4904900" y="-287429"/>
              <a:ext cx="2243460" cy="2069800"/>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6" name="Google Shape;196;p8"/>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97"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5000"/>
              <a:buFont typeface="Arial"/>
              <a:buNone/>
            </a:pPr>
            <a:r>
              <a:rPr b="1" i="0" lang="en-US" sz="5600" u="none" cap="none" strike="noStrike">
                <a:solidFill>
                  <a:srgbClr val="FDF9E0"/>
                </a:solidFill>
                <a:latin typeface="Arial"/>
                <a:ea typeface="Arial"/>
                <a:cs typeface="Arial"/>
                <a:sym typeface="Arial"/>
              </a:rPr>
              <a:t>Wireframe: Live Control Room</a:t>
            </a:r>
            <a:endParaRPr/>
          </a:p>
        </p:txBody>
      </p:sp>
      <p:sp>
        <p:nvSpPr>
          <p:cNvPr id="198" name="App window"/>
          <p:cNvSpPr/>
          <p:nvPr/>
        </p:nvSpPr>
        <p:spPr>
          <a:xfrm>
            <a:off x="1188720" y="2377440"/>
            <a:ext cx="15910560" cy="5760720"/>
          </a:xfrm>
          <a:prstGeom prst="roundRect">
            <a:avLst>
              <a:gd name="adj" fmla="val 3000"/>
            </a:avLst>
          </a:prstGeom>
          <a:solidFill>
            <a:srgbClr val="2C2C2C"/>
          </a:solidFill>
          <a:ln w="19050">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Oval 198"/>
          <p:cNvSpPr/>
          <p:nvPr/>
        </p:nvSpPr>
        <p:spPr>
          <a:xfrm>
            <a:off x="1463040" y="2532888"/>
            <a:ext cx="457200" cy="45720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0" name="Picture 199" descr="ghost-dark.png"/>
          <p:cNvPicPr>
            <a:picLocks noChangeAspect="1"/>
          </p:cNvPicPr>
          <p:nvPr/>
        </p:nvPicPr>
        <p:blipFill>
          <a:blip r:embed="rId10"/>
          <a:stretch>
            <a:fillRect/>
          </a:stretch>
        </p:blipFill>
        <p:spPr>
          <a:xfrm>
            <a:off x="1554480" y="2624328"/>
            <a:ext cx="274320" cy="274320"/>
          </a:xfrm>
          <a:prstGeom prst="rect">
            <a:avLst/>
          </a:prstGeom>
        </p:spPr>
      </p:pic>
      <p:sp>
        <p:nvSpPr>
          <p:cNvPr id="201" name="TextBox 200"/>
          <p:cNvSpPr txBox="1"/>
          <p:nvPr/>
        </p:nvSpPr>
        <p:spPr>
          <a:xfrm>
            <a:off x="2057400" y="2487168"/>
            <a:ext cx="7315200" cy="548640"/>
          </a:xfrm>
          <a:prstGeom prst="rect">
            <a:avLst/>
          </a:prstGeom>
          <a:noFill/>
        </p:spPr>
        <p:txBody>
          <a:bodyPr wrap="square" lIns="0" rIns="0" tIns="0" bIns="0" anchor="ctr">
            <a:noAutofit/>
          </a:bodyPr>
          <a:lstStyle/>
          <a:p>
            <a:pPr algn="l">
              <a:lnSpc>
                <a:spcPct val="100000"/>
              </a:lnSpc>
              <a:spcBef>
                <a:spcPts val="0"/>
              </a:spcBef>
              <a:spcAft>
                <a:spcPts val="0"/>
              </a:spcAft>
            </a:pPr>
            <a:r>
              <a:rPr sz="2200" b="1" i="0">
                <a:solidFill>
                  <a:srgbClr val="FF9A1F"/>
                </a:solidFill>
                <a:latin typeface="Arial"/>
              </a:rPr>
              <a:t>Poltergeist</a:t>
            </a:r>
            <a:r>
              <a:rPr sz="2200" b="0" i="0">
                <a:solidFill>
                  <a:srgbClr val="FDF9E0"/>
                </a:solidFill>
                <a:latin typeface="Arial"/>
              </a:rPr>
              <a:t>  ·  Live crowd monitor</a:t>
            </a:r>
          </a:p>
        </p:txBody>
      </p:sp>
      <p:sp>
        <p:nvSpPr>
          <p:cNvPr id="202" name="TextBox 201"/>
          <p:cNvSpPr txBox="1"/>
          <p:nvPr/>
        </p:nvSpPr>
        <p:spPr>
          <a:xfrm>
            <a:off x="11338560" y="2487168"/>
            <a:ext cx="5486400" cy="548640"/>
          </a:xfrm>
          <a:prstGeom prst="rect">
            <a:avLst/>
          </a:prstGeom>
          <a:noFill/>
        </p:spPr>
        <p:txBody>
          <a:bodyPr wrap="square" lIns="0" rIns="0" tIns="0" bIns="0" anchor="ctr">
            <a:noAutofit/>
          </a:bodyPr>
          <a:lstStyle/>
          <a:p>
            <a:pPr algn="r">
              <a:lnSpc>
                <a:spcPct val="100000"/>
              </a:lnSpc>
              <a:spcBef>
                <a:spcPts val="0"/>
              </a:spcBef>
              <a:spcAft>
                <a:spcPts val="0"/>
              </a:spcAft>
            </a:pPr>
            <a:r>
              <a:rPr sz="2000" b="0" i="0">
                <a:solidFill>
                  <a:srgbClr val="C9C4AC"/>
                </a:solidFill>
                <a:latin typeface="Arial"/>
              </a:rPr>
              <a:t>3 cameras live  ·  18:42</a:t>
            </a:r>
          </a:p>
        </p:txBody>
      </p:sp>
      <p:pic>
        <p:nvPicPr>
          <p:cNvPr id="203" name="Picture 202" descr="camera_heatmap.png"/>
          <p:cNvPicPr>
            <a:picLocks noChangeAspect="1"/>
          </p:cNvPicPr>
          <p:nvPr/>
        </p:nvPicPr>
        <p:blipFill>
          <a:blip r:embed="rId11"/>
          <a:stretch>
            <a:fillRect/>
          </a:stretch>
        </p:blipFill>
        <p:spPr>
          <a:xfrm>
            <a:off x="1463040" y="3154680"/>
            <a:ext cx="8412480" cy="4732020"/>
          </a:xfrm>
          <a:prstGeom prst="rect">
            <a:avLst/>
          </a:prstGeom>
        </p:spPr>
      </p:pic>
      <p:sp>
        <p:nvSpPr>
          <p:cNvPr id="204" name="TextBox 203"/>
          <p:cNvSpPr txBox="1"/>
          <p:nvPr/>
        </p:nvSpPr>
        <p:spPr>
          <a:xfrm>
            <a:off x="10149840" y="3154680"/>
            <a:ext cx="6675120" cy="411480"/>
          </a:xfrm>
          <a:prstGeom prst="rect">
            <a:avLst/>
          </a:prstGeom>
          <a:noFill/>
        </p:spPr>
        <p:txBody>
          <a:bodyPr wrap="square" lIns="0" rIns="0" tIns="0" bIns="0" anchor="ctr">
            <a:noAutofit/>
          </a:bodyPr>
          <a:lstStyle/>
          <a:p>
            <a:pPr algn="l">
              <a:lnSpc>
                <a:spcPct val="100000"/>
              </a:lnSpc>
              <a:spcBef>
                <a:spcPts val="0"/>
              </a:spcBef>
              <a:spcAft>
                <a:spcPts val="0"/>
              </a:spcAft>
            </a:pPr>
            <a:r>
              <a:rPr sz="1800" b="1" i="0">
                <a:solidFill>
                  <a:srgbClr val="C9C4AC"/>
                </a:solidFill>
                <a:latin typeface="Arial"/>
              </a:rPr>
              <a:t>ZONES</a:t>
            </a:r>
          </a:p>
        </p:txBody>
      </p:sp>
      <p:sp>
        <p:nvSpPr>
          <p:cNvPr id="205" name="Zone Gate 3"/>
          <p:cNvSpPr/>
          <p:nvPr/>
        </p:nvSpPr>
        <p:spPr>
          <a:xfrm>
            <a:off x="10149840" y="3611880"/>
            <a:ext cx="6675120" cy="566928"/>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Oval 205"/>
          <p:cNvSpPr/>
          <p:nvPr/>
        </p:nvSpPr>
        <p:spPr>
          <a:xfrm>
            <a:off x="10351008" y="3794760"/>
            <a:ext cx="201168" cy="201168"/>
          </a:xfrm>
          <a:prstGeom prst="ellipse">
            <a:avLst/>
          </a:prstGeom>
          <a:solidFill>
            <a:srgbClr val="FF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10698480" y="3611880"/>
            <a:ext cx="2377440" cy="56692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FDF9E0"/>
                </a:solidFill>
                <a:latin typeface="Arial"/>
              </a:rPr>
              <a:t>Gate 3</a:t>
            </a:r>
          </a:p>
        </p:txBody>
      </p:sp>
      <p:sp>
        <p:nvSpPr>
          <p:cNvPr id="208" name="TextBox 207"/>
          <p:cNvSpPr txBox="1"/>
          <p:nvPr/>
        </p:nvSpPr>
        <p:spPr>
          <a:xfrm>
            <a:off x="12893040" y="3611880"/>
            <a:ext cx="1371600" cy="566928"/>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6.4 /m²</a:t>
            </a:r>
          </a:p>
        </p:txBody>
      </p:sp>
      <p:sp>
        <p:nvSpPr>
          <p:cNvPr id="209" name="Status Gate 3"/>
          <p:cNvSpPr/>
          <p:nvPr/>
        </p:nvSpPr>
        <p:spPr>
          <a:xfrm>
            <a:off x="15041880" y="3712464"/>
            <a:ext cx="1600200" cy="365760"/>
          </a:xfrm>
          <a:prstGeom prst="roundRect">
            <a:avLst>
              <a:gd name="adj" fmla="val 50000"/>
            </a:avLst>
          </a:prstGeom>
          <a:solidFill>
            <a:srgbClr val="FF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TextBox 209"/>
          <p:cNvSpPr txBox="1"/>
          <p:nvPr/>
        </p:nvSpPr>
        <p:spPr>
          <a:xfrm>
            <a:off x="15041880" y="3712464"/>
            <a:ext cx="1600200" cy="36576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1E1E1E"/>
                </a:solidFill>
                <a:latin typeface="Arial"/>
              </a:rPr>
              <a:t>CRITICAL</a:t>
            </a:r>
          </a:p>
        </p:txBody>
      </p:sp>
      <p:sp>
        <p:nvSpPr>
          <p:cNvPr id="211" name="Zone Concourse"/>
          <p:cNvSpPr/>
          <p:nvPr/>
        </p:nvSpPr>
        <p:spPr>
          <a:xfrm>
            <a:off x="10149840" y="4270248"/>
            <a:ext cx="6675120" cy="566928"/>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Oval 211"/>
          <p:cNvSpPr/>
          <p:nvPr/>
        </p:nvSpPr>
        <p:spPr>
          <a:xfrm>
            <a:off x="10351008" y="4453128"/>
            <a:ext cx="201168" cy="201168"/>
          </a:xfrm>
          <a:prstGeom prst="ellipse">
            <a:avLst/>
          </a:prstGeom>
          <a:solidFill>
            <a:srgbClr val="FFC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10698480" y="4270248"/>
            <a:ext cx="2377440" cy="56692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FDF9E0"/>
                </a:solidFill>
                <a:latin typeface="Arial"/>
              </a:rPr>
              <a:t>Concourse</a:t>
            </a:r>
          </a:p>
        </p:txBody>
      </p:sp>
      <p:sp>
        <p:nvSpPr>
          <p:cNvPr id="214" name="TextBox 213"/>
          <p:cNvSpPr txBox="1"/>
          <p:nvPr/>
        </p:nvSpPr>
        <p:spPr>
          <a:xfrm>
            <a:off x="12893040" y="4270248"/>
            <a:ext cx="1371600" cy="566928"/>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4.6 /m²</a:t>
            </a:r>
          </a:p>
        </p:txBody>
      </p:sp>
      <p:sp>
        <p:nvSpPr>
          <p:cNvPr id="215" name="Status Concourse"/>
          <p:cNvSpPr/>
          <p:nvPr/>
        </p:nvSpPr>
        <p:spPr>
          <a:xfrm>
            <a:off x="15041880" y="4370832"/>
            <a:ext cx="1600200" cy="365760"/>
          </a:xfrm>
          <a:prstGeom prst="roundRect">
            <a:avLst>
              <a:gd name="adj" fmla="val 50000"/>
            </a:avLst>
          </a:prstGeom>
          <a:solidFill>
            <a:srgbClr val="FFC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TextBox 215"/>
          <p:cNvSpPr txBox="1"/>
          <p:nvPr/>
        </p:nvSpPr>
        <p:spPr>
          <a:xfrm>
            <a:off x="15041880" y="4370832"/>
            <a:ext cx="1600200" cy="36576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1E1E1E"/>
                </a:solidFill>
                <a:latin typeface="Arial"/>
              </a:rPr>
              <a:t>WARNING</a:t>
            </a:r>
          </a:p>
        </p:txBody>
      </p:sp>
      <p:sp>
        <p:nvSpPr>
          <p:cNvPr id="217" name="Zone East Stand"/>
          <p:cNvSpPr/>
          <p:nvPr/>
        </p:nvSpPr>
        <p:spPr>
          <a:xfrm>
            <a:off x="10149840" y="4928616"/>
            <a:ext cx="6675120" cy="566928"/>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Oval 217"/>
          <p:cNvSpPr/>
          <p:nvPr/>
        </p:nvSpPr>
        <p:spPr>
          <a:xfrm>
            <a:off x="10351008" y="5111496"/>
            <a:ext cx="201168" cy="201168"/>
          </a:xfrm>
          <a:prstGeom prst="ellipse">
            <a:avLst/>
          </a:prstGeom>
          <a:solidFill>
            <a:srgbClr val="5BD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10698480" y="4928616"/>
            <a:ext cx="2377440" cy="56692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FDF9E0"/>
                </a:solidFill>
                <a:latin typeface="Arial"/>
              </a:rPr>
              <a:t>East Stand</a:t>
            </a:r>
          </a:p>
        </p:txBody>
      </p:sp>
      <p:sp>
        <p:nvSpPr>
          <p:cNvPr id="220" name="TextBox 219"/>
          <p:cNvSpPr txBox="1"/>
          <p:nvPr/>
        </p:nvSpPr>
        <p:spPr>
          <a:xfrm>
            <a:off x="12893040" y="4928616"/>
            <a:ext cx="1371600" cy="566928"/>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1.2 /m²</a:t>
            </a:r>
          </a:p>
        </p:txBody>
      </p:sp>
      <p:sp>
        <p:nvSpPr>
          <p:cNvPr id="221" name="Status East Stand"/>
          <p:cNvSpPr/>
          <p:nvPr/>
        </p:nvSpPr>
        <p:spPr>
          <a:xfrm>
            <a:off x="15041880" y="5029200"/>
            <a:ext cx="1600200" cy="365760"/>
          </a:xfrm>
          <a:prstGeom prst="roundRect">
            <a:avLst>
              <a:gd name="adj" fmla="val 50000"/>
            </a:avLst>
          </a:prstGeom>
          <a:solidFill>
            <a:srgbClr val="5BD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TextBox 221"/>
          <p:cNvSpPr txBox="1"/>
          <p:nvPr/>
        </p:nvSpPr>
        <p:spPr>
          <a:xfrm>
            <a:off x="15041880" y="5029200"/>
            <a:ext cx="1600200" cy="36576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1E1E1E"/>
                </a:solidFill>
                <a:latin typeface="Arial"/>
              </a:rPr>
              <a:t>SAFE</a:t>
            </a:r>
          </a:p>
        </p:txBody>
      </p:sp>
      <p:sp>
        <p:nvSpPr>
          <p:cNvPr id="223" name="Alert card"/>
          <p:cNvSpPr/>
          <p:nvPr/>
        </p:nvSpPr>
        <p:spPr>
          <a:xfrm>
            <a:off x="10149840" y="5696712"/>
            <a:ext cx="6675120" cy="2189988"/>
          </a:xfrm>
          <a:prstGeom prst="roundRect">
            <a:avLst>
              <a:gd name="adj" fmla="val 6000"/>
            </a:avLst>
          </a:prstGeom>
          <a:solidFill>
            <a:srgbClr val="4A2B28"/>
          </a:solidFill>
          <a:ln w="31750">
            <a:solidFill>
              <a:srgbClr val="FF5A4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4" name="Picture 223" descr="bell-cream.png"/>
          <p:cNvPicPr>
            <a:picLocks noChangeAspect="1"/>
          </p:cNvPicPr>
          <p:nvPr/>
        </p:nvPicPr>
        <p:blipFill>
          <a:blip r:embed="rId12"/>
          <a:stretch>
            <a:fillRect/>
          </a:stretch>
        </p:blipFill>
        <p:spPr>
          <a:xfrm>
            <a:off x="10424160" y="5925312"/>
            <a:ext cx="365760" cy="365760"/>
          </a:xfrm>
          <a:prstGeom prst="rect">
            <a:avLst/>
          </a:prstGeom>
        </p:spPr>
      </p:pic>
      <p:sp>
        <p:nvSpPr>
          <p:cNvPr id="225" name="TextBox 224"/>
          <p:cNvSpPr txBox="1"/>
          <p:nvPr/>
        </p:nvSpPr>
        <p:spPr>
          <a:xfrm>
            <a:off x="10927080" y="5861304"/>
            <a:ext cx="5669280" cy="502920"/>
          </a:xfrm>
          <a:prstGeom prst="rect">
            <a:avLst/>
          </a:prstGeom>
          <a:noFill/>
        </p:spPr>
        <p:txBody>
          <a:bodyPr wrap="square" lIns="0" rIns="0" tIns="0" bIns="0" anchor="ctr">
            <a:noAutofit/>
          </a:bodyPr>
          <a:lstStyle/>
          <a:p>
            <a:pPr algn="l">
              <a:lnSpc>
                <a:spcPct val="100000"/>
              </a:lnSpc>
              <a:spcBef>
                <a:spcPts val="0"/>
              </a:spcBef>
              <a:spcAft>
                <a:spcPts val="0"/>
              </a:spcAft>
            </a:pPr>
            <a:r>
              <a:rPr sz="2200" b="1" i="0">
                <a:solidFill>
                  <a:srgbClr val="FF5A4E"/>
                </a:solidFill>
                <a:latin typeface="Arial"/>
              </a:rPr>
              <a:t>CRITICAL  ·  Gate 3</a:t>
            </a:r>
          </a:p>
        </p:txBody>
      </p:sp>
      <p:sp>
        <p:nvSpPr>
          <p:cNvPr id="226" name="TextBox 225"/>
          <p:cNvSpPr txBox="1"/>
          <p:nvPr/>
        </p:nvSpPr>
        <p:spPr>
          <a:xfrm>
            <a:off x="10424160" y="6409944"/>
            <a:ext cx="6126480" cy="384048"/>
          </a:xfrm>
          <a:prstGeom prst="rect">
            <a:avLst/>
          </a:prstGeom>
          <a:noFill/>
        </p:spPr>
        <p:txBody>
          <a:bodyPr wrap="square" lIns="0" rIns="0" tIns="0" bIns="0" anchor="ctr">
            <a:noAutofit/>
          </a:bodyPr>
          <a:lstStyle/>
          <a:p>
            <a:pPr algn="l">
              <a:lnSpc>
                <a:spcPct val="100000"/>
              </a:lnSpc>
              <a:spcBef>
                <a:spcPts val="0"/>
              </a:spcBef>
              <a:spcAft>
                <a:spcPts val="0"/>
              </a:spcAft>
            </a:pPr>
            <a:r>
              <a:rPr sz="1900" b="0" i="0">
                <a:solidFill>
                  <a:srgbClr val="FDF9E0"/>
                </a:solidFill>
                <a:latin typeface="Arial"/>
              </a:rPr>
              <a:t>6.4 people/m² and surging toward the gate</a:t>
            </a:r>
          </a:p>
        </p:txBody>
      </p:sp>
      <p:sp>
        <p:nvSpPr>
          <p:cNvPr id="227" name="TextBox 226"/>
          <p:cNvSpPr txBox="1"/>
          <p:nvPr/>
        </p:nvSpPr>
        <p:spPr>
          <a:xfrm>
            <a:off x="10424160" y="6839712"/>
            <a:ext cx="6126480" cy="384048"/>
          </a:xfrm>
          <a:prstGeom prst="rect">
            <a:avLst/>
          </a:prstGeom>
          <a:noFill/>
        </p:spPr>
        <p:txBody>
          <a:bodyPr wrap="square" lIns="0" rIns="0" tIns="0" bIns="0" anchor="ctr">
            <a:noAutofit/>
          </a:bodyPr>
          <a:lstStyle/>
          <a:p>
            <a:pPr algn="l">
              <a:lnSpc>
                <a:spcPct val="100000"/>
              </a:lnSpc>
              <a:spcBef>
                <a:spcPts val="0"/>
              </a:spcBef>
              <a:spcAft>
                <a:spcPts val="0"/>
              </a:spcAft>
            </a:pPr>
            <a:r>
              <a:rPr sz="1900" b="1" i="0">
                <a:solidFill>
                  <a:srgbClr val="FF9A1F"/>
                </a:solidFill>
                <a:latin typeface="Arial"/>
              </a:rPr>
              <a:t>Do now: </a:t>
            </a:r>
            <a:r>
              <a:rPr sz="1900" b="0" i="0">
                <a:solidFill>
                  <a:srgbClr val="FDF9E0"/>
                </a:solidFill>
                <a:latin typeface="Arial"/>
              </a:rPr>
              <a:t>pause entry, open Gate 4</a:t>
            </a:r>
          </a:p>
        </p:txBody>
      </p:sp>
      <p:sp>
        <p:nvSpPr>
          <p:cNvPr id="228" name="Button notify"/>
          <p:cNvSpPr/>
          <p:nvPr/>
        </p:nvSpPr>
        <p:spPr>
          <a:xfrm>
            <a:off x="10424160" y="7246620"/>
            <a:ext cx="2971800" cy="457200"/>
          </a:xfrm>
          <a:prstGeom prst="roundRect">
            <a:avLst>
              <a:gd name="adj" fmla="val 20000"/>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9" name="TextBox 228"/>
          <p:cNvSpPr txBox="1"/>
          <p:nvPr/>
        </p:nvSpPr>
        <p:spPr>
          <a:xfrm>
            <a:off x="10424160" y="7246620"/>
            <a:ext cx="2971800" cy="457200"/>
          </a:xfrm>
          <a:prstGeom prst="rect">
            <a:avLst/>
          </a:prstGeom>
          <a:noFill/>
        </p:spPr>
        <p:txBody>
          <a:bodyPr wrap="square" lIns="0" rIns="0" tIns="0" bIns="0" anchor="ctr">
            <a:noAutofit/>
          </a:bodyPr>
          <a:lstStyle/>
          <a:p>
            <a:pPr algn="ctr">
              <a:lnSpc>
                <a:spcPct val="100000"/>
              </a:lnSpc>
              <a:spcBef>
                <a:spcPts val="0"/>
              </a:spcBef>
              <a:spcAft>
                <a:spcPts val="0"/>
              </a:spcAft>
            </a:pPr>
            <a:r>
              <a:rPr sz="1700" b="1" i="0">
                <a:solidFill>
                  <a:srgbClr val="1E1E1E"/>
                </a:solidFill>
                <a:latin typeface="Arial"/>
              </a:rPr>
              <a:t>Alert security</a:t>
            </a:r>
          </a:p>
        </p:txBody>
      </p:sp>
      <p:sp>
        <p:nvSpPr>
          <p:cNvPr id="230" name="Button ack"/>
          <p:cNvSpPr/>
          <p:nvPr/>
        </p:nvSpPr>
        <p:spPr>
          <a:xfrm>
            <a:off x="13578840" y="7246620"/>
            <a:ext cx="2971800" cy="457200"/>
          </a:xfrm>
          <a:prstGeom prst="roundRect">
            <a:avLst>
              <a:gd name="adj" fmla="val 20000"/>
            </a:avLst>
          </a:prstGeom>
          <a:noFill/>
          <a:ln w="19050">
            <a:solidFill>
              <a:srgbClr val="FDF9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1" name="TextBox 230"/>
          <p:cNvSpPr txBox="1"/>
          <p:nvPr/>
        </p:nvSpPr>
        <p:spPr>
          <a:xfrm>
            <a:off x="13578840" y="7246620"/>
            <a:ext cx="2971800" cy="457200"/>
          </a:xfrm>
          <a:prstGeom prst="rect">
            <a:avLst/>
          </a:prstGeom>
          <a:noFill/>
        </p:spPr>
        <p:txBody>
          <a:bodyPr wrap="square" lIns="0" rIns="0" tIns="0" bIns="0" anchor="ctr">
            <a:noAutofit/>
          </a:bodyPr>
          <a:lstStyle/>
          <a:p>
            <a:pPr algn="ctr">
              <a:lnSpc>
                <a:spcPct val="100000"/>
              </a:lnSpc>
              <a:spcBef>
                <a:spcPts val="0"/>
              </a:spcBef>
              <a:spcAft>
                <a:spcPts val="0"/>
              </a:spcAft>
            </a:pPr>
            <a:r>
              <a:rPr sz="1700" b="1" i="0">
                <a:solidFill>
                  <a:srgbClr val="FDF9E0"/>
                </a:solidFill>
                <a:latin typeface="Arial"/>
              </a:rPr>
              <a:t>Acknowledge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201" name="Shape 201"/>
        <p:cNvGrpSpPr/>
        <p:nvPr/>
      </p:nvGrpSpPr>
      <p:grpSpPr>
        <a:xfrm>
          <a:off x="0" y="0"/>
          <a:ext cx="0" cy="0"/>
          <a:chOff x="0" y="0"/>
          <a:chExt cx="0" cy="0"/>
        </a:xfrm>
      </p:grpSpPr>
      <p:sp>
        <p:nvSpPr>
          <p:cNvPr id="202" name="Google Shape;202;p9"/>
          <p:cNvSpPr/>
          <p:nvPr/>
        </p:nvSpPr>
        <p:spPr>
          <a:xfrm>
            <a:off x="-274131" y="-311289"/>
            <a:ext cx="2731199" cy="2731200"/>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9"/>
          <p:cNvSpPr/>
          <p:nvPr/>
        </p:nvSpPr>
        <p:spPr>
          <a:xfrm>
            <a:off x="5455878" y="7182583"/>
            <a:ext cx="971090" cy="1339433"/>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9"/>
          <p:cNvSpPr/>
          <p:nvPr/>
        </p:nvSpPr>
        <p:spPr>
          <a:xfrm>
            <a:off x="-1599929" y="4779066"/>
            <a:ext cx="6342222" cy="56445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5" name="Google Shape;205;p9"/>
          <p:cNvSpPr/>
          <p:nvPr/>
        </p:nvSpPr>
        <p:spPr>
          <a:xfrm flipH="1">
            <a:off x="13544441" y="4779066"/>
            <a:ext cx="6342222" cy="56445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6" name="Google Shape;206;p9"/>
          <p:cNvSpPr/>
          <p:nvPr/>
        </p:nvSpPr>
        <p:spPr>
          <a:xfrm flipH="1">
            <a:off x="16200370" y="-311289"/>
            <a:ext cx="2731200" cy="2731200"/>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7" name="Google Shape;207;p9"/>
          <p:cNvSpPr/>
          <p:nvPr/>
        </p:nvSpPr>
        <p:spPr>
          <a:xfrm flipH="1">
            <a:off x="12025121" y="7182583"/>
            <a:ext cx="971089" cy="1339433"/>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8" name="Google Shape;208;p9"/>
          <p:cNvSpPr txBox="1"/>
          <p:nvPr/>
        </p:nvSpPr>
        <p:spPr>
          <a:xfrm>
            <a:off x="2816311" y="3499290"/>
            <a:ext cx="12655378" cy="1740492"/>
          </a:xfrm>
          <a:prstGeom prst="rect">
            <a:avLst/>
          </a:prstGeom>
          <a:noFill/>
          <a:ln>
            <a:noFill/>
          </a:ln>
        </p:spPr>
        <p:txBody>
          <a:bodyPr anchorCtr="0" anchor="t" bIns="0" lIns="0" spcFirstLastPara="1" rIns="0" wrap="square" tIns="0">
            <a:spAutoFit/>
          </a:bodyPr>
          <a:lstStyle/>
          <a:p>
            <a:pPr indent="0" lvl="0" marL="0" marR="0" rtl="0" algn="ctr">
              <a:lnSpc>
                <a:spcPct val="69142"/>
              </a:lnSpc>
              <a:spcBef>
                <a:spcPts val="0"/>
              </a:spcBef>
              <a:spcAft>
                <a:spcPts val="0"/>
              </a:spcAft>
              <a:buClr>
                <a:srgbClr val="FDF9E0"/>
              </a:buClr>
              <a:buSzPts val="17500"/>
              <a:buFont typeface="Arial"/>
              <a:buNone/>
            </a:pPr>
            <a:r>
              <a:rPr b="0" i="0" lang="en-US" sz="17500" u="none" cap="none" strike="noStrike">
                <a:solidFill>
                  <a:srgbClr val="FDF9E0"/>
                </a:solidFill>
                <a:latin typeface="Arial"/>
                <a:ea typeface="Arial"/>
                <a:cs typeface="Arial"/>
                <a:sym typeface="Arial"/>
              </a:rPr>
              <a:t>Thank You!</a:t>
            </a:r>
            <a:endParaRPr/>
          </a:p>
        </p:txBody>
      </p:sp>
      <p:grpSp>
        <p:nvGrpSpPr>
          <p:cNvPr id="209" name="Google Shape;209;p9"/>
          <p:cNvGrpSpPr/>
          <p:nvPr/>
        </p:nvGrpSpPr>
        <p:grpSpPr>
          <a:xfrm>
            <a:off x="3021811" y="-684124"/>
            <a:ext cx="12244379" cy="2240613"/>
            <a:chOff x="-1" y="-372835"/>
            <a:chExt cx="12244377" cy="2240612"/>
          </a:xfrm>
        </p:grpSpPr>
        <p:sp>
          <p:nvSpPr>
            <p:cNvPr id="210" name="Google Shape;210;p9"/>
            <p:cNvSpPr/>
            <p:nvPr/>
          </p:nvSpPr>
          <p:spPr>
            <a:xfrm>
              <a:off x="9442894" y="0"/>
              <a:ext cx="2801482" cy="1494942"/>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11" name="Google Shape;211;p9"/>
            <p:cNvSpPr/>
            <p:nvPr/>
          </p:nvSpPr>
          <p:spPr>
            <a:xfrm>
              <a:off x="4989372" y="-372835"/>
              <a:ext cx="2243459" cy="224061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12" name="Google Shape;212;p9"/>
            <p:cNvSpPr/>
            <p:nvPr/>
          </p:nvSpPr>
          <p:spPr>
            <a:xfrm>
              <a:off x="-1" y="280132"/>
              <a:ext cx="1939145" cy="823772"/>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13" name="Closing line"/>
          <p:cNvSpPr txBox="1"/>
          <p:nvPr/>
        </p:nvSpPr>
        <p:spPr>
          <a:xfrm>
            <a:off x="5486400" y="5440680"/>
            <a:ext cx="7315200" cy="640080"/>
          </a:xfrm>
          <a:prstGeom prst="rect">
            <a:avLst/>
          </a:prstGeom>
          <a:noFill/>
        </p:spPr>
        <p:txBody>
          <a:bodyPr wrap="square" lIns="0" rIns="0" tIns="0" bIns="0" anchor="ctr">
            <a:noAutofit/>
          </a:bodyPr>
          <a:lstStyle/>
          <a:p>
            <a:pPr algn="ctr">
              <a:lnSpc>
                <a:spcPct val="100000"/>
              </a:lnSpc>
              <a:spcBef>
                <a:spcPts val="0"/>
              </a:spcBef>
              <a:spcAft>
                <a:spcPts val="0"/>
              </a:spcAft>
            </a:pPr>
            <a:r>
              <a:rPr sz="3400" b="1" i="0">
                <a:solidFill>
                  <a:srgbClr val="FF9A1F"/>
                </a:solidFill>
                <a:latin typeface="Arial"/>
              </a:rPr>
              <a:t>Poltergeist</a:t>
            </a:r>
            <a:r>
              <a:rPr sz="3400" b="0" i="0">
                <a:solidFill>
                  <a:srgbClr val="FDF9E0"/>
                </a:solidFill>
                <a:latin typeface="Arial"/>
              </a:rPr>
              <a:t>  ·  Voodoo Vision</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